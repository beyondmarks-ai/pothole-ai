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748CBDC-3C45-4C95-A132-5957F5959D26}" type="datetimeFigureOut">
              <a:rPr lang="en-IN" smtClean="0"/>
              <a:t>07-10-2026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A6600E1-D180-4660-9BA7-7B8166EF9F1C}" type="slidenum">
              <a:rPr lang="en-IN" smtClean="0"/>
              <a:t>‹#›</a:t>
            </a:fld>
            <a:endParaRPr lang="en-IN"/>
          </a:p>
        </p:txBody>
      </p:sp>
    </p:spTree>
    <p:extLst>
      <p:ext uri="{BB962C8B-B14F-4D97-AF65-F5344CB8AC3E}">
        <p14:creationId xmlns:p14="http://schemas.microsoft.com/office/powerpoint/2010/main" val="18037578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Introduce the proposed project as a complete road maintenance information cycle. A detected defect is an observation; municipal personnel verify it, authorize repairs and approve closure. Team: Bhagyashree (3DG23CS007), Pallavi (3DG23CS028), Pratiksha (3DG23CS031), Vakilata (3DG23CS059). Guide: Asst. Prof. Pooja Hebbale. Government Engineering College, Bidar; Department of Computer Science and Engineering; VTU Belagavi.
[Sources]
Road_Damage_Detection_16_Page_Synopsis.docx — title page and abstract. Institution logos extracted from the same user-provided document.
[/Sources]</a:t>
            </a:r>
          </a:p>
        </p:txBody>
      </p:sp>
      <p:sp>
        <p:nvSpPr>
          <p:cNvPr id="4" name="Slide Number Placeholder 3"/>
          <p:cNvSpPr>
            <a:spLocks noGrp="1"/>
          </p:cNvSpPr>
          <p:nvPr>
            <p:ph type="sldNum" sz="quarter" idx="5"/>
          </p:nvPr>
        </p:nvSpPr>
        <p:spPr/>
        <p:txBody>
          <a:bodyPr/>
          <a:lstStyle/>
          <a:p>
            <a:fld id="{3A6600E1-D180-4660-9BA7-7B8166EF9F1C}" type="slidenum">
              <a:rPr lang="en-IN" smtClean="0"/>
              <a:t>1</a:t>
            </a:fld>
            <a:endParaRPr lang="en-IN"/>
          </a:p>
        </p:txBody>
      </p:sp>
    </p:spTree>
    <p:extLst>
      <p:ext uri="{BB962C8B-B14F-4D97-AF65-F5344CB8AC3E}">
        <p14:creationId xmlns:p14="http://schemas.microsoft.com/office/powerpoint/2010/main" val="16135646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Explain the problem without asserting that every municipality uses the same process. The synopsis describes risks in a process based on disconnected photographs, messages and periodic inspection. The project addresses integration and traceability.
[Sources]
User-provided synopsis, sections 1–3.
[/Sources]</a:t>
            </a:r>
            <a:endParaRPr lang="en-IN"/>
          </a:p>
        </p:txBody>
      </p:sp>
      <p:sp>
        <p:nvSpPr>
          <p:cNvPr id="4" name="Slide Number Placeholder 3"/>
          <p:cNvSpPr>
            <a:spLocks noGrp="1"/>
          </p:cNvSpPr>
          <p:nvPr>
            <p:ph type="sldNum" sz="quarter" idx="5"/>
          </p:nvPr>
        </p:nvSpPr>
        <p:spPr/>
        <p:txBody>
          <a:bodyPr/>
          <a:lstStyle/>
          <a:p>
            <a:fld id="{3A6600E1-D180-4660-9BA7-7B8166EF9F1C}" type="slidenum">
              <a:rPr lang="en-IN" smtClean="0"/>
              <a:t>2</a:t>
            </a:fld>
            <a:endParaRPr lang="en-IN"/>
          </a:p>
        </p:txBody>
      </p:sp>
    </p:spTree>
    <p:extLst>
      <p:ext uri="{BB962C8B-B14F-4D97-AF65-F5344CB8AC3E}">
        <p14:creationId xmlns:p14="http://schemas.microsoft.com/office/powerpoint/2010/main" val="23584844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Clarify that the initial prototype targets potholes and supported crack classes. It does not measure exact pothole depth or certify structural safety. The demonstration jurisdiction will be defined before evaluation.
[Sources]
User-provided synopsis, sections 4–5.
[/Sources]</a:t>
            </a:r>
            <a:endParaRPr lang="en-IN"/>
          </a:p>
        </p:txBody>
      </p:sp>
      <p:sp>
        <p:nvSpPr>
          <p:cNvPr id="4" name="Slide Number Placeholder 3"/>
          <p:cNvSpPr>
            <a:spLocks noGrp="1"/>
          </p:cNvSpPr>
          <p:nvPr>
            <p:ph type="sldNum" sz="quarter" idx="5"/>
          </p:nvPr>
        </p:nvSpPr>
        <p:spPr/>
        <p:txBody>
          <a:bodyPr/>
          <a:lstStyle/>
          <a:p>
            <a:fld id="{3A6600E1-D180-4660-9BA7-7B8166EF9F1C}" type="slidenum">
              <a:rPr lang="en-IN" smtClean="0"/>
              <a:t>3</a:t>
            </a:fld>
            <a:endParaRPr lang="en-IN"/>
          </a:p>
        </p:txBody>
      </p:sp>
    </p:spTree>
    <p:extLst>
      <p:ext uri="{BB962C8B-B14F-4D97-AF65-F5344CB8AC3E}">
        <p14:creationId xmlns:p14="http://schemas.microsoft.com/office/powerpoint/2010/main" val="25616683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literature survey supports a pretrained-model approach rather than training a detector from scratch. RDD2022 contains imagery from six countries, including India, and four road-damage categories. A benchmark score does not establish performance on the demonstration network. The integration focus is not a claim that prior research has never addressed maintenance management. This slide summarizes the literature as described in the supplied synopsis.
[Sources]
User-provided synopsis, sections 6 and 18.
Maeda et al., Road Damage Detection Using Deep Neural Networks with Images Captured Through a Smartphone (2018), https://arxiv.org/abs/1801.09454
Arya et al., RDD2022: A multi-national image dataset for automatic Road Damage Detection (2022), https://arxiv.org/abs/2209.08538
oracl4, RoadDamageDetection repository, https://github.com/oracl4/RoadDamageDetection
[/Sources]</a:t>
            </a:r>
            <a:endParaRPr lang="en-IN"/>
          </a:p>
        </p:txBody>
      </p:sp>
      <p:sp>
        <p:nvSpPr>
          <p:cNvPr id="4" name="Slide Number Placeholder 3"/>
          <p:cNvSpPr>
            <a:spLocks noGrp="1"/>
          </p:cNvSpPr>
          <p:nvPr>
            <p:ph type="sldNum" sz="quarter" idx="5"/>
          </p:nvPr>
        </p:nvSpPr>
        <p:spPr/>
        <p:txBody>
          <a:bodyPr/>
          <a:lstStyle/>
          <a:p>
            <a:fld id="{3A6600E1-D180-4660-9BA7-7B8166EF9F1C}" type="slidenum">
              <a:rPr lang="en-IN" smtClean="0"/>
              <a:t>4</a:t>
            </a:fld>
            <a:endParaRPr lang="en-IN"/>
          </a:p>
        </p:txBody>
      </p:sp>
    </p:spTree>
    <p:extLst>
      <p:ext uri="{BB962C8B-B14F-4D97-AF65-F5344CB8AC3E}">
        <p14:creationId xmlns:p14="http://schemas.microsoft.com/office/powerpoint/2010/main" val="15201714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Walk through all nine steps in the user's workflow. Steps 1–3 prepare evidence; steps 4–6 lead to an authorized work order; steps 7–9 document completion and preserve history. An officer can reject or merge a report and return a repair for further work. Data are stored throughout the process, not only at step 9.
[Sources]
User's nine-step workflow in the conversation.
User-provided synopsis, sections 7–9.
[/Sources]</a:t>
            </a:r>
            <a:endParaRPr lang="en-IN"/>
          </a:p>
        </p:txBody>
      </p:sp>
      <p:sp>
        <p:nvSpPr>
          <p:cNvPr id="4" name="Slide Number Placeholder 3"/>
          <p:cNvSpPr>
            <a:spLocks noGrp="1"/>
          </p:cNvSpPr>
          <p:nvPr>
            <p:ph type="sldNum" sz="quarter" idx="5"/>
          </p:nvPr>
        </p:nvSpPr>
        <p:spPr/>
        <p:txBody>
          <a:bodyPr/>
          <a:lstStyle/>
          <a:p>
            <a:fld id="{3A6600E1-D180-4660-9BA7-7B8166EF9F1C}" type="slidenum">
              <a:rPr lang="en-IN" smtClean="0"/>
              <a:t>5</a:t>
            </a:fld>
            <a:endParaRPr lang="en-IN"/>
          </a:p>
        </p:txBody>
      </p:sp>
    </p:spTree>
    <p:extLst>
      <p:ext uri="{BB962C8B-B14F-4D97-AF65-F5344CB8AC3E}">
        <p14:creationId xmlns:p14="http://schemas.microsoft.com/office/powerpoint/2010/main" val="20645700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Use a road-damage-trained YOLOv8 checkpoint as a candidate, subject to validation and class support. Image pixels do not provide geographic coordinates. Associate video detections with synchronized timestamps and GPS. Deduplication must preserve each observation while preventing repeated frames from inflating the case count. Confidence describes model certainty, not physical severity.
[Sources]
User-provided synopsis, sections 5, 7 and 8.1; candidate implementation cited in section 18, reference 3.
[/Sources]</a:t>
            </a:r>
            <a:endParaRPr lang="en-IN"/>
          </a:p>
        </p:txBody>
      </p:sp>
      <p:sp>
        <p:nvSpPr>
          <p:cNvPr id="4" name="Slide Number Placeholder 3"/>
          <p:cNvSpPr>
            <a:spLocks noGrp="1"/>
          </p:cNvSpPr>
          <p:nvPr>
            <p:ph type="sldNum" sz="quarter" idx="5"/>
          </p:nvPr>
        </p:nvSpPr>
        <p:spPr/>
        <p:txBody>
          <a:bodyPr/>
          <a:lstStyle/>
          <a:p>
            <a:fld id="{3A6600E1-D180-4660-9BA7-7B8166EF9F1C}" type="slidenum">
              <a:rPr lang="en-IN" smtClean="0"/>
              <a:t>6</a:t>
            </a:fld>
            <a:endParaRPr lang="en-IN"/>
          </a:p>
        </p:txBody>
      </p:sp>
    </p:spTree>
    <p:extLst>
      <p:ext uri="{BB962C8B-B14F-4D97-AF65-F5344CB8AC3E}">
        <p14:creationId xmlns:p14="http://schemas.microsoft.com/office/powerpoint/2010/main" val="11783127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Scoring rules and weights are configurable and must be compared with officer judgments. Do not invent traffic data. The health score applies to a defined surveyed segment using unique defects; unsurveyed segments remain unknown. The score is not an official pavement condition index. Ordinary monocular images cannot reliably establish exact pothole depth or structural safety.
[Sources]
User-provided synopsis, sections 8.2, 13.1 and 15.
[/Sources]</a:t>
            </a:r>
            <a:endParaRPr lang="en-IN"/>
          </a:p>
        </p:txBody>
      </p:sp>
      <p:sp>
        <p:nvSpPr>
          <p:cNvPr id="4" name="Slide Number Placeholder 3"/>
          <p:cNvSpPr>
            <a:spLocks noGrp="1"/>
          </p:cNvSpPr>
          <p:nvPr>
            <p:ph type="sldNum" sz="quarter" idx="5"/>
          </p:nvPr>
        </p:nvSpPr>
        <p:spPr/>
        <p:txBody>
          <a:bodyPr/>
          <a:lstStyle/>
          <a:p>
            <a:fld id="{3A6600E1-D180-4660-9BA7-7B8166EF9F1C}" type="slidenum">
              <a:rPr lang="en-IN" smtClean="0"/>
              <a:t>7</a:t>
            </a:fld>
            <a:endParaRPr lang="en-IN"/>
          </a:p>
        </p:txBody>
      </p:sp>
    </p:spTree>
    <p:extLst>
      <p:ext uri="{BB962C8B-B14F-4D97-AF65-F5344CB8AC3E}">
        <p14:creationId xmlns:p14="http://schemas.microsoft.com/office/powerpoint/2010/main" val="41941918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React client communicates over HTTPS with a FastAPI service that enforces roles and handles case workflow. A queue dispatches background inference jobs to an OpenCV/PyTorch worker. PostgreSQL with PostGIS stores linked spatial and operational records; object storage holds media. A notification worker alerts configured recipients. Possible AWS deployment: EC2 for services and workers, S3 for media, RDS PostgreSQL for records, SNS for notifications. Cloud deployment is an option, not a claim of an existing installation. Core records include RoadSegment, Observation, Incident, Verification, WorkOrder, RepairEvidence and AuditEvent.
[Sources]
User-provided synopsis, sections 10–12 and Figure 1.
[/Sources]</a:t>
            </a:r>
            <a:endParaRPr lang="en-IN"/>
          </a:p>
        </p:txBody>
      </p:sp>
      <p:sp>
        <p:nvSpPr>
          <p:cNvPr id="4" name="Slide Number Placeholder 3"/>
          <p:cNvSpPr>
            <a:spLocks noGrp="1"/>
          </p:cNvSpPr>
          <p:nvPr>
            <p:ph type="sldNum" sz="quarter" idx="5"/>
          </p:nvPr>
        </p:nvSpPr>
        <p:spPr/>
        <p:txBody>
          <a:bodyPr/>
          <a:lstStyle/>
          <a:p>
            <a:fld id="{3A6600E1-D180-4660-9BA7-7B8166EF9F1C}" type="slidenum">
              <a:rPr lang="en-IN" smtClean="0"/>
              <a:t>8</a:t>
            </a:fld>
            <a:endParaRPr lang="en-IN"/>
          </a:p>
        </p:txBody>
      </p:sp>
    </p:spTree>
    <p:extLst>
      <p:ext uri="{BB962C8B-B14F-4D97-AF65-F5344CB8AC3E}">
        <p14:creationId xmlns:p14="http://schemas.microsoft.com/office/powerpoint/2010/main" val="41599398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Maintenance teams physically repair roads and upload progress, notes and completion photographs. Only authorized municipal personnel approve and close cases. The dashboard will filter incidents by jurisdiction, urgency and progress. An alert being sent does not count as officer acknowledgment. Demonstrate returned work and reopened cases as part of testing.
[Sources]
User-provided synopsis, sections 7, 9, 11 and 13.1; user's workflow steps 4–8.
[/Sources]</a:t>
            </a:r>
            <a:endParaRPr lang="en-IN"/>
          </a:p>
        </p:txBody>
      </p:sp>
      <p:sp>
        <p:nvSpPr>
          <p:cNvPr id="4" name="Slide Number Placeholder 3"/>
          <p:cNvSpPr>
            <a:spLocks noGrp="1"/>
          </p:cNvSpPr>
          <p:nvPr>
            <p:ph type="sldNum" sz="quarter" idx="5"/>
          </p:nvPr>
        </p:nvSpPr>
        <p:spPr/>
        <p:txBody>
          <a:bodyPr/>
          <a:lstStyle/>
          <a:p>
            <a:fld id="{3A6600E1-D180-4660-9BA7-7B8166EF9F1C}" type="slidenum">
              <a:rPr lang="en-IN" smtClean="0"/>
              <a:t>9</a:t>
            </a:fld>
            <a:endParaRPr lang="en-IN"/>
          </a:p>
        </p:txBody>
      </p:sp>
    </p:spTree>
    <p:extLst>
      <p:ext uri="{BB962C8B-B14F-4D97-AF65-F5344CB8AC3E}">
        <p14:creationId xmlns:p14="http://schemas.microsoft.com/office/powerpoint/2010/main" val="12588986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implementation sequence is a proposed organization of the work, not a schedule already specified in the synopsis. Software: React, FastAPI, Python, OpenCV, PyTorch, PostgreSQL/PostGIS, object storage and a map library; Git and Docker for development. A GPU is optional for faster inference. CPU throughput must be measured. No custom IoT board is required.
[Sources]
User-provided synopsis, sections 11–13. Implementation milestones synthesized from its proposed modules and evaluation plan.
[/Sources]</a:t>
            </a:r>
            <a:endParaRPr lang="en-IN"/>
          </a:p>
        </p:txBody>
      </p:sp>
      <p:sp>
        <p:nvSpPr>
          <p:cNvPr id="4" name="Slide Number Placeholder 3"/>
          <p:cNvSpPr>
            <a:spLocks noGrp="1"/>
          </p:cNvSpPr>
          <p:nvPr>
            <p:ph type="sldNum" sz="quarter" idx="5"/>
          </p:nvPr>
        </p:nvSpPr>
        <p:spPr/>
        <p:txBody>
          <a:bodyPr/>
          <a:lstStyle/>
          <a:p>
            <a:fld id="{3A6600E1-D180-4660-9BA7-7B8166EF9F1C}" type="slidenum">
              <a:rPr lang="en-IN" smtClean="0"/>
              <a:t>10</a:t>
            </a:fld>
            <a:endParaRPr lang="en-IN"/>
          </a:p>
        </p:txBody>
      </p:sp>
    </p:spTree>
    <p:extLst>
      <p:ext uri="{BB962C8B-B14F-4D97-AF65-F5344CB8AC3E}">
        <p14:creationId xmlns:p14="http://schemas.microsoft.com/office/powerpoint/2010/main" val="24776079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Evaluate across different lighting, pavement and defect appearances where data are available. Keep adjacent video frames and repeated views of a road sequence together in train/validation/test splits to reduce leakage. Compare locations with reference positions and scores with independent officer judgments. Include alert failures, unauthorized updates and retained audit history. No accuracy percentage, achieved speed or municipal deployment is claimed by the synopsis.
[Sources]
User-provided synopsis, section 13.1.
[/Sources]</a:t>
            </a:r>
            <a:endParaRPr lang="en-IN"/>
          </a:p>
        </p:txBody>
      </p:sp>
      <p:sp>
        <p:nvSpPr>
          <p:cNvPr id="4" name="Slide Number Placeholder 3"/>
          <p:cNvSpPr>
            <a:spLocks noGrp="1"/>
          </p:cNvSpPr>
          <p:nvPr>
            <p:ph type="sldNum" sz="quarter" idx="5"/>
          </p:nvPr>
        </p:nvSpPr>
        <p:spPr/>
        <p:txBody>
          <a:bodyPr/>
          <a:lstStyle/>
          <a:p>
            <a:fld id="{3A6600E1-D180-4660-9BA7-7B8166EF9F1C}" type="slidenum">
              <a:rPr lang="en-IN" smtClean="0"/>
              <a:t>11</a:t>
            </a:fld>
            <a:endParaRPr lang="en-IN"/>
          </a:p>
        </p:txBody>
      </p:sp>
    </p:spTree>
    <p:extLst>
      <p:ext uri="{BB962C8B-B14F-4D97-AF65-F5344CB8AC3E}">
        <p14:creationId xmlns:p14="http://schemas.microsoft.com/office/powerpoint/2010/main" val="202353760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Resolve the opening problem: a report becomes actionable when location, evidence, responsibility and completion are linked. Historical records initially support recurring-damage review and trend summaries. Predictive forecasting needs sufficient comparable longitudinal observations and evaluation on later data. Invite the guide's feedback on the demonstration area, priority rules and evaluation dataset.
[Sources]
User-provided synopsis, sections 13–17.
[/Sources]</a:t>
            </a:r>
            <a:endParaRPr lang="en-IN"/>
          </a:p>
        </p:txBody>
      </p:sp>
      <p:sp>
        <p:nvSpPr>
          <p:cNvPr id="4" name="Slide Number Placeholder 3"/>
          <p:cNvSpPr>
            <a:spLocks noGrp="1"/>
          </p:cNvSpPr>
          <p:nvPr>
            <p:ph type="sldNum" sz="quarter" idx="5"/>
          </p:nvPr>
        </p:nvSpPr>
        <p:spPr/>
        <p:txBody>
          <a:bodyPr/>
          <a:lstStyle/>
          <a:p>
            <a:fld id="{3A6600E1-D180-4660-9BA7-7B8166EF9F1C}" type="slidenum">
              <a:rPr lang="en-IN" smtClean="0"/>
              <a:t>12</a:t>
            </a:fld>
            <a:endParaRPr lang="en-IN"/>
          </a:p>
        </p:txBody>
      </p:sp>
    </p:spTree>
    <p:extLst>
      <p:ext uri="{BB962C8B-B14F-4D97-AF65-F5344CB8AC3E}">
        <p14:creationId xmlns:p14="http://schemas.microsoft.com/office/powerpoint/2010/main" val="41440912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4F0FEB-335A-D385-6B39-69ACA950779E}"/>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IN"/>
          </a:p>
        </p:txBody>
      </p:sp>
      <p:sp>
        <p:nvSpPr>
          <p:cNvPr id="3" name="Subtitle 2">
            <a:extLst>
              <a:ext uri="{FF2B5EF4-FFF2-40B4-BE49-F238E27FC236}">
                <a16:creationId xmlns:a16="http://schemas.microsoft.com/office/drawing/2014/main" id="{CD6A113C-8DF1-B6D6-6514-9B92966FB4B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IN"/>
          </a:p>
        </p:txBody>
      </p:sp>
      <p:sp>
        <p:nvSpPr>
          <p:cNvPr id="4" name="Date Placeholder 3">
            <a:extLst>
              <a:ext uri="{FF2B5EF4-FFF2-40B4-BE49-F238E27FC236}">
                <a16:creationId xmlns:a16="http://schemas.microsoft.com/office/drawing/2014/main" id="{8C515FC6-B476-821E-93E3-5D680357841E}"/>
              </a:ext>
            </a:extLst>
          </p:cNvPr>
          <p:cNvSpPr>
            <a:spLocks noGrp="1"/>
          </p:cNvSpPr>
          <p:nvPr>
            <p:ph type="dt" sz="half" idx="10"/>
          </p:nvPr>
        </p:nvSpPr>
        <p:spPr/>
        <p:txBody>
          <a:bodyPr/>
          <a:lstStyle/>
          <a:p>
            <a:fld id="{454EB59A-DA2C-464F-92F7-35AB2EB7DDDD}" type="datetimeFigureOut">
              <a:rPr lang="en-IN" smtClean="0"/>
              <a:t>07-10-2026</a:t>
            </a:fld>
            <a:endParaRPr lang="en-IN"/>
          </a:p>
        </p:txBody>
      </p:sp>
      <p:sp>
        <p:nvSpPr>
          <p:cNvPr id="5" name="Footer Placeholder 4">
            <a:extLst>
              <a:ext uri="{FF2B5EF4-FFF2-40B4-BE49-F238E27FC236}">
                <a16:creationId xmlns:a16="http://schemas.microsoft.com/office/drawing/2014/main" id="{6877F54C-9F52-EB6B-9C49-082D5BA7FDF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3C640BA-CC9F-39F0-E864-6169F206C310}"/>
              </a:ext>
            </a:extLst>
          </p:cNvPr>
          <p:cNvSpPr>
            <a:spLocks noGrp="1"/>
          </p:cNvSpPr>
          <p:nvPr>
            <p:ph type="sldNum" sz="quarter" idx="12"/>
          </p:nvPr>
        </p:nvSpPr>
        <p:spPr/>
        <p:txBody>
          <a:bodyPr/>
          <a:lstStyle/>
          <a:p>
            <a:fld id="{DEBC3E38-C80E-4AC5-995F-D59C36894085}" type="slidenum">
              <a:rPr lang="en-IN" smtClean="0"/>
              <a:t>‹#›</a:t>
            </a:fld>
            <a:endParaRPr lang="en-IN"/>
          </a:p>
        </p:txBody>
      </p:sp>
    </p:spTree>
    <p:extLst>
      <p:ext uri="{BB962C8B-B14F-4D97-AF65-F5344CB8AC3E}">
        <p14:creationId xmlns:p14="http://schemas.microsoft.com/office/powerpoint/2010/main" val="38522423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FC6961-9273-278D-96CF-A174BFD956ED}"/>
              </a:ext>
            </a:extLst>
          </p:cNvPr>
          <p:cNvSpPr>
            <a:spLocks noGrp="1"/>
          </p:cNvSpPr>
          <p:nvPr>
            <p:ph type="title"/>
          </p:nvPr>
        </p:nvSpPr>
        <p:spPr/>
        <p:txBody>
          <a:bodyPr/>
          <a:lstStyle/>
          <a:p>
            <a:r>
              <a:rPr lang="en-GB"/>
              <a:t>Click to edit Master title style</a:t>
            </a:r>
            <a:endParaRPr lang="en-IN"/>
          </a:p>
        </p:txBody>
      </p:sp>
      <p:sp>
        <p:nvSpPr>
          <p:cNvPr id="3" name="Content Placeholder 2">
            <a:extLst>
              <a:ext uri="{FF2B5EF4-FFF2-40B4-BE49-F238E27FC236}">
                <a16:creationId xmlns:a16="http://schemas.microsoft.com/office/drawing/2014/main" id="{D12418C9-9B3D-D72B-CF37-40061875D472}"/>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672774A7-203D-30A5-F9A8-ED92620F2A6C}"/>
              </a:ext>
            </a:extLst>
          </p:cNvPr>
          <p:cNvSpPr>
            <a:spLocks noGrp="1"/>
          </p:cNvSpPr>
          <p:nvPr>
            <p:ph type="dt" sz="half" idx="10"/>
          </p:nvPr>
        </p:nvSpPr>
        <p:spPr/>
        <p:txBody>
          <a:bodyPr/>
          <a:lstStyle/>
          <a:p>
            <a:fld id="{454EB59A-DA2C-464F-92F7-35AB2EB7DDDD}" type="datetimeFigureOut">
              <a:rPr lang="en-IN" smtClean="0"/>
              <a:t>07-10-2026</a:t>
            </a:fld>
            <a:endParaRPr lang="en-IN"/>
          </a:p>
        </p:txBody>
      </p:sp>
      <p:sp>
        <p:nvSpPr>
          <p:cNvPr id="5" name="Footer Placeholder 4">
            <a:extLst>
              <a:ext uri="{FF2B5EF4-FFF2-40B4-BE49-F238E27FC236}">
                <a16:creationId xmlns:a16="http://schemas.microsoft.com/office/drawing/2014/main" id="{4A8EBCC0-DA3C-4B7A-52CC-860D86FA6E7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BCC33E2-DB29-99CC-95C0-94A58EC5DB8C}"/>
              </a:ext>
            </a:extLst>
          </p:cNvPr>
          <p:cNvSpPr>
            <a:spLocks noGrp="1"/>
          </p:cNvSpPr>
          <p:nvPr>
            <p:ph type="sldNum" sz="quarter" idx="12"/>
          </p:nvPr>
        </p:nvSpPr>
        <p:spPr/>
        <p:txBody>
          <a:bodyPr/>
          <a:lstStyle/>
          <a:p>
            <a:fld id="{DEBC3E38-C80E-4AC5-995F-D59C36894085}" type="slidenum">
              <a:rPr lang="en-IN" smtClean="0"/>
              <a:t>‹#›</a:t>
            </a:fld>
            <a:endParaRPr lang="en-IN"/>
          </a:p>
        </p:txBody>
      </p:sp>
    </p:spTree>
    <p:extLst>
      <p:ext uri="{BB962C8B-B14F-4D97-AF65-F5344CB8AC3E}">
        <p14:creationId xmlns:p14="http://schemas.microsoft.com/office/powerpoint/2010/main" val="38789370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15CD22-D7F5-918D-A00B-734537522BA4}"/>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IN"/>
          </a:p>
        </p:txBody>
      </p:sp>
      <p:sp>
        <p:nvSpPr>
          <p:cNvPr id="3" name="Text Placeholder 2">
            <a:extLst>
              <a:ext uri="{FF2B5EF4-FFF2-40B4-BE49-F238E27FC236}">
                <a16:creationId xmlns:a16="http://schemas.microsoft.com/office/drawing/2014/main" id="{D637A680-052B-6930-CCFD-B5AD365C699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B3082B87-7B1D-8140-6253-5443B7403349}"/>
              </a:ext>
            </a:extLst>
          </p:cNvPr>
          <p:cNvSpPr>
            <a:spLocks noGrp="1"/>
          </p:cNvSpPr>
          <p:nvPr>
            <p:ph type="dt" sz="half" idx="10"/>
          </p:nvPr>
        </p:nvSpPr>
        <p:spPr/>
        <p:txBody>
          <a:bodyPr/>
          <a:lstStyle/>
          <a:p>
            <a:fld id="{454EB59A-DA2C-464F-92F7-35AB2EB7DDDD}" type="datetimeFigureOut">
              <a:rPr lang="en-IN" smtClean="0"/>
              <a:t>07-10-2026</a:t>
            </a:fld>
            <a:endParaRPr lang="en-IN"/>
          </a:p>
        </p:txBody>
      </p:sp>
      <p:sp>
        <p:nvSpPr>
          <p:cNvPr id="5" name="Footer Placeholder 4">
            <a:extLst>
              <a:ext uri="{FF2B5EF4-FFF2-40B4-BE49-F238E27FC236}">
                <a16:creationId xmlns:a16="http://schemas.microsoft.com/office/drawing/2014/main" id="{F98FC62D-9EE4-1446-F4DE-360EA2FAC21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90E97B6-49CC-5AC0-C063-DD8092090341}"/>
              </a:ext>
            </a:extLst>
          </p:cNvPr>
          <p:cNvSpPr>
            <a:spLocks noGrp="1"/>
          </p:cNvSpPr>
          <p:nvPr>
            <p:ph type="sldNum" sz="quarter" idx="12"/>
          </p:nvPr>
        </p:nvSpPr>
        <p:spPr/>
        <p:txBody>
          <a:bodyPr/>
          <a:lstStyle/>
          <a:p>
            <a:fld id="{DEBC3E38-C80E-4AC5-995F-D59C36894085}" type="slidenum">
              <a:rPr lang="en-IN" smtClean="0"/>
              <a:t>‹#›</a:t>
            </a:fld>
            <a:endParaRPr lang="en-IN"/>
          </a:p>
        </p:txBody>
      </p:sp>
    </p:spTree>
    <p:extLst>
      <p:ext uri="{BB962C8B-B14F-4D97-AF65-F5344CB8AC3E}">
        <p14:creationId xmlns:p14="http://schemas.microsoft.com/office/powerpoint/2010/main" val="35161384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67B884-9220-C942-F9D6-D8DD2BAD0A9E}"/>
              </a:ext>
            </a:extLst>
          </p:cNvPr>
          <p:cNvSpPr>
            <a:spLocks noGrp="1"/>
          </p:cNvSpPr>
          <p:nvPr>
            <p:ph type="title"/>
          </p:nvPr>
        </p:nvSpPr>
        <p:spPr/>
        <p:txBody>
          <a:bodyPr/>
          <a:lstStyle/>
          <a:p>
            <a:r>
              <a:rPr lang="en-GB"/>
              <a:t>Click to edit Master title style</a:t>
            </a:r>
            <a:endParaRPr lang="en-IN"/>
          </a:p>
        </p:txBody>
      </p:sp>
      <p:sp>
        <p:nvSpPr>
          <p:cNvPr id="3" name="Content Placeholder 2">
            <a:extLst>
              <a:ext uri="{FF2B5EF4-FFF2-40B4-BE49-F238E27FC236}">
                <a16:creationId xmlns:a16="http://schemas.microsoft.com/office/drawing/2014/main" id="{A2BBECC3-427B-D1A5-6F23-6280ADABBE4B}"/>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Content Placeholder 3">
            <a:extLst>
              <a:ext uri="{FF2B5EF4-FFF2-40B4-BE49-F238E27FC236}">
                <a16:creationId xmlns:a16="http://schemas.microsoft.com/office/drawing/2014/main" id="{320BD217-2DF8-CBA7-EB0E-3E90756871A6}"/>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5" name="Date Placeholder 4">
            <a:extLst>
              <a:ext uri="{FF2B5EF4-FFF2-40B4-BE49-F238E27FC236}">
                <a16:creationId xmlns:a16="http://schemas.microsoft.com/office/drawing/2014/main" id="{AF1DEE2A-24C1-563B-AAB0-21306D90A5CD}"/>
              </a:ext>
            </a:extLst>
          </p:cNvPr>
          <p:cNvSpPr>
            <a:spLocks noGrp="1"/>
          </p:cNvSpPr>
          <p:nvPr>
            <p:ph type="dt" sz="half" idx="10"/>
          </p:nvPr>
        </p:nvSpPr>
        <p:spPr/>
        <p:txBody>
          <a:bodyPr/>
          <a:lstStyle/>
          <a:p>
            <a:fld id="{454EB59A-DA2C-464F-92F7-35AB2EB7DDDD}" type="datetimeFigureOut">
              <a:rPr lang="en-IN" smtClean="0"/>
              <a:t>07-10-2026</a:t>
            </a:fld>
            <a:endParaRPr lang="en-IN"/>
          </a:p>
        </p:txBody>
      </p:sp>
      <p:sp>
        <p:nvSpPr>
          <p:cNvPr id="6" name="Footer Placeholder 5">
            <a:extLst>
              <a:ext uri="{FF2B5EF4-FFF2-40B4-BE49-F238E27FC236}">
                <a16:creationId xmlns:a16="http://schemas.microsoft.com/office/drawing/2014/main" id="{D2ED0124-34AB-6760-77DC-8AA5E89C25D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BA28824-77A7-73B3-7D52-243981825D72}"/>
              </a:ext>
            </a:extLst>
          </p:cNvPr>
          <p:cNvSpPr>
            <a:spLocks noGrp="1"/>
          </p:cNvSpPr>
          <p:nvPr>
            <p:ph type="sldNum" sz="quarter" idx="12"/>
          </p:nvPr>
        </p:nvSpPr>
        <p:spPr/>
        <p:txBody>
          <a:bodyPr/>
          <a:lstStyle/>
          <a:p>
            <a:fld id="{DEBC3E38-C80E-4AC5-995F-D59C36894085}" type="slidenum">
              <a:rPr lang="en-IN" smtClean="0"/>
              <a:t>‹#›</a:t>
            </a:fld>
            <a:endParaRPr lang="en-IN"/>
          </a:p>
        </p:txBody>
      </p:sp>
    </p:spTree>
    <p:extLst>
      <p:ext uri="{BB962C8B-B14F-4D97-AF65-F5344CB8AC3E}">
        <p14:creationId xmlns:p14="http://schemas.microsoft.com/office/powerpoint/2010/main" val="9211350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7AB660-663A-3151-E2B7-FCA44E513F19}"/>
              </a:ext>
            </a:extLst>
          </p:cNvPr>
          <p:cNvSpPr>
            <a:spLocks noGrp="1"/>
          </p:cNvSpPr>
          <p:nvPr>
            <p:ph type="title"/>
          </p:nvPr>
        </p:nvSpPr>
        <p:spPr>
          <a:xfrm>
            <a:off x="839788" y="365125"/>
            <a:ext cx="10515600" cy="1325563"/>
          </a:xfrm>
        </p:spPr>
        <p:txBody>
          <a:bodyPr/>
          <a:lstStyle/>
          <a:p>
            <a:r>
              <a:rPr lang="en-GB"/>
              <a:t>Click to edit Master title style</a:t>
            </a:r>
            <a:endParaRPr lang="en-IN"/>
          </a:p>
        </p:txBody>
      </p:sp>
      <p:sp>
        <p:nvSpPr>
          <p:cNvPr id="3" name="Text Placeholder 2">
            <a:extLst>
              <a:ext uri="{FF2B5EF4-FFF2-40B4-BE49-F238E27FC236}">
                <a16:creationId xmlns:a16="http://schemas.microsoft.com/office/drawing/2014/main" id="{CE4BB914-8243-8ABE-AE3A-58E4A92F5F6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B008183E-2BDB-66EA-0B3B-2438382D7722}"/>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5" name="Text Placeholder 4">
            <a:extLst>
              <a:ext uri="{FF2B5EF4-FFF2-40B4-BE49-F238E27FC236}">
                <a16:creationId xmlns:a16="http://schemas.microsoft.com/office/drawing/2014/main" id="{20A2199A-74A0-3CA1-D160-B8335DB508C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F129DE58-B89F-4FDC-5E73-A7410897AD34}"/>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7" name="Date Placeholder 6">
            <a:extLst>
              <a:ext uri="{FF2B5EF4-FFF2-40B4-BE49-F238E27FC236}">
                <a16:creationId xmlns:a16="http://schemas.microsoft.com/office/drawing/2014/main" id="{445313D4-852E-4A8B-5FA8-F10F96FA90E3}"/>
              </a:ext>
            </a:extLst>
          </p:cNvPr>
          <p:cNvSpPr>
            <a:spLocks noGrp="1"/>
          </p:cNvSpPr>
          <p:nvPr>
            <p:ph type="dt" sz="half" idx="10"/>
          </p:nvPr>
        </p:nvSpPr>
        <p:spPr/>
        <p:txBody>
          <a:bodyPr/>
          <a:lstStyle/>
          <a:p>
            <a:fld id="{454EB59A-DA2C-464F-92F7-35AB2EB7DDDD}" type="datetimeFigureOut">
              <a:rPr lang="en-IN" smtClean="0"/>
              <a:t>07-10-2026</a:t>
            </a:fld>
            <a:endParaRPr lang="en-IN"/>
          </a:p>
        </p:txBody>
      </p:sp>
      <p:sp>
        <p:nvSpPr>
          <p:cNvPr id="8" name="Footer Placeholder 7">
            <a:extLst>
              <a:ext uri="{FF2B5EF4-FFF2-40B4-BE49-F238E27FC236}">
                <a16:creationId xmlns:a16="http://schemas.microsoft.com/office/drawing/2014/main" id="{15CF3327-0A4E-EAD0-6A39-4402FAD757B8}"/>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F83A3D8-EF66-E02B-A2AF-CDE289770D2F}"/>
              </a:ext>
            </a:extLst>
          </p:cNvPr>
          <p:cNvSpPr>
            <a:spLocks noGrp="1"/>
          </p:cNvSpPr>
          <p:nvPr>
            <p:ph type="sldNum" sz="quarter" idx="12"/>
          </p:nvPr>
        </p:nvSpPr>
        <p:spPr/>
        <p:txBody>
          <a:bodyPr/>
          <a:lstStyle/>
          <a:p>
            <a:fld id="{DEBC3E38-C80E-4AC5-995F-D59C36894085}" type="slidenum">
              <a:rPr lang="en-IN" smtClean="0"/>
              <a:t>‹#›</a:t>
            </a:fld>
            <a:endParaRPr lang="en-IN"/>
          </a:p>
        </p:txBody>
      </p:sp>
    </p:spTree>
    <p:extLst>
      <p:ext uri="{BB962C8B-B14F-4D97-AF65-F5344CB8AC3E}">
        <p14:creationId xmlns:p14="http://schemas.microsoft.com/office/powerpoint/2010/main" val="36161880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617A67-10C8-58E8-6611-AB8C966EF59B}"/>
              </a:ext>
            </a:extLst>
          </p:cNvPr>
          <p:cNvSpPr>
            <a:spLocks noGrp="1"/>
          </p:cNvSpPr>
          <p:nvPr>
            <p:ph type="title"/>
          </p:nvPr>
        </p:nvSpPr>
        <p:spPr/>
        <p:txBody>
          <a:bodyPr/>
          <a:lstStyle/>
          <a:p>
            <a:r>
              <a:rPr lang="en-GB"/>
              <a:t>Click to edit Master title style</a:t>
            </a:r>
            <a:endParaRPr lang="en-IN"/>
          </a:p>
        </p:txBody>
      </p:sp>
      <p:sp>
        <p:nvSpPr>
          <p:cNvPr id="3" name="Date Placeholder 2">
            <a:extLst>
              <a:ext uri="{FF2B5EF4-FFF2-40B4-BE49-F238E27FC236}">
                <a16:creationId xmlns:a16="http://schemas.microsoft.com/office/drawing/2014/main" id="{3D259A59-99C0-A2E3-D783-557B09AB5127}"/>
              </a:ext>
            </a:extLst>
          </p:cNvPr>
          <p:cNvSpPr>
            <a:spLocks noGrp="1"/>
          </p:cNvSpPr>
          <p:nvPr>
            <p:ph type="dt" sz="half" idx="10"/>
          </p:nvPr>
        </p:nvSpPr>
        <p:spPr/>
        <p:txBody>
          <a:bodyPr/>
          <a:lstStyle/>
          <a:p>
            <a:fld id="{454EB59A-DA2C-464F-92F7-35AB2EB7DDDD}" type="datetimeFigureOut">
              <a:rPr lang="en-IN" smtClean="0"/>
              <a:t>07-10-2026</a:t>
            </a:fld>
            <a:endParaRPr lang="en-IN"/>
          </a:p>
        </p:txBody>
      </p:sp>
      <p:sp>
        <p:nvSpPr>
          <p:cNvPr id="4" name="Footer Placeholder 3">
            <a:extLst>
              <a:ext uri="{FF2B5EF4-FFF2-40B4-BE49-F238E27FC236}">
                <a16:creationId xmlns:a16="http://schemas.microsoft.com/office/drawing/2014/main" id="{C5D6872F-476D-BD44-2892-ACD33CDB94B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F2793C4-7741-A4CA-AD72-384BAA24F76F}"/>
              </a:ext>
            </a:extLst>
          </p:cNvPr>
          <p:cNvSpPr>
            <a:spLocks noGrp="1"/>
          </p:cNvSpPr>
          <p:nvPr>
            <p:ph type="sldNum" sz="quarter" idx="12"/>
          </p:nvPr>
        </p:nvSpPr>
        <p:spPr/>
        <p:txBody>
          <a:bodyPr/>
          <a:lstStyle/>
          <a:p>
            <a:fld id="{DEBC3E38-C80E-4AC5-995F-D59C36894085}" type="slidenum">
              <a:rPr lang="en-IN" smtClean="0"/>
              <a:t>‹#›</a:t>
            </a:fld>
            <a:endParaRPr lang="en-IN"/>
          </a:p>
        </p:txBody>
      </p:sp>
    </p:spTree>
    <p:extLst>
      <p:ext uri="{BB962C8B-B14F-4D97-AF65-F5344CB8AC3E}">
        <p14:creationId xmlns:p14="http://schemas.microsoft.com/office/powerpoint/2010/main" val="25381510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8F83689-B26D-9C8E-E459-01DAD6480F07}"/>
              </a:ext>
            </a:extLst>
          </p:cNvPr>
          <p:cNvSpPr>
            <a:spLocks noGrp="1"/>
          </p:cNvSpPr>
          <p:nvPr>
            <p:ph type="dt" sz="half" idx="10"/>
          </p:nvPr>
        </p:nvSpPr>
        <p:spPr/>
        <p:txBody>
          <a:bodyPr/>
          <a:lstStyle/>
          <a:p>
            <a:fld id="{454EB59A-DA2C-464F-92F7-35AB2EB7DDDD}" type="datetimeFigureOut">
              <a:rPr lang="en-IN" smtClean="0"/>
              <a:t>07-10-2026</a:t>
            </a:fld>
            <a:endParaRPr lang="en-IN"/>
          </a:p>
        </p:txBody>
      </p:sp>
      <p:sp>
        <p:nvSpPr>
          <p:cNvPr id="3" name="Footer Placeholder 2">
            <a:extLst>
              <a:ext uri="{FF2B5EF4-FFF2-40B4-BE49-F238E27FC236}">
                <a16:creationId xmlns:a16="http://schemas.microsoft.com/office/drawing/2014/main" id="{741BED9E-38DD-7FF9-5622-029CECB2135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A5BEF14-4CFA-2BAD-68B5-C869408741F7}"/>
              </a:ext>
            </a:extLst>
          </p:cNvPr>
          <p:cNvSpPr>
            <a:spLocks noGrp="1"/>
          </p:cNvSpPr>
          <p:nvPr>
            <p:ph type="sldNum" sz="quarter" idx="12"/>
          </p:nvPr>
        </p:nvSpPr>
        <p:spPr/>
        <p:txBody>
          <a:bodyPr/>
          <a:lstStyle/>
          <a:p>
            <a:fld id="{DEBC3E38-C80E-4AC5-995F-D59C36894085}" type="slidenum">
              <a:rPr lang="en-IN" smtClean="0"/>
              <a:t>‹#›</a:t>
            </a:fld>
            <a:endParaRPr lang="en-IN"/>
          </a:p>
        </p:txBody>
      </p:sp>
    </p:spTree>
    <p:extLst>
      <p:ext uri="{BB962C8B-B14F-4D97-AF65-F5344CB8AC3E}">
        <p14:creationId xmlns:p14="http://schemas.microsoft.com/office/powerpoint/2010/main" val="20096854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403207-B949-0F11-F829-B0D8CBFF7B1A}"/>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IN"/>
          </a:p>
        </p:txBody>
      </p:sp>
      <p:sp>
        <p:nvSpPr>
          <p:cNvPr id="3" name="Content Placeholder 2">
            <a:extLst>
              <a:ext uri="{FF2B5EF4-FFF2-40B4-BE49-F238E27FC236}">
                <a16:creationId xmlns:a16="http://schemas.microsoft.com/office/drawing/2014/main" id="{6536E2AD-0844-D5A8-FA6D-6A5DAC67ABF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Text Placeholder 3">
            <a:extLst>
              <a:ext uri="{FF2B5EF4-FFF2-40B4-BE49-F238E27FC236}">
                <a16:creationId xmlns:a16="http://schemas.microsoft.com/office/drawing/2014/main" id="{2E80309B-0085-810E-7169-AA9E2E49883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5BDA207D-3DF1-8DEC-148E-136A580DF1F6}"/>
              </a:ext>
            </a:extLst>
          </p:cNvPr>
          <p:cNvSpPr>
            <a:spLocks noGrp="1"/>
          </p:cNvSpPr>
          <p:nvPr>
            <p:ph type="dt" sz="half" idx="10"/>
          </p:nvPr>
        </p:nvSpPr>
        <p:spPr/>
        <p:txBody>
          <a:bodyPr/>
          <a:lstStyle/>
          <a:p>
            <a:fld id="{454EB59A-DA2C-464F-92F7-35AB2EB7DDDD}" type="datetimeFigureOut">
              <a:rPr lang="en-IN" smtClean="0"/>
              <a:t>07-10-2026</a:t>
            </a:fld>
            <a:endParaRPr lang="en-IN"/>
          </a:p>
        </p:txBody>
      </p:sp>
      <p:sp>
        <p:nvSpPr>
          <p:cNvPr id="6" name="Footer Placeholder 5">
            <a:extLst>
              <a:ext uri="{FF2B5EF4-FFF2-40B4-BE49-F238E27FC236}">
                <a16:creationId xmlns:a16="http://schemas.microsoft.com/office/drawing/2014/main" id="{2BEB4199-42AB-2204-2C17-4FA88912BE3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DC1DC27-E47F-FB30-B3C3-60D481F895FE}"/>
              </a:ext>
            </a:extLst>
          </p:cNvPr>
          <p:cNvSpPr>
            <a:spLocks noGrp="1"/>
          </p:cNvSpPr>
          <p:nvPr>
            <p:ph type="sldNum" sz="quarter" idx="12"/>
          </p:nvPr>
        </p:nvSpPr>
        <p:spPr/>
        <p:txBody>
          <a:bodyPr/>
          <a:lstStyle/>
          <a:p>
            <a:fld id="{DEBC3E38-C80E-4AC5-995F-D59C36894085}" type="slidenum">
              <a:rPr lang="en-IN" smtClean="0"/>
              <a:t>‹#›</a:t>
            </a:fld>
            <a:endParaRPr lang="en-IN"/>
          </a:p>
        </p:txBody>
      </p:sp>
    </p:spTree>
    <p:extLst>
      <p:ext uri="{BB962C8B-B14F-4D97-AF65-F5344CB8AC3E}">
        <p14:creationId xmlns:p14="http://schemas.microsoft.com/office/powerpoint/2010/main" val="2932461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A4069E-3EFB-F6FD-9022-8DAE03D670E6}"/>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IN"/>
          </a:p>
        </p:txBody>
      </p:sp>
      <p:sp>
        <p:nvSpPr>
          <p:cNvPr id="3" name="Picture Placeholder 2">
            <a:extLst>
              <a:ext uri="{FF2B5EF4-FFF2-40B4-BE49-F238E27FC236}">
                <a16:creationId xmlns:a16="http://schemas.microsoft.com/office/drawing/2014/main" id="{3AC285CA-73AB-3146-FE10-2D79A60FE0A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097DB7C-3E11-877F-C29F-9B4BA63C13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B83556E7-7891-9588-351E-323FA02DC909}"/>
              </a:ext>
            </a:extLst>
          </p:cNvPr>
          <p:cNvSpPr>
            <a:spLocks noGrp="1"/>
          </p:cNvSpPr>
          <p:nvPr>
            <p:ph type="dt" sz="half" idx="10"/>
          </p:nvPr>
        </p:nvSpPr>
        <p:spPr/>
        <p:txBody>
          <a:bodyPr/>
          <a:lstStyle/>
          <a:p>
            <a:fld id="{454EB59A-DA2C-464F-92F7-35AB2EB7DDDD}" type="datetimeFigureOut">
              <a:rPr lang="en-IN" smtClean="0"/>
              <a:t>07-10-2026</a:t>
            </a:fld>
            <a:endParaRPr lang="en-IN"/>
          </a:p>
        </p:txBody>
      </p:sp>
      <p:sp>
        <p:nvSpPr>
          <p:cNvPr id="6" name="Footer Placeholder 5">
            <a:extLst>
              <a:ext uri="{FF2B5EF4-FFF2-40B4-BE49-F238E27FC236}">
                <a16:creationId xmlns:a16="http://schemas.microsoft.com/office/drawing/2014/main" id="{484028E0-02F8-DF72-E03E-29163F33C12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826BE57-8773-8A8A-8751-5F5D1E664E5F}"/>
              </a:ext>
            </a:extLst>
          </p:cNvPr>
          <p:cNvSpPr>
            <a:spLocks noGrp="1"/>
          </p:cNvSpPr>
          <p:nvPr>
            <p:ph type="sldNum" sz="quarter" idx="12"/>
          </p:nvPr>
        </p:nvSpPr>
        <p:spPr/>
        <p:txBody>
          <a:bodyPr/>
          <a:lstStyle/>
          <a:p>
            <a:fld id="{DEBC3E38-C80E-4AC5-995F-D59C36894085}" type="slidenum">
              <a:rPr lang="en-IN" smtClean="0"/>
              <a:t>‹#›</a:t>
            </a:fld>
            <a:endParaRPr lang="en-IN"/>
          </a:p>
        </p:txBody>
      </p:sp>
    </p:spTree>
    <p:extLst>
      <p:ext uri="{BB962C8B-B14F-4D97-AF65-F5344CB8AC3E}">
        <p14:creationId xmlns:p14="http://schemas.microsoft.com/office/powerpoint/2010/main" val="21593431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DFB515-7578-6520-5D63-7ED620F84A0D}"/>
              </a:ext>
            </a:extLst>
          </p:cNvPr>
          <p:cNvSpPr>
            <a:spLocks noGrp="1"/>
          </p:cNvSpPr>
          <p:nvPr>
            <p:ph type="title"/>
          </p:nvPr>
        </p:nvSpPr>
        <p:spPr/>
        <p:txBody>
          <a:bodyPr/>
          <a:lstStyle/>
          <a:p>
            <a:r>
              <a:rPr lang="en-GB"/>
              <a:t>Click to edit Master title style</a:t>
            </a:r>
            <a:endParaRPr lang="en-IN"/>
          </a:p>
        </p:txBody>
      </p:sp>
      <p:sp>
        <p:nvSpPr>
          <p:cNvPr id="3" name="Vertical Text Placeholder 2">
            <a:extLst>
              <a:ext uri="{FF2B5EF4-FFF2-40B4-BE49-F238E27FC236}">
                <a16:creationId xmlns:a16="http://schemas.microsoft.com/office/drawing/2014/main" id="{5660AC46-CC9E-FAF8-7A95-70CD8F64FA3B}"/>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F31440FB-AA59-75CC-41E9-743E16FADCDD}"/>
              </a:ext>
            </a:extLst>
          </p:cNvPr>
          <p:cNvSpPr>
            <a:spLocks noGrp="1"/>
          </p:cNvSpPr>
          <p:nvPr>
            <p:ph type="dt" sz="half" idx="10"/>
          </p:nvPr>
        </p:nvSpPr>
        <p:spPr/>
        <p:txBody>
          <a:bodyPr/>
          <a:lstStyle/>
          <a:p>
            <a:fld id="{454EB59A-DA2C-464F-92F7-35AB2EB7DDDD}" type="datetimeFigureOut">
              <a:rPr lang="en-IN" smtClean="0"/>
              <a:t>07-10-2026</a:t>
            </a:fld>
            <a:endParaRPr lang="en-IN"/>
          </a:p>
        </p:txBody>
      </p:sp>
      <p:sp>
        <p:nvSpPr>
          <p:cNvPr id="5" name="Footer Placeholder 4">
            <a:extLst>
              <a:ext uri="{FF2B5EF4-FFF2-40B4-BE49-F238E27FC236}">
                <a16:creationId xmlns:a16="http://schemas.microsoft.com/office/drawing/2014/main" id="{D0F373D9-55BB-56EC-406F-FBC2BAB9240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E9A8207-8955-6F4D-E704-F1E9F83C21C2}"/>
              </a:ext>
            </a:extLst>
          </p:cNvPr>
          <p:cNvSpPr>
            <a:spLocks noGrp="1"/>
          </p:cNvSpPr>
          <p:nvPr>
            <p:ph type="sldNum" sz="quarter" idx="12"/>
          </p:nvPr>
        </p:nvSpPr>
        <p:spPr/>
        <p:txBody>
          <a:bodyPr/>
          <a:lstStyle/>
          <a:p>
            <a:fld id="{DEBC3E38-C80E-4AC5-995F-D59C36894085}" type="slidenum">
              <a:rPr lang="en-IN" smtClean="0"/>
              <a:t>‹#›</a:t>
            </a:fld>
            <a:endParaRPr lang="en-IN"/>
          </a:p>
        </p:txBody>
      </p:sp>
    </p:spTree>
    <p:extLst>
      <p:ext uri="{BB962C8B-B14F-4D97-AF65-F5344CB8AC3E}">
        <p14:creationId xmlns:p14="http://schemas.microsoft.com/office/powerpoint/2010/main" val="40960673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BA78B5D-3F24-FC42-C0C5-F4F9386B8EDA}"/>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IN"/>
          </a:p>
        </p:txBody>
      </p:sp>
      <p:sp>
        <p:nvSpPr>
          <p:cNvPr id="3" name="Vertical Text Placeholder 2">
            <a:extLst>
              <a:ext uri="{FF2B5EF4-FFF2-40B4-BE49-F238E27FC236}">
                <a16:creationId xmlns:a16="http://schemas.microsoft.com/office/drawing/2014/main" id="{E123CF13-1DDE-7D11-FAC9-743C90E8032E}"/>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AC5C7813-8CCF-E078-DAD2-BF659422769C}"/>
              </a:ext>
            </a:extLst>
          </p:cNvPr>
          <p:cNvSpPr>
            <a:spLocks noGrp="1"/>
          </p:cNvSpPr>
          <p:nvPr>
            <p:ph type="dt" sz="half" idx="10"/>
          </p:nvPr>
        </p:nvSpPr>
        <p:spPr/>
        <p:txBody>
          <a:bodyPr/>
          <a:lstStyle/>
          <a:p>
            <a:fld id="{454EB59A-DA2C-464F-92F7-35AB2EB7DDDD}" type="datetimeFigureOut">
              <a:rPr lang="en-IN" smtClean="0"/>
              <a:t>07-10-2026</a:t>
            </a:fld>
            <a:endParaRPr lang="en-IN"/>
          </a:p>
        </p:txBody>
      </p:sp>
      <p:sp>
        <p:nvSpPr>
          <p:cNvPr id="5" name="Footer Placeholder 4">
            <a:extLst>
              <a:ext uri="{FF2B5EF4-FFF2-40B4-BE49-F238E27FC236}">
                <a16:creationId xmlns:a16="http://schemas.microsoft.com/office/drawing/2014/main" id="{0B343585-D1A6-A48F-0432-CCC9ECB63BB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833BC77-923D-E1A0-3C78-9F398D0D0B02}"/>
              </a:ext>
            </a:extLst>
          </p:cNvPr>
          <p:cNvSpPr>
            <a:spLocks noGrp="1"/>
          </p:cNvSpPr>
          <p:nvPr>
            <p:ph type="sldNum" sz="quarter" idx="12"/>
          </p:nvPr>
        </p:nvSpPr>
        <p:spPr/>
        <p:txBody>
          <a:bodyPr/>
          <a:lstStyle/>
          <a:p>
            <a:fld id="{DEBC3E38-C80E-4AC5-995F-D59C36894085}" type="slidenum">
              <a:rPr lang="en-IN" smtClean="0"/>
              <a:t>‹#›</a:t>
            </a:fld>
            <a:endParaRPr lang="en-IN"/>
          </a:p>
        </p:txBody>
      </p:sp>
    </p:spTree>
    <p:extLst>
      <p:ext uri="{BB962C8B-B14F-4D97-AF65-F5344CB8AC3E}">
        <p14:creationId xmlns:p14="http://schemas.microsoft.com/office/powerpoint/2010/main" val="24838050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8FAF7B0-6076-ED2F-5036-EE5656F5CEB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IN"/>
          </a:p>
        </p:txBody>
      </p:sp>
      <p:sp>
        <p:nvSpPr>
          <p:cNvPr id="3" name="Text Placeholder 2">
            <a:extLst>
              <a:ext uri="{FF2B5EF4-FFF2-40B4-BE49-F238E27FC236}">
                <a16:creationId xmlns:a16="http://schemas.microsoft.com/office/drawing/2014/main" id="{13DF52F1-91D0-6D66-9FA5-62A14759E74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056846E3-43F1-304B-8DE7-7AADDE3258A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54EB59A-DA2C-464F-92F7-35AB2EB7DDDD}" type="datetimeFigureOut">
              <a:rPr lang="en-IN" smtClean="0"/>
              <a:t>07-10-2026</a:t>
            </a:fld>
            <a:endParaRPr lang="en-IN"/>
          </a:p>
        </p:txBody>
      </p:sp>
      <p:sp>
        <p:nvSpPr>
          <p:cNvPr id="5" name="Footer Placeholder 4">
            <a:extLst>
              <a:ext uri="{FF2B5EF4-FFF2-40B4-BE49-F238E27FC236}">
                <a16:creationId xmlns:a16="http://schemas.microsoft.com/office/drawing/2014/main" id="{6B5CD9A3-E4A7-8F87-0EE8-74E21B7760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9A1FFEF1-2ADC-8192-3DD6-D66D80E2739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EBC3E38-C80E-4AC5-995F-D59C36894085}" type="slidenum">
              <a:rPr lang="en-IN" smtClean="0"/>
              <a:t>‹#›</a:t>
            </a:fld>
            <a:endParaRPr lang="en-IN"/>
          </a:p>
        </p:txBody>
      </p:sp>
    </p:spTree>
    <p:extLst>
      <p:ext uri="{BB962C8B-B14F-4D97-AF65-F5344CB8AC3E}">
        <p14:creationId xmlns:p14="http://schemas.microsoft.com/office/powerpoint/2010/main" val="42431679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C35EB62-ABDE-B9D9-5F77-5AA273B150EF}"/>
              </a:ext>
            </a:extLst>
          </p:cNvPr>
          <p:cNvSpPr txBox="1"/>
          <p:nvPr/>
        </p:nvSpPr>
        <p:spPr>
          <a:xfrm>
            <a:off x="609600" y="330199"/>
            <a:ext cx="10414000" cy="279400"/>
          </a:xfrm>
          <a:prstGeom prst="rect">
            <a:avLst/>
          </a:prstGeom>
          <a:noFill/>
        </p:spPr>
        <p:txBody>
          <a:bodyPr vert="horz" wrap="square" lIns="0" tIns="0" rIns="76200" bIns="0" rtlCol="0">
            <a:noAutofit/>
          </a:bodyPr>
          <a:lstStyle/>
          <a:p>
            <a:r>
              <a:rPr lang="en-IN" sz="1200" b="1">
                <a:solidFill>
                  <a:srgbClr val="176CA4"/>
                </a:solidFill>
                <a:latin typeface="Arial" panose="020B0604020202020204" pitchFamily="34" charset="0"/>
              </a:rPr>
              <a:t>MAJOR PROJECT SYNOPSIS · 2025–26</a:t>
            </a:r>
          </a:p>
        </p:txBody>
      </p:sp>
      <p:cxnSp>
        <p:nvCxnSpPr>
          <p:cNvPr id="3" name="Straight Connector 2">
            <a:extLst>
              <a:ext uri="{FF2B5EF4-FFF2-40B4-BE49-F238E27FC236}">
                <a16:creationId xmlns:a16="http://schemas.microsoft.com/office/drawing/2014/main" id="{44B75C32-1984-8200-8235-A32D29BE5BA5}"/>
              </a:ext>
            </a:extLst>
          </p:cNvPr>
          <p:cNvCxnSpPr/>
          <p:nvPr/>
        </p:nvCxnSpPr>
        <p:spPr>
          <a:xfrm>
            <a:off x="609600" y="6362700"/>
            <a:ext cx="10972800" cy="0"/>
          </a:xfrm>
          <a:prstGeom prst="line">
            <a:avLst/>
          </a:prstGeom>
          <a:ln w="12700">
            <a:solidFill>
              <a:srgbClr val="D4D9DD"/>
            </a:solidFill>
          </a:ln>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8BB2E970-C5B3-F020-60E7-02E701C79C47}"/>
              </a:ext>
            </a:extLst>
          </p:cNvPr>
          <p:cNvSpPr txBox="1"/>
          <p:nvPr/>
        </p:nvSpPr>
        <p:spPr>
          <a:xfrm>
            <a:off x="609600" y="6477000"/>
            <a:ext cx="8890000" cy="228600"/>
          </a:xfrm>
          <a:prstGeom prst="rect">
            <a:avLst/>
          </a:prstGeom>
          <a:noFill/>
        </p:spPr>
        <p:txBody>
          <a:bodyPr vert="horz" wrap="square" lIns="0" tIns="0" rIns="76200" bIns="0" rtlCol="0">
            <a:noAutofit/>
          </a:bodyPr>
          <a:lstStyle/>
          <a:p>
            <a:r>
              <a:rPr lang="en-IN" sz="1000">
                <a:solidFill>
                  <a:srgbClr val="59616B"/>
                </a:solidFill>
                <a:latin typeface="Arial" panose="020B0604020202020204" pitchFamily="34" charset="0"/>
              </a:rPr>
              <a:t>ROAD DAMAGE DETECTION  /  GECB</a:t>
            </a:r>
          </a:p>
        </p:txBody>
      </p:sp>
      <p:sp>
        <p:nvSpPr>
          <p:cNvPr id="5" name="TextBox 4">
            <a:extLst>
              <a:ext uri="{FF2B5EF4-FFF2-40B4-BE49-F238E27FC236}">
                <a16:creationId xmlns:a16="http://schemas.microsoft.com/office/drawing/2014/main" id="{2AAA1C7E-51E6-398E-C36E-884D36CD86C0}"/>
              </a:ext>
            </a:extLst>
          </p:cNvPr>
          <p:cNvSpPr txBox="1"/>
          <p:nvPr/>
        </p:nvSpPr>
        <p:spPr>
          <a:xfrm>
            <a:off x="10617200" y="6477000"/>
            <a:ext cx="965200" cy="228600"/>
          </a:xfrm>
          <a:prstGeom prst="rect">
            <a:avLst/>
          </a:prstGeom>
          <a:noFill/>
        </p:spPr>
        <p:txBody>
          <a:bodyPr vert="horz" wrap="square" lIns="0" tIns="0" rIns="76200" bIns="0" rtlCol="0">
            <a:noAutofit/>
          </a:bodyPr>
          <a:lstStyle/>
          <a:p>
            <a:pPr algn="r"/>
            <a:r>
              <a:rPr lang="en-IN" sz="1000">
                <a:solidFill>
                  <a:srgbClr val="59616B"/>
                </a:solidFill>
                <a:latin typeface="Arial" panose="020B0604020202020204" pitchFamily="34" charset="0"/>
              </a:rPr>
              <a:t>01 / 12</a:t>
            </a:r>
          </a:p>
        </p:txBody>
      </p:sp>
      <p:pic>
        <p:nvPicPr>
          <p:cNvPr id="7" name="Picture 6">
            <a:extLst>
              <a:ext uri="{FF2B5EF4-FFF2-40B4-BE49-F238E27FC236}">
                <a16:creationId xmlns:a16="http://schemas.microsoft.com/office/drawing/2014/main" id="{8EDB02D4-753F-E8F7-E76A-2E4C03133499}"/>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0629900" y="317500"/>
            <a:ext cx="901700" cy="838200"/>
          </a:xfrm>
          <a:prstGeom prst="rect">
            <a:avLst/>
          </a:prstGeom>
        </p:spPr>
      </p:pic>
      <p:sp>
        <p:nvSpPr>
          <p:cNvPr id="8" name="TextBox 7">
            <a:extLst>
              <a:ext uri="{FF2B5EF4-FFF2-40B4-BE49-F238E27FC236}">
                <a16:creationId xmlns:a16="http://schemas.microsoft.com/office/drawing/2014/main" id="{D45416C5-8202-A71A-8500-DBB510C8D83F}"/>
              </a:ext>
            </a:extLst>
          </p:cNvPr>
          <p:cNvSpPr txBox="1"/>
          <p:nvPr/>
        </p:nvSpPr>
        <p:spPr>
          <a:xfrm>
            <a:off x="609600" y="761999"/>
            <a:ext cx="9779000" cy="355600"/>
          </a:xfrm>
          <a:prstGeom prst="rect">
            <a:avLst/>
          </a:prstGeom>
          <a:noFill/>
        </p:spPr>
        <p:txBody>
          <a:bodyPr vert="horz" wrap="square" lIns="0" tIns="0" rIns="76200" bIns="0" rtlCol="0">
            <a:noAutofit/>
          </a:bodyPr>
          <a:lstStyle/>
          <a:p>
            <a:r>
              <a:rPr lang="en-IN" sz="1900" b="1">
                <a:solidFill>
                  <a:srgbClr val="171C22"/>
                </a:solidFill>
                <a:latin typeface="Arial" panose="020B0604020202020204" pitchFamily="34" charset="0"/>
              </a:rPr>
              <a:t>Government Engineering College, Bidar</a:t>
            </a:r>
          </a:p>
        </p:txBody>
      </p:sp>
      <p:sp>
        <p:nvSpPr>
          <p:cNvPr id="9" name="TextBox 8">
            <a:extLst>
              <a:ext uri="{FF2B5EF4-FFF2-40B4-BE49-F238E27FC236}">
                <a16:creationId xmlns:a16="http://schemas.microsoft.com/office/drawing/2014/main" id="{77C7EDFB-DEFC-EA9B-AF72-27DFDAA07EAB}"/>
              </a:ext>
            </a:extLst>
          </p:cNvPr>
          <p:cNvSpPr txBox="1"/>
          <p:nvPr/>
        </p:nvSpPr>
        <p:spPr>
          <a:xfrm>
            <a:off x="609600" y="1155699"/>
            <a:ext cx="9525000" cy="317500"/>
          </a:xfrm>
          <a:prstGeom prst="rect">
            <a:avLst/>
          </a:prstGeom>
          <a:noFill/>
        </p:spPr>
        <p:txBody>
          <a:bodyPr vert="horz" wrap="square" lIns="0" tIns="0" rIns="76200" bIns="0" rtlCol="0">
            <a:noAutofit/>
          </a:bodyPr>
          <a:lstStyle/>
          <a:p>
            <a:r>
              <a:rPr lang="en-IN" sz="1600">
                <a:solidFill>
                  <a:srgbClr val="59616B"/>
                </a:solidFill>
                <a:latin typeface="Arial" panose="020B0604020202020204" pitchFamily="34" charset="0"/>
              </a:rPr>
              <a:t>Computer Science &amp; Engineering  ·  VTU Belagavi</a:t>
            </a:r>
          </a:p>
        </p:txBody>
      </p:sp>
      <p:sp>
        <p:nvSpPr>
          <p:cNvPr id="10" name="TextBox 9">
            <a:extLst>
              <a:ext uri="{FF2B5EF4-FFF2-40B4-BE49-F238E27FC236}">
                <a16:creationId xmlns:a16="http://schemas.microsoft.com/office/drawing/2014/main" id="{81F611B2-EEC7-2A89-A818-C19CD3225D66}"/>
              </a:ext>
            </a:extLst>
          </p:cNvPr>
          <p:cNvSpPr txBox="1"/>
          <p:nvPr/>
        </p:nvSpPr>
        <p:spPr>
          <a:xfrm>
            <a:off x="609600" y="1828799"/>
            <a:ext cx="10972800" cy="1549400"/>
          </a:xfrm>
          <a:prstGeom prst="rect">
            <a:avLst/>
          </a:prstGeom>
          <a:noFill/>
        </p:spPr>
        <p:txBody>
          <a:bodyPr vert="horz" wrap="square" lIns="0" tIns="0" rIns="76200" bIns="0" rtlCol="0">
            <a:noAutofit/>
          </a:bodyPr>
          <a:lstStyle/>
          <a:p>
            <a:r>
              <a:rPr lang="en-IN" sz="5000" b="1">
                <a:solidFill>
                  <a:srgbClr val="171C22"/>
                </a:solidFill>
                <a:latin typeface="Arial" panose="020B0604020202020204" pitchFamily="34" charset="0"/>
              </a:rPr>
              <a:t>AI-Based Road
Damage Detection</a:t>
            </a:r>
          </a:p>
        </p:txBody>
      </p:sp>
      <p:sp>
        <p:nvSpPr>
          <p:cNvPr id="11" name="TextBox 10">
            <a:extLst>
              <a:ext uri="{FF2B5EF4-FFF2-40B4-BE49-F238E27FC236}">
                <a16:creationId xmlns:a16="http://schemas.microsoft.com/office/drawing/2014/main" id="{02E95CC2-B271-8598-2DE8-0B96F41B380E}"/>
              </a:ext>
            </a:extLst>
          </p:cNvPr>
          <p:cNvSpPr txBox="1"/>
          <p:nvPr/>
        </p:nvSpPr>
        <p:spPr>
          <a:xfrm>
            <a:off x="609600" y="3581399"/>
            <a:ext cx="10972800" cy="533400"/>
          </a:xfrm>
          <a:prstGeom prst="rect">
            <a:avLst/>
          </a:prstGeom>
          <a:noFill/>
        </p:spPr>
        <p:txBody>
          <a:bodyPr vert="horz" wrap="square" lIns="0" tIns="0" rIns="76200" bIns="0" rtlCol="0">
            <a:noAutofit/>
          </a:bodyPr>
          <a:lstStyle/>
          <a:p>
            <a:r>
              <a:rPr lang="en-IN" sz="2500">
                <a:solidFill>
                  <a:srgbClr val="176CA4"/>
                </a:solidFill>
                <a:latin typeface="Arial" panose="020B0604020202020204" pitchFamily="34" charset="0"/>
              </a:rPr>
              <a:t>Municipal Maintenance Management System</a:t>
            </a:r>
          </a:p>
        </p:txBody>
      </p:sp>
      <p:cxnSp>
        <p:nvCxnSpPr>
          <p:cNvPr id="12" name="Straight Connector 11">
            <a:extLst>
              <a:ext uri="{FF2B5EF4-FFF2-40B4-BE49-F238E27FC236}">
                <a16:creationId xmlns:a16="http://schemas.microsoft.com/office/drawing/2014/main" id="{7896A222-1895-B133-8092-128635AA5712}"/>
              </a:ext>
            </a:extLst>
          </p:cNvPr>
          <p:cNvCxnSpPr/>
          <p:nvPr/>
        </p:nvCxnSpPr>
        <p:spPr>
          <a:xfrm>
            <a:off x="609600" y="4432300"/>
            <a:ext cx="10972800" cy="0"/>
          </a:xfrm>
          <a:prstGeom prst="line">
            <a:avLst/>
          </a:prstGeom>
          <a:ln w="12700">
            <a:solidFill>
              <a:srgbClr val="D4D9DD"/>
            </a:solidFill>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8D50BAA6-B8CC-1AAB-3B7C-D7A43BA19A32}"/>
              </a:ext>
            </a:extLst>
          </p:cNvPr>
          <p:cNvSpPr txBox="1"/>
          <p:nvPr/>
        </p:nvSpPr>
        <p:spPr>
          <a:xfrm>
            <a:off x="609600" y="4686299"/>
            <a:ext cx="5969000" cy="304800"/>
          </a:xfrm>
          <a:prstGeom prst="rect">
            <a:avLst/>
          </a:prstGeom>
          <a:noFill/>
        </p:spPr>
        <p:txBody>
          <a:bodyPr vert="horz" wrap="square" lIns="0" tIns="0" rIns="76200" bIns="0" rtlCol="0">
            <a:noAutofit/>
          </a:bodyPr>
          <a:lstStyle/>
          <a:p>
            <a:r>
              <a:rPr lang="en-IN" sz="1600" b="1">
                <a:solidFill>
                  <a:srgbClr val="171C22"/>
                </a:solidFill>
                <a:latin typeface="Arial" panose="020B0604020202020204" pitchFamily="34" charset="0"/>
              </a:rPr>
              <a:t>Presented by</a:t>
            </a:r>
          </a:p>
        </p:txBody>
      </p:sp>
      <p:sp>
        <p:nvSpPr>
          <p:cNvPr id="14" name="TextBox 13">
            <a:extLst>
              <a:ext uri="{FF2B5EF4-FFF2-40B4-BE49-F238E27FC236}">
                <a16:creationId xmlns:a16="http://schemas.microsoft.com/office/drawing/2014/main" id="{F283E7DA-8C58-664D-9813-F3F4CF91C72D}"/>
              </a:ext>
            </a:extLst>
          </p:cNvPr>
          <p:cNvSpPr txBox="1"/>
          <p:nvPr/>
        </p:nvSpPr>
        <p:spPr>
          <a:xfrm>
            <a:off x="609600" y="5118099"/>
            <a:ext cx="4572000" cy="723900"/>
          </a:xfrm>
          <a:prstGeom prst="rect">
            <a:avLst/>
          </a:prstGeom>
          <a:noFill/>
        </p:spPr>
        <p:txBody>
          <a:bodyPr vert="horz" wrap="square" lIns="0" tIns="0" rIns="76200" bIns="0" rtlCol="0">
            <a:noAutofit/>
          </a:bodyPr>
          <a:lstStyle/>
          <a:p>
            <a:r>
              <a:rPr lang="en-IN" sz="1600">
                <a:solidFill>
                  <a:srgbClr val="171C22"/>
                </a:solidFill>
                <a:latin typeface="Arial" panose="020B0604020202020204" pitchFamily="34" charset="0"/>
              </a:rPr>
              <a:t>Bhagyashree  ·  3DG23CS007
Pallavi  ·  3DG23CS028</a:t>
            </a:r>
          </a:p>
        </p:txBody>
      </p:sp>
      <p:sp>
        <p:nvSpPr>
          <p:cNvPr id="15" name="TextBox 14">
            <a:extLst>
              <a:ext uri="{FF2B5EF4-FFF2-40B4-BE49-F238E27FC236}">
                <a16:creationId xmlns:a16="http://schemas.microsoft.com/office/drawing/2014/main" id="{9DE9353C-2894-DD3D-9210-ADB68701E43E}"/>
              </a:ext>
            </a:extLst>
          </p:cNvPr>
          <p:cNvSpPr txBox="1"/>
          <p:nvPr/>
        </p:nvSpPr>
        <p:spPr>
          <a:xfrm>
            <a:off x="4483100" y="5118099"/>
            <a:ext cx="4127500" cy="723900"/>
          </a:xfrm>
          <a:prstGeom prst="rect">
            <a:avLst/>
          </a:prstGeom>
          <a:noFill/>
        </p:spPr>
        <p:txBody>
          <a:bodyPr vert="horz" wrap="square" lIns="0" tIns="0" rIns="76200" bIns="0" rtlCol="0">
            <a:noAutofit/>
          </a:bodyPr>
          <a:lstStyle/>
          <a:p>
            <a:r>
              <a:rPr lang="en-IN" sz="1600">
                <a:solidFill>
                  <a:srgbClr val="171C22"/>
                </a:solidFill>
                <a:latin typeface="Arial" panose="020B0604020202020204" pitchFamily="34" charset="0"/>
              </a:rPr>
              <a:t>Pratiksha  ·  3DG23CS031
Vakilata  ·  3DG23CS059</a:t>
            </a:r>
          </a:p>
        </p:txBody>
      </p:sp>
      <p:sp>
        <p:nvSpPr>
          <p:cNvPr id="16" name="TextBox 15">
            <a:extLst>
              <a:ext uri="{FF2B5EF4-FFF2-40B4-BE49-F238E27FC236}">
                <a16:creationId xmlns:a16="http://schemas.microsoft.com/office/drawing/2014/main" id="{3071B4AA-BA1F-7043-AC1A-766F10D7C555}"/>
              </a:ext>
            </a:extLst>
          </p:cNvPr>
          <p:cNvSpPr txBox="1"/>
          <p:nvPr/>
        </p:nvSpPr>
        <p:spPr>
          <a:xfrm>
            <a:off x="8763000" y="4686299"/>
            <a:ext cx="2819400" cy="304800"/>
          </a:xfrm>
          <a:prstGeom prst="rect">
            <a:avLst/>
          </a:prstGeom>
          <a:noFill/>
        </p:spPr>
        <p:txBody>
          <a:bodyPr vert="horz" wrap="square" lIns="0" tIns="0" rIns="76200" bIns="0" rtlCol="0">
            <a:noAutofit/>
          </a:bodyPr>
          <a:lstStyle/>
          <a:p>
            <a:r>
              <a:rPr lang="en-IN" sz="1600" b="1">
                <a:solidFill>
                  <a:srgbClr val="171C22"/>
                </a:solidFill>
                <a:latin typeface="Arial" panose="020B0604020202020204" pitchFamily="34" charset="0"/>
              </a:rPr>
              <a:t>Under the guidance of</a:t>
            </a:r>
          </a:p>
        </p:txBody>
      </p:sp>
      <p:sp>
        <p:nvSpPr>
          <p:cNvPr id="17" name="TextBox 16">
            <a:extLst>
              <a:ext uri="{FF2B5EF4-FFF2-40B4-BE49-F238E27FC236}">
                <a16:creationId xmlns:a16="http://schemas.microsoft.com/office/drawing/2014/main" id="{64FDAFBB-E910-7328-431F-51B3597EA811}"/>
              </a:ext>
            </a:extLst>
          </p:cNvPr>
          <p:cNvSpPr txBox="1"/>
          <p:nvPr/>
        </p:nvSpPr>
        <p:spPr>
          <a:xfrm>
            <a:off x="8763000" y="5118099"/>
            <a:ext cx="2819400" cy="787400"/>
          </a:xfrm>
          <a:prstGeom prst="rect">
            <a:avLst/>
          </a:prstGeom>
          <a:noFill/>
        </p:spPr>
        <p:txBody>
          <a:bodyPr vert="horz" wrap="square" lIns="0" tIns="0" rIns="76200" bIns="0" rtlCol="0">
            <a:noAutofit/>
          </a:bodyPr>
          <a:lstStyle/>
          <a:p>
            <a:r>
              <a:rPr lang="en-IN">
                <a:solidFill>
                  <a:srgbClr val="59616B"/>
                </a:solidFill>
                <a:latin typeface="Arial" panose="020B0604020202020204" pitchFamily="34" charset="0"/>
              </a:rPr>
              <a:t>Asst. Prof.
Pooja Hebbale</a:t>
            </a:r>
          </a:p>
        </p:txBody>
      </p:sp>
    </p:spTree>
    <p:extLst>
      <p:ext uri="{BB962C8B-B14F-4D97-AF65-F5344CB8AC3E}">
        <p14:creationId xmlns:p14="http://schemas.microsoft.com/office/powerpoint/2010/main" val="3009152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8FC198C-08FD-6050-D83B-57EB408E4B79}"/>
              </a:ext>
            </a:extLst>
          </p:cNvPr>
          <p:cNvSpPr txBox="1"/>
          <p:nvPr/>
        </p:nvSpPr>
        <p:spPr>
          <a:xfrm>
            <a:off x="609600" y="330199"/>
            <a:ext cx="10414000" cy="279400"/>
          </a:xfrm>
          <a:prstGeom prst="rect">
            <a:avLst/>
          </a:prstGeom>
          <a:noFill/>
        </p:spPr>
        <p:txBody>
          <a:bodyPr vert="horz" wrap="square" lIns="0" tIns="0" rIns="76200" bIns="0" rtlCol="0">
            <a:noAutofit/>
          </a:bodyPr>
          <a:lstStyle/>
          <a:p>
            <a:r>
              <a:rPr lang="en-IN" sz="1200" b="1">
                <a:solidFill>
                  <a:srgbClr val="176CA4"/>
                </a:solidFill>
                <a:latin typeface="Arial" panose="020B0604020202020204" pitchFamily="34" charset="0"/>
              </a:rPr>
              <a:t>PROBLEM STATEMENT</a:t>
            </a:r>
          </a:p>
        </p:txBody>
      </p:sp>
      <p:sp>
        <p:nvSpPr>
          <p:cNvPr id="3" name="TextBox 2">
            <a:extLst>
              <a:ext uri="{FF2B5EF4-FFF2-40B4-BE49-F238E27FC236}">
                <a16:creationId xmlns:a16="http://schemas.microsoft.com/office/drawing/2014/main" id="{CB2628E2-76BE-8D00-4500-E8520C59C2B0}"/>
              </a:ext>
            </a:extLst>
          </p:cNvPr>
          <p:cNvSpPr txBox="1"/>
          <p:nvPr/>
        </p:nvSpPr>
        <p:spPr>
          <a:xfrm>
            <a:off x="609600" y="876299"/>
            <a:ext cx="10972800" cy="1130300"/>
          </a:xfrm>
          <a:prstGeom prst="rect">
            <a:avLst/>
          </a:prstGeom>
          <a:noFill/>
        </p:spPr>
        <p:txBody>
          <a:bodyPr vert="horz" wrap="square" lIns="0" tIns="0" rIns="76200" bIns="0" rtlCol="0">
            <a:noAutofit/>
          </a:bodyPr>
          <a:lstStyle/>
          <a:p>
            <a:r>
              <a:rPr lang="en-US" sz="3500" b="1">
                <a:solidFill>
                  <a:srgbClr val="171C22"/>
                </a:solidFill>
                <a:latin typeface="Arial" panose="020B0604020202020204" pitchFamily="34" charset="0"/>
              </a:rPr>
              <a:t>A photo alone does not resolve a complaint</a:t>
            </a:r>
            <a:endParaRPr lang="en-IN" sz="3500" b="1">
              <a:solidFill>
                <a:srgbClr val="171C22"/>
              </a:solidFill>
              <a:latin typeface="Arial" panose="020B0604020202020204" pitchFamily="34" charset="0"/>
            </a:endParaRPr>
          </a:p>
        </p:txBody>
      </p:sp>
      <p:cxnSp>
        <p:nvCxnSpPr>
          <p:cNvPr id="4" name="Straight Connector 3">
            <a:extLst>
              <a:ext uri="{FF2B5EF4-FFF2-40B4-BE49-F238E27FC236}">
                <a16:creationId xmlns:a16="http://schemas.microsoft.com/office/drawing/2014/main" id="{CAD56765-4877-876C-4B24-B1F606BDC710}"/>
              </a:ext>
            </a:extLst>
          </p:cNvPr>
          <p:cNvCxnSpPr/>
          <p:nvPr/>
        </p:nvCxnSpPr>
        <p:spPr>
          <a:xfrm>
            <a:off x="609600" y="6362700"/>
            <a:ext cx="10972800" cy="0"/>
          </a:xfrm>
          <a:prstGeom prst="line">
            <a:avLst/>
          </a:prstGeom>
          <a:ln w="12700">
            <a:solidFill>
              <a:srgbClr val="D4D9DD"/>
            </a:solidFill>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00BC6B0D-B42D-302D-9FC0-1F77E0D65C82}"/>
              </a:ext>
            </a:extLst>
          </p:cNvPr>
          <p:cNvSpPr txBox="1"/>
          <p:nvPr/>
        </p:nvSpPr>
        <p:spPr>
          <a:xfrm>
            <a:off x="609600" y="6477000"/>
            <a:ext cx="8890000" cy="228600"/>
          </a:xfrm>
          <a:prstGeom prst="rect">
            <a:avLst/>
          </a:prstGeom>
          <a:noFill/>
        </p:spPr>
        <p:txBody>
          <a:bodyPr vert="horz" wrap="square" lIns="0" tIns="0" rIns="76200" bIns="0" rtlCol="0">
            <a:noAutofit/>
          </a:bodyPr>
          <a:lstStyle/>
          <a:p>
            <a:r>
              <a:rPr lang="en-IN" sz="1000">
                <a:solidFill>
                  <a:srgbClr val="59616B"/>
                </a:solidFill>
                <a:latin typeface="Arial" panose="020B0604020202020204" pitchFamily="34" charset="0"/>
              </a:rPr>
              <a:t>ROAD DAMAGE DETECTION  /  GECB</a:t>
            </a:r>
          </a:p>
        </p:txBody>
      </p:sp>
      <p:sp>
        <p:nvSpPr>
          <p:cNvPr id="6" name="TextBox 5">
            <a:extLst>
              <a:ext uri="{FF2B5EF4-FFF2-40B4-BE49-F238E27FC236}">
                <a16:creationId xmlns:a16="http://schemas.microsoft.com/office/drawing/2014/main" id="{FBE67AD1-A22A-84AA-2726-2DFE955E5FC8}"/>
              </a:ext>
            </a:extLst>
          </p:cNvPr>
          <p:cNvSpPr txBox="1"/>
          <p:nvPr/>
        </p:nvSpPr>
        <p:spPr>
          <a:xfrm>
            <a:off x="10617200" y="6477000"/>
            <a:ext cx="965200" cy="228600"/>
          </a:xfrm>
          <a:prstGeom prst="rect">
            <a:avLst/>
          </a:prstGeom>
          <a:noFill/>
        </p:spPr>
        <p:txBody>
          <a:bodyPr vert="horz" wrap="square" lIns="0" tIns="0" rIns="76200" bIns="0" rtlCol="0">
            <a:noAutofit/>
          </a:bodyPr>
          <a:lstStyle/>
          <a:p>
            <a:pPr algn="r"/>
            <a:r>
              <a:rPr lang="en-IN" sz="1000">
                <a:solidFill>
                  <a:srgbClr val="59616B"/>
                </a:solidFill>
                <a:latin typeface="Arial" panose="020B0604020202020204" pitchFamily="34" charset="0"/>
              </a:rPr>
              <a:t>02 / 12</a:t>
            </a:r>
          </a:p>
        </p:txBody>
      </p:sp>
      <p:sp>
        <p:nvSpPr>
          <p:cNvPr id="7" name="TextBox 6">
            <a:extLst>
              <a:ext uri="{FF2B5EF4-FFF2-40B4-BE49-F238E27FC236}">
                <a16:creationId xmlns:a16="http://schemas.microsoft.com/office/drawing/2014/main" id="{53D16C17-4B61-774D-F432-037BEDBCEB47}"/>
              </a:ext>
            </a:extLst>
          </p:cNvPr>
          <p:cNvSpPr txBox="1"/>
          <p:nvPr/>
        </p:nvSpPr>
        <p:spPr>
          <a:xfrm>
            <a:off x="609600" y="2031999"/>
            <a:ext cx="10972800" cy="635000"/>
          </a:xfrm>
          <a:prstGeom prst="rect">
            <a:avLst/>
          </a:prstGeom>
          <a:noFill/>
        </p:spPr>
        <p:txBody>
          <a:bodyPr vert="horz" wrap="square" lIns="0" tIns="0" rIns="76200" bIns="0" rtlCol="0">
            <a:noAutofit/>
          </a:bodyPr>
          <a:lstStyle/>
          <a:p>
            <a:r>
              <a:rPr lang="en-US" sz="2200">
                <a:solidFill>
                  <a:srgbClr val="59616B"/>
                </a:solidFill>
                <a:latin typeface="Arial" panose="020B0604020202020204" pitchFamily="34" charset="0"/>
              </a:rPr>
              <a:t>Road damage needs a reliable path from observation to action.</a:t>
            </a:r>
            <a:endParaRPr lang="en-IN" sz="2200">
              <a:solidFill>
                <a:srgbClr val="59616B"/>
              </a:solidFill>
              <a:latin typeface="Arial" panose="020B0604020202020204" pitchFamily="34" charset="0"/>
            </a:endParaRPr>
          </a:p>
        </p:txBody>
      </p:sp>
      <p:sp>
        <p:nvSpPr>
          <p:cNvPr id="8" name="TextBox 7">
            <a:extLst>
              <a:ext uri="{FF2B5EF4-FFF2-40B4-BE49-F238E27FC236}">
                <a16:creationId xmlns:a16="http://schemas.microsoft.com/office/drawing/2014/main" id="{5931943F-203E-869D-E5DC-D664B6ADB078}"/>
              </a:ext>
            </a:extLst>
          </p:cNvPr>
          <p:cNvSpPr txBox="1"/>
          <p:nvPr/>
        </p:nvSpPr>
        <p:spPr>
          <a:xfrm>
            <a:off x="609600" y="3022599"/>
            <a:ext cx="3352800" cy="762000"/>
          </a:xfrm>
          <a:prstGeom prst="rect">
            <a:avLst/>
          </a:prstGeom>
          <a:noFill/>
        </p:spPr>
        <p:txBody>
          <a:bodyPr vert="horz" wrap="square" lIns="0" tIns="0" rIns="76200" bIns="0" rtlCol="0">
            <a:noAutofit/>
          </a:bodyPr>
          <a:lstStyle/>
          <a:p>
            <a:r>
              <a:rPr lang="en-IN" sz="2400" b="1">
                <a:solidFill>
                  <a:srgbClr val="171C22"/>
                </a:solidFill>
                <a:latin typeface="Arial" panose="020B0604020202020204" pitchFamily="34" charset="0"/>
              </a:rPr>
              <a:t>Incomplete location</a:t>
            </a:r>
          </a:p>
        </p:txBody>
      </p:sp>
      <p:sp>
        <p:nvSpPr>
          <p:cNvPr id="9" name="TextBox 8">
            <a:extLst>
              <a:ext uri="{FF2B5EF4-FFF2-40B4-BE49-F238E27FC236}">
                <a16:creationId xmlns:a16="http://schemas.microsoft.com/office/drawing/2014/main" id="{5E9EE0BF-F9B5-EE0B-E5ED-6791B77BE339}"/>
              </a:ext>
            </a:extLst>
          </p:cNvPr>
          <p:cNvSpPr txBox="1"/>
          <p:nvPr/>
        </p:nvSpPr>
        <p:spPr>
          <a:xfrm>
            <a:off x="609600" y="3860799"/>
            <a:ext cx="3352800" cy="1549400"/>
          </a:xfrm>
          <a:prstGeom prst="rect">
            <a:avLst/>
          </a:prstGeom>
          <a:noFill/>
        </p:spPr>
        <p:txBody>
          <a:bodyPr vert="horz" wrap="square" lIns="0" tIns="0" rIns="76200" bIns="0" rtlCol="0">
            <a:noAutofit/>
          </a:bodyPr>
          <a:lstStyle/>
          <a:p>
            <a:r>
              <a:rPr lang="en-US">
                <a:solidFill>
                  <a:srgbClr val="59616B"/>
                </a:solidFill>
                <a:latin typeface="Arial" panose="020B0604020202020204" pitchFamily="34" charset="0"/>
              </a:rPr>
              <a:t>A photo or message may not identify the correct road segment.</a:t>
            </a:r>
            <a:endParaRPr lang="en-IN">
              <a:solidFill>
                <a:srgbClr val="59616B"/>
              </a:solidFill>
              <a:latin typeface="Arial" panose="020B0604020202020204" pitchFamily="34" charset="0"/>
            </a:endParaRPr>
          </a:p>
        </p:txBody>
      </p:sp>
      <p:sp>
        <p:nvSpPr>
          <p:cNvPr id="10" name="TextBox 9">
            <a:extLst>
              <a:ext uri="{FF2B5EF4-FFF2-40B4-BE49-F238E27FC236}">
                <a16:creationId xmlns:a16="http://schemas.microsoft.com/office/drawing/2014/main" id="{FC47587C-2E2E-14C8-AFC7-0B69E273624B}"/>
              </a:ext>
            </a:extLst>
          </p:cNvPr>
          <p:cNvSpPr txBox="1"/>
          <p:nvPr/>
        </p:nvSpPr>
        <p:spPr>
          <a:xfrm>
            <a:off x="4419600" y="3022599"/>
            <a:ext cx="3352800" cy="762000"/>
          </a:xfrm>
          <a:prstGeom prst="rect">
            <a:avLst/>
          </a:prstGeom>
          <a:noFill/>
        </p:spPr>
        <p:txBody>
          <a:bodyPr vert="horz" wrap="square" lIns="0" tIns="0" rIns="76200" bIns="0" rtlCol="0">
            <a:noAutofit/>
          </a:bodyPr>
          <a:lstStyle/>
          <a:p>
            <a:r>
              <a:rPr lang="en-IN" sz="2400" b="1">
                <a:solidFill>
                  <a:srgbClr val="171C22"/>
                </a:solidFill>
                <a:latin typeface="Arial" panose="020B0604020202020204" pitchFamily="34" charset="0"/>
              </a:rPr>
              <a:t>Unclear priority</a:t>
            </a:r>
          </a:p>
        </p:txBody>
      </p:sp>
      <p:sp>
        <p:nvSpPr>
          <p:cNvPr id="11" name="TextBox 10">
            <a:extLst>
              <a:ext uri="{FF2B5EF4-FFF2-40B4-BE49-F238E27FC236}">
                <a16:creationId xmlns:a16="http://schemas.microsoft.com/office/drawing/2014/main" id="{F497E6AD-CF59-7A75-8D19-04474F76236E}"/>
              </a:ext>
            </a:extLst>
          </p:cNvPr>
          <p:cNvSpPr txBox="1"/>
          <p:nvPr/>
        </p:nvSpPr>
        <p:spPr>
          <a:xfrm>
            <a:off x="4419600" y="3860799"/>
            <a:ext cx="3352800" cy="1549400"/>
          </a:xfrm>
          <a:prstGeom prst="rect">
            <a:avLst/>
          </a:prstGeom>
          <a:noFill/>
        </p:spPr>
        <p:txBody>
          <a:bodyPr vert="horz" wrap="square" lIns="0" tIns="0" rIns="76200" bIns="0" rtlCol="0">
            <a:noAutofit/>
          </a:bodyPr>
          <a:lstStyle/>
          <a:p>
            <a:r>
              <a:rPr lang="en-US">
                <a:solidFill>
                  <a:srgbClr val="59616B"/>
                </a:solidFill>
                <a:latin typeface="Arial" panose="020B0604020202020204" pitchFamily="34" charset="0"/>
              </a:rPr>
              <a:t>Separate reports make inspection and repair planning difficult.</a:t>
            </a:r>
            <a:endParaRPr lang="en-IN">
              <a:solidFill>
                <a:srgbClr val="59616B"/>
              </a:solidFill>
              <a:latin typeface="Arial" panose="020B0604020202020204" pitchFamily="34" charset="0"/>
            </a:endParaRPr>
          </a:p>
        </p:txBody>
      </p:sp>
      <p:sp>
        <p:nvSpPr>
          <p:cNvPr id="12" name="TextBox 11">
            <a:extLst>
              <a:ext uri="{FF2B5EF4-FFF2-40B4-BE49-F238E27FC236}">
                <a16:creationId xmlns:a16="http://schemas.microsoft.com/office/drawing/2014/main" id="{37481FFE-528B-D034-CB92-65C99A3A175F}"/>
              </a:ext>
            </a:extLst>
          </p:cNvPr>
          <p:cNvSpPr txBox="1"/>
          <p:nvPr/>
        </p:nvSpPr>
        <p:spPr>
          <a:xfrm>
            <a:off x="8229600" y="3022599"/>
            <a:ext cx="3352800" cy="762000"/>
          </a:xfrm>
          <a:prstGeom prst="rect">
            <a:avLst/>
          </a:prstGeom>
          <a:noFill/>
        </p:spPr>
        <p:txBody>
          <a:bodyPr vert="horz" wrap="square" lIns="0" tIns="0" rIns="76200" bIns="0" rtlCol="0">
            <a:noAutofit/>
          </a:bodyPr>
          <a:lstStyle/>
          <a:p>
            <a:r>
              <a:rPr lang="en-IN" sz="2400" b="1">
                <a:solidFill>
                  <a:srgbClr val="171C22"/>
                </a:solidFill>
                <a:latin typeface="Arial" panose="020B0604020202020204" pitchFamily="34" charset="0"/>
              </a:rPr>
              <a:t>Missing follow-up</a:t>
            </a:r>
          </a:p>
        </p:txBody>
      </p:sp>
      <p:sp>
        <p:nvSpPr>
          <p:cNvPr id="13" name="TextBox 12">
            <a:extLst>
              <a:ext uri="{FF2B5EF4-FFF2-40B4-BE49-F238E27FC236}">
                <a16:creationId xmlns:a16="http://schemas.microsoft.com/office/drawing/2014/main" id="{1108FD40-A947-1694-6D46-D95C7FD1DECD}"/>
              </a:ext>
            </a:extLst>
          </p:cNvPr>
          <p:cNvSpPr txBox="1"/>
          <p:nvPr/>
        </p:nvSpPr>
        <p:spPr>
          <a:xfrm>
            <a:off x="8229600" y="3860799"/>
            <a:ext cx="3352800" cy="1549400"/>
          </a:xfrm>
          <a:prstGeom prst="rect">
            <a:avLst/>
          </a:prstGeom>
          <a:noFill/>
        </p:spPr>
        <p:txBody>
          <a:bodyPr vert="horz" wrap="square" lIns="0" tIns="0" rIns="76200" bIns="0" rtlCol="0">
            <a:noAutofit/>
          </a:bodyPr>
          <a:lstStyle/>
          <a:p>
            <a:r>
              <a:rPr lang="en-US">
                <a:solidFill>
                  <a:srgbClr val="59616B"/>
                </a:solidFill>
                <a:latin typeface="Arial" panose="020B0604020202020204" pitchFamily="34" charset="0"/>
              </a:rPr>
              <a:t>Without a shared record, review, assignment and closure are hard to trace.</a:t>
            </a:r>
            <a:endParaRPr lang="en-IN">
              <a:solidFill>
                <a:srgbClr val="59616B"/>
              </a:solidFill>
              <a:latin typeface="Arial" panose="020B0604020202020204" pitchFamily="34" charset="0"/>
            </a:endParaRPr>
          </a:p>
        </p:txBody>
      </p:sp>
      <p:cxnSp>
        <p:nvCxnSpPr>
          <p:cNvPr id="14" name="Straight Connector 13">
            <a:extLst>
              <a:ext uri="{FF2B5EF4-FFF2-40B4-BE49-F238E27FC236}">
                <a16:creationId xmlns:a16="http://schemas.microsoft.com/office/drawing/2014/main" id="{13CEEC71-BDFE-9D42-6991-3AF8D2D50F69}"/>
              </a:ext>
            </a:extLst>
          </p:cNvPr>
          <p:cNvCxnSpPr/>
          <p:nvPr/>
        </p:nvCxnSpPr>
        <p:spPr>
          <a:xfrm>
            <a:off x="609600" y="5664200"/>
            <a:ext cx="10972800" cy="0"/>
          </a:xfrm>
          <a:prstGeom prst="line">
            <a:avLst/>
          </a:prstGeom>
          <a:ln w="12700">
            <a:solidFill>
              <a:srgbClr val="D4D9DD"/>
            </a:solidFill>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088F2386-528D-7436-AEAE-7E76E92654DF}"/>
              </a:ext>
            </a:extLst>
          </p:cNvPr>
          <p:cNvSpPr txBox="1"/>
          <p:nvPr/>
        </p:nvSpPr>
        <p:spPr>
          <a:xfrm>
            <a:off x="609600" y="5841999"/>
            <a:ext cx="10972800" cy="482600"/>
          </a:xfrm>
          <a:prstGeom prst="rect">
            <a:avLst/>
          </a:prstGeom>
          <a:noFill/>
        </p:spPr>
        <p:txBody>
          <a:bodyPr vert="horz" wrap="square" lIns="0" tIns="0" rIns="76200" bIns="0" rtlCol="0">
            <a:noAutofit/>
          </a:bodyPr>
          <a:lstStyle/>
          <a:p>
            <a:r>
              <a:rPr lang="en-US" sz="1600">
                <a:solidFill>
                  <a:srgbClr val="176CA4"/>
                </a:solidFill>
                <a:latin typeface="Arial" panose="020B0604020202020204" pitchFamily="34" charset="0"/>
              </a:rPr>
              <a:t>The project connects evidence, location, responsibility and repair status.</a:t>
            </a:r>
            <a:endParaRPr lang="en-IN" sz="1600">
              <a:solidFill>
                <a:srgbClr val="176CA4"/>
              </a:solidFill>
              <a:latin typeface="Arial" panose="020B0604020202020204" pitchFamily="34" charset="0"/>
            </a:endParaRPr>
          </a:p>
        </p:txBody>
      </p:sp>
    </p:spTree>
    <p:extLst>
      <p:ext uri="{BB962C8B-B14F-4D97-AF65-F5344CB8AC3E}">
        <p14:creationId xmlns:p14="http://schemas.microsoft.com/office/powerpoint/2010/main" val="3039145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D6954D1-8507-0A52-FAB4-4F9E38661968}"/>
              </a:ext>
            </a:extLst>
          </p:cNvPr>
          <p:cNvSpPr txBox="1"/>
          <p:nvPr/>
        </p:nvSpPr>
        <p:spPr>
          <a:xfrm>
            <a:off x="609600" y="330199"/>
            <a:ext cx="10414000" cy="279400"/>
          </a:xfrm>
          <a:prstGeom prst="rect">
            <a:avLst/>
          </a:prstGeom>
          <a:noFill/>
        </p:spPr>
        <p:txBody>
          <a:bodyPr vert="horz" wrap="square" lIns="0" tIns="0" rIns="76200" bIns="0" rtlCol="0">
            <a:noAutofit/>
          </a:bodyPr>
          <a:lstStyle/>
          <a:p>
            <a:r>
              <a:rPr lang="en-IN" sz="1200" b="1">
                <a:solidFill>
                  <a:srgbClr val="176CA4"/>
                </a:solidFill>
                <a:latin typeface="Arial" panose="020B0604020202020204" pitchFamily="34" charset="0"/>
              </a:rPr>
              <a:t>OBJECTIVES &amp; SCOPE</a:t>
            </a:r>
          </a:p>
        </p:txBody>
      </p:sp>
      <p:sp>
        <p:nvSpPr>
          <p:cNvPr id="3" name="TextBox 2">
            <a:extLst>
              <a:ext uri="{FF2B5EF4-FFF2-40B4-BE49-F238E27FC236}">
                <a16:creationId xmlns:a16="http://schemas.microsoft.com/office/drawing/2014/main" id="{2EADFC2A-760A-6F4B-15CD-788B0511BF6D}"/>
              </a:ext>
            </a:extLst>
          </p:cNvPr>
          <p:cNvSpPr txBox="1"/>
          <p:nvPr/>
        </p:nvSpPr>
        <p:spPr>
          <a:xfrm>
            <a:off x="609600" y="876299"/>
            <a:ext cx="10972800" cy="1130300"/>
          </a:xfrm>
          <a:prstGeom prst="rect">
            <a:avLst/>
          </a:prstGeom>
          <a:noFill/>
        </p:spPr>
        <p:txBody>
          <a:bodyPr vert="horz" wrap="square" lIns="0" tIns="0" rIns="76200" bIns="0" rtlCol="0">
            <a:noAutofit/>
          </a:bodyPr>
          <a:lstStyle/>
          <a:p>
            <a:r>
              <a:rPr lang="en-US" sz="3500" b="1">
                <a:solidFill>
                  <a:srgbClr val="171C22"/>
                </a:solidFill>
                <a:latin typeface="Arial" panose="020B0604020202020204" pitchFamily="34" charset="0"/>
              </a:rPr>
              <a:t>Four objectives guide the prototype</a:t>
            </a:r>
            <a:endParaRPr lang="en-IN" sz="3500" b="1">
              <a:solidFill>
                <a:srgbClr val="171C22"/>
              </a:solidFill>
              <a:latin typeface="Arial" panose="020B0604020202020204" pitchFamily="34" charset="0"/>
            </a:endParaRPr>
          </a:p>
        </p:txBody>
      </p:sp>
      <p:cxnSp>
        <p:nvCxnSpPr>
          <p:cNvPr id="4" name="Straight Connector 3">
            <a:extLst>
              <a:ext uri="{FF2B5EF4-FFF2-40B4-BE49-F238E27FC236}">
                <a16:creationId xmlns:a16="http://schemas.microsoft.com/office/drawing/2014/main" id="{DF6F3362-FB14-063F-8321-BBC95767BB54}"/>
              </a:ext>
            </a:extLst>
          </p:cNvPr>
          <p:cNvCxnSpPr/>
          <p:nvPr/>
        </p:nvCxnSpPr>
        <p:spPr>
          <a:xfrm>
            <a:off x="609600" y="6362700"/>
            <a:ext cx="10972800" cy="0"/>
          </a:xfrm>
          <a:prstGeom prst="line">
            <a:avLst/>
          </a:prstGeom>
          <a:ln w="12700">
            <a:solidFill>
              <a:srgbClr val="D4D9DD"/>
            </a:solidFill>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423DA99C-7B6D-083F-FE1E-3D8A9B3D3B41}"/>
              </a:ext>
            </a:extLst>
          </p:cNvPr>
          <p:cNvSpPr txBox="1"/>
          <p:nvPr/>
        </p:nvSpPr>
        <p:spPr>
          <a:xfrm>
            <a:off x="609600" y="6477000"/>
            <a:ext cx="8890000" cy="228600"/>
          </a:xfrm>
          <a:prstGeom prst="rect">
            <a:avLst/>
          </a:prstGeom>
          <a:noFill/>
        </p:spPr>
        <p:txBody>
          <a:bodyPr vert="horz" wrap="square" lIns="0" tIns="0" rIns="76200" bIns="0" rtlCol="0">
            <a:noAutofit/>
          </a:bodyPr>
          <a:lstStyle/>
          <a:p>
            <a:r>
              <a:rPr lang="en-IN" sz="1000">
                <a:solidFill>
                  <a:srgbClr val="59616B"/>
                </a:solidFill>
                <a:latin typeface="Arial" panose="020B0604020202020204" pitchFamily="34" charset="0"/>
              </a:rPr>
              <a:t>ROAD DAMAGE DETECTION  /  GECB</a:t>
            </a:r>
          </a:p>
        </p:txBody>
      </p:sp>
      <p:sp>
        <p:nvSpPr>
          <p:cNvPr id="6" name="TextBox 5">
            <a:extLst>
              <a:ext uri="{FF2B5EF4-FFF2-40B4-BE49-F238E27FC236}">
                <a16:creationId xmlns:a16="http://schemas.microsoft.com/office/drawing/2014/main" id="{699C8750-66C2-1112-3F8E-3ECF3A2D94D9}"/>
              </a:ext>
            </a:extLst>
          </p:cNvPr>
          <p:cNvSpPr txBox="1"/>
          <p:nvPr/>
        </p:nvSpPr>
        <p:spPr>
          <a:xfrm>
            <a:off x="10617200" y="6477000"/>
            <a:ext cx="965200" cy="228600"/>
          </a:xfrm>
          <a:prstGeom prst="rect">
            <a:avLst/>
          </a:prstGeom>
          <a:noFill/>
        </p:spPr>
        <p:txBody>
          <a:bodyPr vert="horz" wrap="square" lIns="0" tIns="0" rIns="76200" bIns="0" rtlCol="0">
            <a:noAutofit/>
          </a:bodyPr>
          <a:lstStyle/>
          <a:p>
            <a:pPr algn="r"/>
            <a:r>
              <a:rPr lang="en-IN" sz="1000">
                <a:solidFill>
                  <a:srgbClr val="59616B"/>
                </a:solidFill>
                <a:latin typeface="Arial" panose="020B0604020202020204" pitchFamily="34" charset="0"/>
              </a:rPr>
              <a:t>03 / 12</a:t>
            </a:r>
          </a:p>
        </p:txBody>
      </p:sp>
      <p:sp>
        <p:nvSpPr>
          <p:cNvPr id="7" name="TextBox 6">
            <a:extLst>
              <a:ext uri="{FF2B5EF4-FFF2-40B4-BE49-F238E27FC236}">
                <a16:creationId xmlns:a16="http://schemas.microsoft.com/office/drawing/2014/main" id="{22626018-D5D6-B340-1FC6-D7255E5EF5DF}"/>
              </a:ext>
            </a:extLst>
          </p:cNvPr>
          <p:cNvSpPr txBox="1"/>
          <p:nvPr/>
        </p:nvSpPr>
        <p:spPr>
          <a:xfrm>
            <a:off x="609600" y="2108199"/>
            <a:ext cx="609600" cy="457200"/>
          </a:xfrm>
          <a:prstGeom prst="rect">
            <a:avLst/>
          </a:prstGeom>
          <a:noFill/>
        </p:spPr>
        <p:txBody>
          <a:bodyPr vert="horz" wrap="square" lIns="0" tIns="0" rIns="76200" bIns="0" rtlCol="0">
            <a:noAutofit/>
          </a:bodyPr>
          <a:lstStyle/>
          <a:p>
            <a:r>
              <a:rPr lang="en-IN" sz="2400" b="1">
                <a:solidFill>
                  <a:srgbClr val="176CA4"/>
                </a:solidFill>
                <a:latin typeface="Arial" panose="020B0604020202020204" pitchFamily="34" charset="0"/>
              </a:rPr>
              <a:t>01</a:t>
            </a:r>
          </a:p>
        </p:txBody>
      </p:sp>
      <p:sp>
        <p:nvSpPr>
          <p:cNvPr id="8" name="TextBox 7">
            <a:extLst>
              <a:ext uri="{FF2B5EF4-FFF2-40B4-BE49-F238E27FC236}">
                <a16:creationId xmlns:a16="http://schemas.microsoft.com/office/drawing/2014/main" id="{2AF85851-BACD-1089-8D2A-F7CB0407BBE9}"/>
              </a:ext>
            </a:extLst>
          </p:cNvPr>
          <p:cNvSpPr txBox="1"/>
          <p:nvPr/>
        </p:nvSpPr>
        <p:spPr>
          <a:xfrm>
            <a:off x="1409700" y="2108199"/>
            <a:ext cx="3759200" cy="444500"/>
          </a:xfrm>
          <a:prstGeom prst="rect">
            <a:avLst/>
          </a:prstGeom>
          <a:noFill/>
        </p:spPr>
        <p:txBody>
          <a:bodyPr vert="horz" wrap="square" lIns="0" tIns="0" rIns="76200" bIns="0" rtlCol="0">
            <a:noAutofit/>
          </a:bodyPr>
          <a:lstStyle/>
          <a:p>
            <a:r>
              <a:rPr lang="en-IN" sz="2400" b="1">
                <a:solidFill>
                  <a:srgbClr val="171C22"/>
                </a:solidFill>
                <a:latin typeface="Arial" panose="020B0604020202020204" pitchFamily="34" charset="0"/>
              </a:rPr>
              <a:t>Detect and locate</a:t>
            </a:r>
          </a:p>
        </p:txBody>
      </p:sp>
      <p:sp>
        <p:nvSpPr>
          <p:cNvPr id="9" name="TextBox 8">
            <a:extLst>
              <a:ext uri="{FF2B5EF4-FFF2-40B4-BE49-F238E27FC236}">
                <a16:creationId xmlns:a16="http://schemas.microsoft.com/office/drawing/2014/main" id="{4A1B1A3B-CB9C-7DD5-FC60-09756058A6DC}"/>
              </a:ext>
            </a:extLst>
          </p:cNvPr>
          <p:cNvSpPr txBox="1"/>
          <p:nvPr/>
        </p:nvSpPr>
        <p:spPr>
          <a:xfrm>
            <a:off x="5397500" y="2120899"/>
            <a:ext cx="6184900" cy="711200"/>
          </a:xfrm>
          <a:prstGeom prst="rect">
            <a:avLst/>
          </a:prstGeom>
          <a:noFill/>
        </p:spPr>
        <p:txBody>
          <a:bodyPr vert="horz" wrap="square" lIns="0" tIns="0" rIns="76200" bIns="0" rtlCol="0">
            <a:noAutofit/>
          </a:bodyPr>
          <a:lstStyle/>
          <a:p>
            <a:r>
              <a:rPr lang="en-US">
                <a:solidFill>
                  <a:srgbClr val="59616B"/>
                </a:solidFill>
                <a:latin typeface="Arial" panose="020B0604020202020204" pitchFamily="34" charset="0"/>
              </a:rPr>
              <a:t>Identify supported defects in images or sampled video frames; attach GPS and capture time.</a:t>
            </a:r>
            <a:endParaRPr lang="en-IN">
              <a:solidFill>
                <a:srgbClr val="59616B"/>
              </a:solidFill>
              <a:latin typeface="Arial" panose="020B0604020202020204" pitchFamily="34" charset="0"/>
            </a:endParaRPr>
          </a:p>
        </p:txBody>
      </p:sp>
      <p:cxnSp>
        <p:nvCxnSpPr>
          <p:cNvPr id="10" name="Straight Connector 9">
            <a:extLst>
              <a:ext uri="{FF2B5EF4-FFF2-40B4-BE49-F238E27FC236}">
                <a16:creationId xmlns:a16="http://schemas.microsoft.com/office/drawing/2014/main" id="{9B39751C-00E9-E6C3-8B22-90838C86BECF}"/>
              </a:ext>
            </a:extLst>
          </p:cNvPr>
          <p:cNvCxnSpPr/>
          <p:nvPr/>
        </p:nvCxnSpPr>
        <p:spPr>
          <a:xfrm>
            <a:off x="1409700" y="2832100"/>
            <a:ext cx="10172700" cy="0"/>
          </a:xfrm>
          <a:prstGeom prst="line">
            <a:avLst/>
          </a:prstGeom>
          <a:ln w="12700">
            <a:solidFill>
              <a:srgbClr val="D4D9DD"/>
            </a:solidFill>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471746DF-0C4B-D43C-87B3-232FD5F1E5EB}"/>
              </a:ext>
            </a:extLst>
          </p:cNvPr>
          <p:cNvSpPr txBox="1"/>
          <p:nvPr/>
        </p:nvSpPr>
        <p:spPr>
          <a:xfrm>
            <a:off x="609600" y="2959099"/>
            <a:ext cx="609600" cy="457200"/>
          </a:xfrm>
          <a:prstGeom prst="rect">
            <a:avLst/>
          </a:prstGeom>
          <a:noFill/>
        </p:spPr>
        <p:txBody>
          <a:bodyPr vert="horz" wrap="square" lIns="0" tIns="0" rIns="76200" bIns="0" rtlCol="0">
            <a:noAutofit/>
          </a:bodyPr>
          <a:lstStyle/>
          <a:p>
            <a:r>
              <a:rPr lang="en-IN" sz="2400" b="1">
                <a:solidFill>
                  <a:srgbClr val="176CA4"/>
                </a:solidFill>
                <a:latin typeface="Arial" panose="020B0604020202020204" pitchFamily="34" charset="0"/>
              </a:rPr>
              <a:t>02</a:t>
            </a:r>
          </a:p>
        </p:txBody>
      </p:sp>
      <p:sp>
        <p:nvSpPr>
          <p:cNvPr id="12" name="TextBox 11">
            <a:extLst>
              <a:ext uri="{FF2B5EF4-FFF2-40B4-BE49-F238E27FC236}">
                <a16:creationId xmlns:a16="http://schemas.microsoft.com/office/drawing/2014/main" id="{61949A68-FDE5-060E-E4F9-585F094AD20B}"/>
              </a:ext>
            </a:extLst>
          </p:cNvPr>
          <p:cNvSpPr txBox="1"/>
          <p:nvPr/>
        </p:nvSpPr>
        <p:spPr>
          <a:xfrm>
            <a:off x="1409700" y="2959099"/>
            <a:ext cx="3759200" cy="444500"/>
          </a:xfrm>
          <a:prstGeom prst="rect">
            <a:avLst/>
          </a:prstGeom>
          <a:noFill/>
        </p:spPr>
        <p:txBody>
          <a:bodyPr vert="horz" wrap="square" lIns="0" tIns="0" rIns="76200" bIns="0" rtlCol="0">
            <a:noAutofit/>
          </a:bodyPr>
          <a:lstStyle/>
          <a:p>
            <a:r>
              <a:rPr lang="en-IN" sz="2400" b="1">
                <a:solidFill>
                  <a:srgbClr val="171C22"/>
                </a:solidFill>
                <a:latin typeface="Arial" panose="020B0604020202020204" pitchFamily="34" charset="0"/>
              </a:rPr>
              <a:t>Prioritize inspections</a:t>
            </a:r>
          </a:p>
        </p:txBody>
      </p:sp>
      <p:sp>
        <p:nvSpPr>
          <p:cNvPr id="13" name="TextBox 12">
            <a:extLst>
              <a:ext uri="{FF2B5EF4-FFF2-40B4-BE49-F238E27FC236}">
                <a16:creationId xmlns:a16="http://schemas.microsoft.com/office/drawing/2014/main" id="{B43FE4BE-2389-ED6B-DA00-DFBDF8D6630B}"/>
              </a:ext>
            </a:extLst>
          </p:cNvPr>
          <p:cNvSpPr txBox="1"/>
          <p:nvPr/>
        </p:nvSpPr>
        <p:spPr>
          <a:xfrm>
            <a:off x="5397500" y="2971799"/>
            <a:ext cx="6184900" cy="711200"/>
          </a:xfrm>
          <a:prstGeom prst="rect">
            <a:avLst/>
          </a:prstGeom>
          <a:noFill/>
        </p:spPr>
        <p:txBody>
          <a:bodyPr vert="horz" wrap="square" lIns="0" tIns="0" rIns="76200" bIns="0" rtlCol="0">
            <a:noAutofit/>
          </a:bodyPr>
          <a:lstStyle/>
          <a:p>
            <a:r>
              <a:rPr lang="en-US">
                <a:solidFill>
                  <a:srgbClr val="59616B"/>
                </a:solidFill>
                <a:latin typeface="Arial" panose="020B0604020202020204" pitchFamily="34" charset="0"/>
              </a:rPr>
              <a:t>Estimate visible severity and explain why a case needs attention.</a:t>
            </a:r>
            <a:endParaRPr lang="en-IN">
              <a:solidFill>
                <a:srgbClr val="59616B"/>
              </a:solidFill>
              <a:latin typeface="Arial" panose="020B0604020202020204" pitchFamily="34" charset="0"/>
            </a:endParaRPr>
          </a:p>
        </p:txBody>
      </p:sp>
      <p:cxnSp>
        <p:nvCxnSpPr>
          <p:cNvPr id="14" name="Straight Connector 13">
            <a:extLst>
              <a:ext uri="{FF2B5EF4-FFF2-40B4-BE49-F238E27FC236}">
                <a16:creationId xmlns:a16="http://schemas.microsoft.com/office/drawing/2014/main" id="{3A28F954-3623-5226-30A0-BD2945BD7C81}"/>
              </a:ext>
            </a:extLst>
          </p:cNvPr>
          <p:cNvCxnSpPr/>
          <p:nvPr/>
        </p:nvCxnSpPr>
        <p:spPr>
          <a:xfrm>
            <a:off x="1409700" y="3683000"/>
            <a:ext cx="10172700" cy="0"/>
          </a:xfrm>
          <a:prstGeom prst="line">
            <a:avLst/>
          </a:prstGeom>
          <a:ln w="12700">
            <a:solidFill>
              <a:srgbClr val="D4D9DD"/>
            </a:solidFill>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E37CB386-394E-30F7-5315-A550C029C574}"/>
              </a:ext>
            </a:extLst>
          </p:cNvPr>
          <p:cNvSpPr txBox="1"/>
          <p:nvPr/>
        </p:nvSpPr>
        <p:spPr>
          <a:xfrm>
            <a:off x="609600" y="3809999"/>
            <a:ext cx="609600" cy="457200"/>
          </a:xfrm>
          <a:prstGeom prst="rect">
            <a:avLst/>
          </a:prstGeom>
          <a:noFill/>
        </p:spPr>
        <p:txBody>
          <a:bodyPr vert="horz" wrap="square" lIns="0" tIns="0" rIns="76200" bIns="0" rtlCol="0">
            <a:noAutofit/>
          </a:bodyPr>
          <a:lstStyle/>
          <a:p>
            <a:r>
              <a:rPr lang="en-IN" sz="2400" b="1">
                <a:solidFill>
                  <a:srgbClr val="176CA4"/>
                </a:solidFill>
                <a:latin typeface="Arial" panose="020B0604020202020204" pitchFamily="34" charset="0"/>
              </a:rPr>
              <a:t>03</a:t>
            </a:r>
          </a:p>
        </p:txBody>
      </p:sp>
      <p:sp>
        <p:nvSpPr>
          <p:cNvPr id="16" name="TextBox 15">
            <a:extLst>
              <a:ext uri="{FF2B5EF4-FFF2-40B4-BE49-F238E27FC236}">
                <a16:creationId xmlns:a16="http://schemas.microsoft.com/office/drawing/2014/main" id="{FE67A669-C07E-906C-A4D6-73C50B31AFD7}"/>
              </a:ext>
            </a:extLst>
          </p:cNvPr>
          <p:cNvSpPr txBox="1"/>
          <p:nvPr/>
        </p:nvSpPr>
        <p:spPr>
          <a:xfrm>
            <a:off x="1409700" y="3809999"/>
            <a:ext cx="3759200" cy="444500"/>
          </a:xfrm>
          <a:prstGeom prst="rect">
            <a:avLst/>
          </a:prstGeom>
          <a:noFill/>
        </p:spPr>
        <p:txBody>
          <a:bodyPr vert="horz" wrap="square" lIns="0" tIns="0" rIns="76200" bIns="0" rtlCol="0">
            <a:noAutofit/>
          </a:bodyPr>
          <a:lstStyle/>
          <a:p>
            <a:r>
              <a:rPr lang="en-IN" sz="2400" b="1">
                <a:solidFill>
                  <a:srgbClr val="171C22"/>
                </a:solidFill>
                <a:latin typeface="Arial" panose="020B0604020202020204" pitchFamily="34" charset="0"/>
              </a:rPr>
              <a:t>Coordinate repairs</a:t>
            </a:r>
          </a:p>
        </p:txBody>
      </p:sp>
      <p:sp>
        <p:nvSpPr>
          <p:cNvPr id="17" name="TextBox 16">
            <a:extLst>
              <a:ext uri="{FF2B5EF4-FFF2-40B4-BE49-F238E27FC236}">
                <a16:creationId xmlns:a16="http://schemas.microsoft.com/office/drawing/2014/main" id="{BCD3590A-732F-7666-D5A6-A1E9C5E1E893}"/>
              </a:ext>
            </a:extLst>
          </p:cNvPr>
          <p:cNvSpPr txBox="1"/>
          <p:nvPr/>
        </p:nvSpPr>
        <p:spPr>
          <a:xfrm>
            <a:off x="5397500" y="3822699"/>
            <a:ext cx="6184900" cy="711200"/>
          </a:xfrm>
          <a:prstGeom prst="rect">
            <a:avLst/>
          </a:prstGeom>
          <a:noFill/>
        </p:spPr>
        <p:txBody>
          <a:bodyPr vert="horz" wrap="square" lIns="0" tIns="0" rIns="76200" bIns="0" rtlCol="0">
            <a:noAutofit/>
          </a:bodyPr>
          <a:lstStyle/>
          <a:p>
            <a:r>
              <a:rPr lang="en-US">
                <a:solidFill>
                  <a:srgbClr val="59616B"/>
                </a:solidFill>
                <a:latin typeface="Arial" panose="020B0604020202020204" pitchFamily="34" charset="0"/>
              </a:rPr>
              <a:t>Support officer review, team assignment and verified closure.</a:t>
            </a:r>
            <a:endParaRPr lang="en-IN">
              <a:solidFill>
                <a:srgbClr val="59616B"/>
              </a:solidFill>
              <a:latin typeface="Arial" panose="020B0604020202020204" pitchFamily="34" charset="0"/>
            </a:endParaRPr>
          </a:p>
        </p:txBody>
      </p:sp>
      <p:cxnSp>
        <p:nvCxnSpPr>
          <p:cNvPr id="18" name="Straight Connector 17">
            <a:extLst>
              <a:ext uri="{FF2B5EF4-FFF2-40B4-BE49-F238E27FC236}">
                <a16:creationId xmlns:a16="http://schemas.microsoft.com/office/drawing/2014/main" id="{A22C56BD-0D71-90E1-E74D-D8C47D37A1DA}"/>
              </a:ext>
            </a:extLst>
          </p:cNvPr>
          <p:cNvCxnSpPr/>
          <p:nvPr/>
        </p:nvCxnSpPr>
        <p:spPr>
          <a:xfrm>
            <a:off x="1409700" y="4533900"/>
            <a:ext cx="10172700" cy="0"/>
          </a:xfrm>
          <a:prstGeom prst="line">
            <a:avLst/>
          </a:prstGeom>
          <a:ln w="12700">
            <a:solidFill>
              <a:srgbClr val="D4D9DD"/>
            </a:solidFill>
          </a:ln>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723C2F81-06B5-C79B-D00B-124B7D4C3DB8}"/>
              </a:ext>
            </a:extLst>
          </p:cNvPr>
          <p:cNvSpPr txBox="1"/>
          <p:nvPr/>
        </p:nvSpPr>
        <p:spPr>
          <a:xfrm>
            <a:off x="609600" y="4660899"/>
            <a:ext cx="609600" cy="457200"/>
          </a:xfrm>
          <a:prstGeom prst="rect">
            <a:avLst/>
          </a:prstGeom>
          <a:noFill/>
        </p:spPr>
        <p:txBody>
          <a:bodyPr vert="horz" wrap="square" lIns="0" tIns="0" rIns="76200" bIns="0" rtlCol="0">
            <a:noAutofit/>
          </a:bodyPr>
          <a:lstStyle/>
          <a:p>
            <a:r>
              <a:rPr lang="en-IN" sz="2400" b="1">
                <a:solidFill>
                  <a:srgbClr val="176CA4"/>
                </a:solidFill>
                <a:latin typeface="Arial" panose="020B0604020202020204" pitchFamily="34" charset="0"/>
              </a:rPr>
              <a:t>04</a:t>
            </a:r>
          </a:p>
        </p:txBody>
      </p:sp>
      <p:sp>
        <p:nvSpPr>
          <p:cNvPr id="20" name="TextBox 19">
            <a:extLst>
              <a:ext uri="{FF2B5EF4-FFF2-40B4-BE49-F238E27FC236}">
                <a16:creationId xmlns:a16="http://schemas.microsoft.com/office/drawing/2014/main" id="{1DF3F2B2-9D0C-AB19-7AB4-35C0ABCD775C}"/>
              </a:ext>
            </a:extLst>
          </p:cNvPr>
          <p:cNvSpPr txBox="1"/>
          <p:nvPr/>
        </p:nvSpPr>
        <p:spPr>
          <a:xfrm>
            <a:off x="1409700" y="4660899"/>
            <a:ext cx="3759200" cy="444500"/>
          </a:xfrm>
          <a:prstGeom prst="rect">
            <a:avLst/>
          </a:prstGeom>
          <a:noFill/>
        </p:spPr>
        <p:txBody>
          <a:bodyPr vert="horz" wrap="square" lIns="0" tIns="0" rIns="76200" bIns="0" rtlCol="0">
            <a:noAutofit/>
          </a:bodyPr>
          <a:lstStyle/>
          <a:p>
            <a:r>
              <a:rPr lang="en-IN" sz="2400" b="1">
                <a:solidFill>
                  <a:srgbClr val="171C22"/>
                </a:solidFill>
                <a:latin typeface="Arial" panose="020B0604020202020204" pitchFamily="34" charset="0"/>
              </a:rPr>
              <a:t>Preserve road history</a:t>
            </a:r>
          </a:p>
        </p:txBody>
      </p:sp>
      <p:sp>
        <p:nvSpPr>
          <p:cNvPr id="21" name="TextBox 20">
            <a:extLst>
              <a:ext uri="{FF2B5EF4-FFF2-40B4-BE49-F238E27FC236}">
                <a16:creationId xmlns:a16="http://schemas.microsoft.com/office/drawing/2014/main" id="{6A8E2AC0-F5F5-62EC-EF18-8E176353C8E0}"/>
              </a:ext>
            </a:extLst>
          </p:cNvPr>
          <p:cNvSpPr txBox="1"/>
          <p:nvPr/>
        </p:nvSpPr>
        <p:spPr>
          <a:xfrm>
            <a:off x="5397500" y="4673599"/>
            <a:ext cx="6184900" cy="711200"/>
          </a:xfrm>
          <a:prstGeom prst="rect">
            <a:avLst/>
          </a:prstGeom>
          <a:noFill/>
        </p:spPr>
        <p:txBody>
          <a:bodyPr vert="horz" wrap="square" lIns="0" tIns="0" rIns="76200" bIns="0" rtlCol="0">
            <a:noAutofit/>
          </a:bodyPr>
          <a:lstStyle/>
          <a:p>
            <a:r>
              <a:rPr lang="en-US">
                <a:solidFill>
                  <a:srgbClr val="59616B"/>
                </a:solidFill>
                <a:latin typeface="Arial" panose="020B0604020202020204" pitchFamily="34" charset="0"/>
              </a:rPr>
              <a:t>Retain observations, decisions and repair evidence for future monitoring.</a:t>
            </a:r>
            <a:endParaRPr lang="en-IN">
              <a:solidFill>
                <a:srgbClr val="59616B"/>
              </a:solidFill>
              <a:latin typeface="Arial" panose="020B0604020202020204" pitchFamily="34" charset="0"/>
            </a:endParaRPr>
          </a:p>
        </p:txBody>
      </p:sp>
      <p:cxnSp>
        <p:nvCxnSpPr>
          <p:cNvPr id="22" name="Straight Connector 21">
            <a:extLst>
              <a:ext uri="{FF2B5EF4-FFF2-40B4-BE49-F238E27FC236}">
                <a16:creationId xmlns:a16="http://schemas.microsoft.com/office/drawing/2014/main" id="{A4E5A83A-CF3E-1D56-625D-2CD2FA003584}"/>
              </a:ext>
            </a:extLst>
          </p:cNvPr>
          <p:cNvCxnSpPr/>
          <p:nvPr/>
        </p:nvCxnSpPr>
        <p:spPr>
          <a:xfrm>
            <a:off x="609600" y="5664200"/>
            <a:ext cx="10972800" cy="0"/>
          </a:xfrm>
          <a:prstGeom prst="line">
            <a:avLst/>
          </a:prstGeom>
          <a:ln w="12700">
            <a:solidFill>
              <a:srgbClr val="D4D9DD"/>
            </a:solidFill>
          </a:ln>
        </p:spPr>
        <p:style>
          <a:lnRef idx="2">
            <a:schemeClr val="accent1"/>
          </a:lnRef>
          <a:fillRef idx="0">
            <a:schemeClr val="accent1"/>
          </a:fillRef>
          <a:effectRef idx="1">
            <a:schemeClr val="accent1"/>
          </a:effectRef>
          <a:fontRef idx="minor">
            <a:schemeClr val="tx1"/>
          </a:fontRef>
        </p:style>
      </p:cxnSp>
      <p:sp>
        <p:nvSpPr>
          <p:cNvPr id="23" name="TextBox 22">
            <a:extLst>
              <a:ext uri="{FF2B5EF4-FFF2-40B4-BE49-F238E27FC236}">
                <a16:creationId xmlns:a16="http://schemas.microsoft.com/office/drawing/2014/main" id="{CC5FB971-DBB0-60FD-FB72-8429D1B65597}"/>
              </a:ext>
            </a:extLst>
          </p:cNvPr>
          <p:cNvSpPr txBox="1"/>
          <p:nvPr/>
        </p:nvSpPr>
        <p:spPr>
          <a:xfrm>
            <a:off x="609600" y="5841999"/>
            <a:ext cx="10972800" cy="482600"/>
          </a:xfrm>
          <a:prstGeom prst="rect">
            <a:avLst/>
          </a:prstGeom>
          <a:noFill/>
        </p:spPr>
        <p:txBody>
          <a:bodyPr vert="horz" wrap="square" lIns="0" tIns="0" rIns="76200" bIns="0" rtlCol="0">
            <a:noAutofit/>
          </a:bodyPr>
          <a:lstStyle/>
          <a:p>
            <a:r>
              <a:rPr lang="en-US" sz="1600">
                <a:solidFill>
                  <a:srgbClr val="176CA4"/>
                </a:solidFill>
                <a:latin typeface="Arial" panose="020B0604020202020204" pitchFamily="34" charset="0"/>
              </a:rPr>
              <a:t>Initial scope: a defined road network, image uploads and batch video analysis.</a:t>
            </a:r>
            <a:endParaRPr lang="en-IN" sz="1600">
              <a:solidFill>
                <a:srgbClr val="176CA4"/>
              </a:solidFill>
              <a:latin typeface="Arial" panose="020B0604020202020204" pitchFamily="34" charset="0"/>
            </a:endParaRPr>
          </a:p>
        </p:txBody>
      </p:sp>
    </p:spTree>
    <p:extLst>
      <p:ext uri="{BB962C8B-B14F-4D97-AF65-F5344CB8AC3E}">
        <p14:creationId xmlns:p14="http://schemas.microsoft.com/office/powerpoint/2010/main" val="19802263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09212C9-D5E4-7A6E-034A-FDA130546CC7}"/>
              </a:ext>
            </a:extLst>
          </p:cNvPr>
          <p:cNvSpPr txBox="1"/>
          <p:nvPr/>
        </p:nvSpPr>
        <p:spPr>
          <a:xfrm>
            <a:off x="609600" y="330199"/>
            <a:ext cx="10414000" cy="279400"/>
          </a:xfrm>
          <a:prstGeom prst="rect">
            <a:avLst/>
          </a:prstGeom>
          <a:noFill/>
        </p:spPr>
        <p:txBody>
          <a:bodyPr vert="horz" wrap="square" lIns="0" tIns="0" rIns="76200" bIns="0" rtlCol="0">
            <a:noAutofit/>
          </a:bodyPr>
          <a:lstStyle/>
          <a:p>
            <a:r>
              <a:rPr lang="en-IN" sz="1200" b="1">
                <a:solidFill>
                  <a:srgbClr val="176CA4"/>
                </a:solidFill>
                <a:latin typeface="Arial" panose="020B0604020202020204" pitchFamily="34" charset="0"/>
              </a:rPr>
              <a:t>LITERATURE &amp; PROJECT FOCUS</a:t>
            </a:r>
          </a:p>
        </p:txBody>
      </p:sp>
      <p:sp>
        <p:nvSpPr>
          <p:cNvPr id="3" name="TextBox 2">
            <a:extLst>
              <a:ext uri="{FF2B5EF4-FFF2-40B4-BE49-F238E27FC236}">
                <a16:creationId xmlns:a16="http://schemas.microsoft.com/office/drawing/2014/main" id="{FC4423F7-0C33-DDDC-5005-70E43616CD19}"/>
              </a:ext>
            </a:extLst>
          </p:cNvPr>
          <p:cNvSpPr txBox="1"/>
          <p:nvPr/>
        </p:nvSpPr>
        <p:spPr>
          <a:xfrm>
            <a:off x="609600" y="876299"/>
            <a:ext cx="10972800" cy="1130300"/>
          </a:xfrm>
          <a:prstGeom prst="rect">
            <a:avLst/>
          </a:prstGeom>
          <a:noFill/>
        </p:spPr>
        <p:txBody>
          <a:bodyPr vert="horz" wrap="square" lIns="0" tIns="0" rIns="76200" bIns="0" rtlCol="0">
            <a:noAutofit/>
          </a:bodyPr>
          <a:lstStyle/>
          <a:p>
            <a:r>
              <a:rPr lang="en-US" sz="3500" b="1">
                <a:solidFill>
                  <a:srgbClr val="171C22"/>
                </a:solidFill>
                <a:latin typeface="Arial" panose="020B0604020202020204" pitchFamily="34" charset="0"/>
              </a:rPr>
              <a:t>Existing research supports the design</a:t>
            </a:r>
            <a:endParaRPr lang="en-IN" sz="3500" b="1">
              <a:solidFill>
                <a:srgbClr val="171C22"/>
              </a:solidFill>
              <a:latin typeface="Arial" panose="020B0604020202020204" pitchFamily="34" charset="0"/>
            </a:endParaRPr>
          </a:p>
        </p:txBody>
      </p:sp>
      <p:cxnSp>
        <p:nvCxnSpPr>
          <p:cNvPr id="4" name="Straight Connector 3">
            <a:extLst>
              <a:ext uri="{FF2B5EF4-FFF2-40B4-BE49-F238E27FC236}">
                <a16:creationId xmlns:a16="http://schemas.microsoft.com/office/drawing/2014/main" id="{F5CDC5A1-AF1B-9B9C-FDD6-6AFEF162E2F4}"/>
              </a:ext>
            </a:extLst>
          </p:cNvPr>
          <p:cNvCxnSpPr/>
          <p:nvPr/>
        </p:nvCxnSpPr>
        <p:spPr>
          <a:xfrm>
            <a:off x="609600" y="6362700"/>
            <a:ext cx="10972800" cy="0"/>
          </a:xfrm>
          <a:prstGeom prst="line">
            <a:avLst/>
          </a:prstGeom>
          <a:ln w="12700">
            <a:solidFill>
              <a:srgbClr val="D4D9DD"/>
            </a:solidFill>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24818187-4FEC-9127-F44E-3D3901A21E5A}"/>
              </a:ext>
            </a:extLst>
          </p:cNvPr>
          <p:cNvSpPr txBox="1"/>
          <p:nvPr/>
        </p:nvSpPr>
        <p:spPr>
          <a:xfrm>
            <a:off x="609600" y="6477000"/>
            <a:ext cx="8890000" cy="228600"/>
          </a:xfrm>
          <a:prstGeom prst="rect">
            <a:avLst/>
          </a:prstGeom>
          <a:noFill/>
        </p:spPr>
        <p:txBody>
          <a:bodyPr vert="horz" wrap="square" lIns="0" tIns="0" rIns="76200" bIns="0" rtlCol="0">
            <a:noAutofit/>
          </a:bodyPr>
          <a:lstStyle/>
          <a:p>
            <a:r>
              <a:rPr lang="en-IN" sz="1000">
                <a:solidFill>
                  <a:srgbClr val="59616B"/>
                </a:solidFill>
                <a:latin typeface="Arial" panose="020B0604020202020204" pitchFamily="34" charset="0"/>
              </a:rPr>
              <a:t>ROAD DAMAGE DETECTION  /  GECB</a:t>
            </a:r>
          </a:p>
        </p:txBody>
      </p:sp>
      <p:sp>
        <p:nvSpPr>
          <p:cNvPr id="6" name="TextBox 5">
            <a:extLst>
              <a:ext uri="{FF2B5EF4-FFF2-40B4-BE49-F238E27FC236}">
                <a16:creationId xmlns:a16="http://schemas.microsoft.com/office/drawing/2014/main" id="{E6CB0823-1FCA-99BA-60E1-95DA67A207AD}"/>
              </a:ext>
            </a:extLst>
          </p:cNvPr>
          <p:cNvSpPr txBox="1"/>
          <p:nvPr/>
        </p:nvSpPr>
        <p:spPr>
          <a:xfrm>
            <a:off x="10617200" y="6477000"/>
            <a:ext cx="965200" cy="228600"/>
          </a:xfrm>
          <a:prstGeom prst="rect">
            <a:avLst/>
          </a:prstGeom>
          <a:noFill/>
        </p:spPr>
        <p:txBody>
          <a:bodyPr vert="horz" wrap="square" lIns="0" tIns="0" rIns="76200" bIns="0" rtlCol="0">
            <a:noAutofit/>
          </a:bodyPr>
          <a:lstStyle/>
          <a:p>
            <a:pPr algn="r"/>
            <a:r>
              <a:rPr lang="en-IN" sz="1000">
                <a:solidFill>
                  <a:srgbClr val="59616B"/>
                </a:solidFill>
                <a:latin typeface="Arial" panose="020B0604020202020204" pitchFamily="34" charset="0"/>
              </a:rPr>
              <a:t>04 / 12</a:t>
            </a:r>
          </a:p>
        </p:txBody>
      </p:sp>
      <p:sp>
        <p:nvSpPr>
          <p:cNvPr id="7" name="TextBox 6">
            <a:extLst>
              <a:ext uri="{FF2B5EF4-FFF2-40B4-BE49-F238E27FC236}">
                <a16:creationId xmlns:a16="http://schemas.microsoft.com/office/drawing/2014/main" id="{9DD80931-EBB5-EEC0-8F71-839D85A2CBE7}"/>
              </a:ext>
            </a:extLst>
          </p:cNvPr>
          <p:cNvSpPr txBox="1"/>
          <p:nvPr/>
        </p:nvSpPr>
        <p:spPr>
          <a:xfrm>
            <a:off x="609600" y="2158999"/>
            <a:ext cx="3429000" cy="393700"/>
          </a:xfrm>
          <a:prstGeom prst="rect">
            <a:avLst/>
          </a:prstGeom>
          <a:noFill/>
        </p:spPr>
        <p:txBody>
          <a:bodyPr vert="horz" wrap="square" lIns="0" tIns="0" rIns="76200" bIns="0" rtlCol="0">
            <a:noAutofit/>
          </a:bodyPr>
          <a:lstStyle/>
          <a:p>
            <a:r>
              <a:rPr lang="en-IN" b="1">
                <a:solidFill>
                  <a:srgbClr val="176CA4"/>
                </a:solidFill>
                <a:latin typeface="Arial" panose="020B0604020202020204" pitchFamily="34" charset="0"/>
              </a:rPr>
              <a:t>Research / resource</a:t>
            </a:r>
          </a:p>
        </p:txBody>
      </p:sp>
      <p:sp>
        <p:nvSpPr>
          <p:cNvPr id="8" name="TextBox 7">
            <a:extLst>
              <a:ext uri="{FF2B5EF4-FFF2-40B4-BE49-F238E27FC236}">
                <a16:creationId xmlns:a16="http://schemas.microsoft.com/office/drawing/2014/main" id="{A92A4BD0-3A5B-058D-1974-A42E6014AD5A}"/>
              </a:ext>
            </a:extLst>
          </p:cNvPr>
          <p:cNvSpPr txBox="1"/>
          <p:nvPr/>
        </p:nvSpPr>
        <p:spPr>
          <a:xfrm>
            <a:off x="4483100" y="2158999"/>
            <a:ext cx="3416300" cy="393700"/>
          </a:xfrm>
          <a:prstGeom prst="rect">
            <a:avLst/>
          </a:prstGeom>
          <a:noFill/>
        </p:spPr>
        <p:txBody>
          <a:bodyPr vert="horz" wrap="square" lIns="0" tIns="0" rIns="76200" bIns="0" rtlCol="0">
            <a:noAutofit/>
          </a:bodyPr>
          <a:lstStyle/>
          <a:p>
            <a:r>
              <a:rPr lang="en-IN" b="1">
                <a:solidFill>
                  <a:srgbClr val="176CA4"/>
                </a:solidFill>
                <a:latin typeface="Arial" panose="020B0604020202020204" pitchFamily="34" charset="0"/>
              </a:rPr>
              <a:t>What it contributes</a:t>
            </a:r>
          </a:p>
        </p:txBody>
      </p:sp>
      <p:sp>
        <p:nvSpPr>
          <p:cNvPr id="9" name="TextBox 8">
            <a:extLst>
              <a:ext uri="{FF2B5EF4-FFF2-40B4-BE49-F238E27FC236}">
                <a16:creationId xmlns:a16="http://schemas.microsoft.com/office/drawing/2014/main" id="{A1A47CD3-0EB4-5E23-097C-D8C9E90560B8}"/>
              </a:ext>
            </a:extLst>
          </p:cNvPr>
          <p:cNvSpPr txBox="1"/>
          <p:nvPr/>
        </p:nvSpPr>
        <p:spPr>
          <a:xfrm>
            <a:off x="8369300" y="2158999"/>
            <a:ext cx="3213100" cy="393700"/>
          </a:xfrm>
          <a:prstGeom prst="rect">
            <a:avLst/>
          </a:prstGeom>
          <a:noFill/>
        </p:spPr>
        <p:txBody>
          <a:bodyPr vert="horz" wrap="square" lIns="0" tIns="0" rIns="76200" bIns="0" rtlCol="0">
            <a:noAutofit/>
          </a:bodyPr>
          <a:lstStyle/>
          <a:p>
            <a:r>
              <a:rPr lang="en-IN" b="1">
                <a:solidFill>
                  <a:srgbClr val="176CA4"/>
                </a:solidFill>
                <a:latin typeface="Arial" panose="020B0604020202020204" pitchFamily="34" charset="0"/>
              </a:rPr>
              <a:t>Design implication</a:t>
            </a:r>
          </a:p>
        </p:txBody>
      </p:sp>
      <p:cxnSp>
        <p:nvCxnSpPr>
          <p:cNvPr id="10" name="Straight Connector 9">
            <a:extLst>
              <a:ext uri="{FF2B5EF4-FFF2-40B4-BE49-F238E27FC236}">
                <a16:creationId xmlns:a16="http://schemas.microsoft.com/office/drawing/2014/main" id="{3864D03A-4980-FD08-B662-064C606D1685}"/>
              </a:ext>
            </a:extLst>
          </p:cNvPr>
          <p:cNvCxnSpPr/>
          <p:nvPr/>
        </p:nvCxnSpPr>
        <p:spPr>
          <a:xfrm>
            <a:off x="609600" y="2667000"/>
            <a:ext cx="10972800" cy="0"/>
          </a:xfrm>
          <a:prstGeom prst="line">
            <a:avLst/>
          </a:prstGeom>
          <a:ln w="12700">
            <a:solidFill>
              <a:srgbClr val="171C22"/>
            </a:solidFill>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61F1A5EF-E8AF-07EF-565D-96A0883AA1F9}"/>
              </a:ext>
            </a:extLst>
          </p:cNvPr>
          <p:cNvSpPr txBox="1"/>
          <p:nvPr/>
        </p:nvSpPr>
        <p:spPr>
          <a:xfrm>
            <a:off x="609600" y="2895599"/>
            <a:ext cx="3429000" cy="673100"/>
          </a:xfrm>
          <a:prstGeom prst="rect">
            <a:avLst/>
          </a:prstGeom>
          <a:noFill/>
        </p:spPr>
        <p:txBody>
          <a:bodyPr vert="horz" wrap="square" lIns="0" tIns="0" rIns="76200" bIns="0" rtlCol="0">
            <a:noAutofit/>
          </a:bodyPr>
          <a:lstStyle/>
          <a:p>
            <a:r>
              <a:rPr lang="en-IN" sz="2000" b="1">
                <a:solidFill>
                  <a:srgbClr val="171C22"/>
                </a:solidFill>
                <a:latin typeface="Arial" panose="020B0604020202020204" pitchFamily="34" charset="0"/>
              </a:rPr>
              <a:t>Maeda et al. · 2018</a:t>
            </a:r>
          </a:p>
        </p:txBody>
      </p:sp>
      <p:sp>
        <p:nvSpPr>
          <p:cNvPr id="12" name="TextBox 11">
            <a:extLst>
              <a:ext uri="{FF2B5EF4-FFF2-40B4-BE49-F238E27FC236}">
                <a16:creationId xmlns:a16="http://schemas.microsoft.com/office/drawing/2014/main" id="{8372476F-4229-7C8D-9165-E6C8FFCDEBDC}"/>
              </a:ext>
            </a:extLst>
          </p:cNvPr>
          <p:cNvSpPr txBox="1"/>
          <p:nvPr/>
        </p:nvSpPr>
        <p:spPr>
          <a:xfrm>
            <a:off x="4483100" y="2895599"/>
            <a:ext cx="3390900" cy="673100"/>
          </a:xfrm>
          <a:prstGeom prst="rect">
            <a:avLst/>
          </a:prstGeom>
          <a:noFill/>
        </p:spPr>
        <p:txBody>
          <a:bodyPr vert="horz" wrap="square" lIns="0" tIns="0" rIns="76200" bIns="0" rtlCol="0">
            <a:noAutofit/>
          </a:bodyPr>
          <a:lstStyle/>
          <a:p>
            <a:r>
              <a:rPr lang="en-IN">
                <a:solidFill>
                  <a:srgbClr val="59616B"/>
                </a:solidFill>
                <a:latin typeface="Arial" panose="020B0604020202020204" pitchFamily="34" charset="0"/>
              </a:rPr>
              <a:t>Smartphone road imagery</a:t>
            </a:r>
          </a:p>
        </p:txBody>
      </p:sp>
      <p:sp>
        <p:nvSpPr>
          <p:cNvPr id="13" name="TextBox 12">
            <a:extLst>
              <a:ext uri="{FF2B5EF4-FFF2-40B4-BE49-F238E27FC236}">
                <a16:creationId xmlns:a16="http://schemas.microsoft.com/office/drawing/2014/main" id="{F52F8127-8ED5-EEB6-8C0F-7E1BF512EEAE}"/>
              </a:ext>
            </a:extLst>
          </p:cNvPr>
          <p:cNvSpPr txBox="1"/>
          <p:nvPr/>
        </p:nvSpPr>
        <p:spPr>
          <a:xfrm>
            <a:off x="8369300" y="2895599"/>
            <a:ext cx="3213100" cy="673100"/>
          </a:xfrm>
          <a:prstGeom prst="rect">
            <a:avLst/>
          </a:prstGeom>
          <a:noFill/>
        </p:spPr>
        <p:txBody>
          <a:bodyPr vert="horz" wrap="square" lIns="0" tIns="0" rIns="76200" bIns="0" rtlCol="0">
            <a:noAutofit/>
          </a:bodyPr>
          <a:lstStyle/>
          <a:p>
            <a:r>
              <a:rPr lang="en-IN">
                <a:solidFill>
                  <a:srgbClr val="59616B"/>
                </a:solidFill>
                <a:latin typeface="Arial" panose="020B0604020202020204" pitchFamily="34" charset="0"/>
              </a:rPr>
              <a:t>Capture conditions matter.</a:t>
            </a:r>
          </a:p>
        </p:txBody>
      </p:sp>
      <p:cxnSp>
        <p:nvCxnSpPr>
          <p:cNvPr id="14" name="Straight Connector 13">
            <a:extLst>
              <a:ext uri="{FF2B5EF4-FFF2-40B4-BE49-F238E27FC236}">
                <a16:creationId xmlns:a16="http://schemas.microsoft.com/office/drawing/2014/main" id="{904BC2D3-E957-E285-2F53-46C27F5512C9}"/>
              </a:ext>
            </a:extLst>
          </p:cNvPr>
          <p:cNvCxnSpPr/>
          <p:nvPr/>
        </p:nvCxnSpPr>
        <p:spPr>
          <a:xfrm>
            <a:off x="609600" y="3581400"/>
            <a:ext cx="10972800" cy="0"/>
          </a:xfrm>
          <a:prstGeom prst="line">
            <a:avLst/>
          </a:prstGeom>
          <a:ln w="12700">
            <a:solidFill>
              <a:srgbClr val="D4D9DD"/>
            </a:solidFill>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5E85CC83-60FF-98F2-2DB8-4AAF6413B0C0}"/>
              </a:ext>
            </a:extLst>
          </p:cNvPr>
          <p:cNvSpPr txBox="1"/>
          <p:nvPr/>
        </p:nvSpPr>
        <p:spPr>
          <a:xfrm>
            <a:off x="609600" y="3721099"/>
            <a:ext cx="3429000" cy="673100"/>
          </a:xfrm>
          <a:prstGeom prst="rect">
            <a:avLst/>
          </a:prstGeom>
          <a:noFill/>
        </p:spPr>
        <p:txBody>
          <a:bodyPr vert="horz" wrap="square" lIns="0" tIns="0" rIns="76200" bIns="0" rtlCol="0">
            <a:noAutofit/>
          </a:bodyPr>
          <a:lstStyle/>
          <a:p>
            <a:r>
              <a:rPr lang="en-IN" sz="2000" b="1">
                <a:solidFill>
                  <a:srgbClr val="171C22"/>
                </a:solidFill>
                <a:latin typeface="Arial" panose="020B0604020202020204" pitchFamily="34" charset="0"/>
              </a:rPr>
              <a:t>Arya et al. · RDD2022</a:t>
            </a:r>
          </a:p>
        </p:txBody>
      </p:sp>
      <p:sp>
        <p:nvSpPr>
          <p:cNvPr id="16" name="TextBox 15">
            <a:extLst>
              <a:ext uri="{FF2B5EF4-FFF2-40B4-BE49-F238E27FC236}">
                <a16:creationId xmlns:a16="http://schemas.microsoft.com/office/drawing/2014/main" id="{8660CB4F-FE6E-9FF9-F3BA-BE4318049589}"/>
              </a:ext>
            </a:extLst>
          </p:cNvPr>
          <p:cNvSpPr txBox="1"/>
          <p:nvPr/>
        </p:nvSpPr>
        <p:spPr>
          <a:xfrm>
            <a:off x="4483100" y="3721099"/>
            <a:ext cx="3390900" cy="673100"/>
          </a:xfrm>
          <a:prstGeom prst="rect">
            <a:avLst/>
          </a:prstGeom>
          <a:noFill/>
        </p:spPr>
        <p:txBody>
          <a:bodyPr vert="horz" wrap="square" lIns="0" tIns="0" rIns="76200" bIns="0" rtlCol="0">
            <a:noAutofit/>
          </a:bodyPr>
          <a:lstStyle/>
          <a:p>
            <a:r>
              <a:rPr lang="en-IN">
                <a:solidFill>
                  <a:srgbClr val="59616B"/>
                </a:solidFill>
                <a:latin typeface="Arial" panose="020B0604020202020204" pitchFamily="34" charset="0"/>
              </a:rPr>
              <a:t>Annotated damage benchmark</a:t>
            </a:r>
          </a:p>
        </p:txBody>
      </p:sp>
      <p:sp>
        <p:nvSpPr>
          <p:cNvPr id="17" name="TextBox 16">
            <a:extLst>
              <a:ext uri="{FF2B5EF4-FFF2-40B4-BE49-F238E27FC236}">
                <a16:creationId xmlns:a16="http://schemas.microsoft.com/office/drawing/2014/main" id="{692DE78C-4783-D47E-2315-C6A7801AF449}"/>
              </a:ext>
            </a:extLst>
          </p:cNvPr>
          <p:cNvSpPr txBox="1"/>
          <p:nvPr/>
        </p:nvSpPr>
        <p:spPr>
          <a:xfrm>
            <a:off x="8369300" y="3721099"/>
            <a:ext cx="3213100" cy="673100"/>
          </a:xfrm>
          <a:prstGeom prst="rect">
            <a:avLst/>
          </a:prstGeom>
          <a:noFill/>
        </p:spPr>
        <p:txBody>
          <a:bodyPr vert="horz" wrap="square" lIns="0" tIns="0" rIns="76200" bIns="0" rtlCol="0">
            <a:noAutofit/>
          </a:bodyPr>
          <a:lstStyle/>
          <a:p>
            <a:r>
              <a:rPr lang="en-IN">
                <a:solidFill>
                  <a:srgbClr val="59616B"/>
                </a:solidFill>
                <a:latin typeface="Arial" panose="020B0604020202020204" pitchFamily="34" charset="0"/>
              </a:rPr>
              <a:t>Evaluate locally as well.</a:t>
            </a:r>
          </a:p>
        </p:txBody>
      </p:sp>
      <p:cxnSp>
        <p:nvCxnSpPr>
          <p:cNvPr id="18" name="Straight Connector 17">
            <a:extLst>
              <a:ext uri="{FF2B5EF4-FFF2-40B4-BE49-F238E27FC236}">
                <a16:creationId xmlns:a16="http://schemas.microsoft.com/office/drawing/2014/main" id="{97623FE7-1D20-19A2-5BFD-1D2A18BCDC3C}"/>
              </a:ext>
            </a:extLst>
          </p:cNvPr>
          <p:cNvCxnSpPr/>
          <p:nvPr/>
        </p:nvCxnSpPr>
        <p:spPr>
          <a:xfrm>
            <a:off x="609600" y="4406900"/>
            <a:ext cx="10972800" cy="0"/>
          </a:xfrm>
          <a:prstGeom prst="line">
            <a:avLst/>
          </a:prstGeom>
          <a:ln w="12700">
            <a:solidFill>
              <a:srgbClr val="D4D9DD"/>
            </a:solidFill>
          </a:ln>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84D41A16-4C6A-D65B-231E-80CA1AFA61F5}"/>
              </a:ext>
            </a:extLst>
          </p:cNvPr>
          <p:cNvSpPr txBox="1"/>
          <p:nvPr/>
        </p:nvSpPr>
        <p:spPr>
          <a:xfrm>
            <a:off x="609600" y="4546599"/>
            <a:ext cx="3429000" cy="673100"/>
          </a:xfrm>
          <a:prstGeom prst="rect">
            <a:avLst/>
          </a:prstGeom>
          <a:noFill/>
        </p:spPr>
        <p:txBody>
          <a:bodyPr vert="horz" wrap="square" lIns="0" tIns="0" rIns="76200" bIns="0" rtlCol="0">
            <a:noAutofit/>
          </a:bodyPr>
          <a:lstStyle/>
          <a:p>
            <a:r>
              <a:rPr lang="en-IN" sz="2000" b="1">
                <a:solidFill>
                  <a:srgbClr val="171C22"/>
                </a:solidFill>
                <a:latin typeface="Arial" panose="020B0604020202020204" pitchFamily="34" charset="0"/>
              </a:rPr>
              <a:t>oracl4 · YOLOv8 project</a:t>
            </a:r>
          </a:p>
        </p:txBody>
      </p:sp>
      <p:sp>
        <p:nvSpPr>
          <p:cNvPr id="20" name="TextBox 19">
            <a:extLst>
              <a:ext uri="{FF2B5EF4-FFF2-40B4-BE49-F238E27FC236}">
                <a16:creationId xmlns:a16="http://schemas.microsoft.com/office/drawing/2014/main" id="{A9C3ADB0-F9CB-9BCC-D3B4-32B72F43D1C0}"/>
              </a:ext>
            </a:extLst>
          </p:cNvPr>
          <p:cNvSpPr txBox="1"/>
          <p:nvPr/>
        </p:nvSpPr>
        <p:spPr>
          <a:xfrm>
            <a:off x="4483100" y="4546599"/>
            <a:ext cx="3390900" cy="673100"/>
          </a:xfrm>
          <a:prstGeom prst="rect">
            <a:avLst/>
          </a:prstGeom>
          <a:noFill/>
        </p:spPr>
        <p:txBody>
          <a:bodyPr vert="horz" wrap="square" lIns="0" tIns="0" rIns="76200" bIns="0" rtlCol="0">
            <a:noAutofit/>
          </a:bodyPr>
          <a:lstStyle/>
          <a:p>
            <a:r>
              <a:rPr lang="en-IN">
                <a:solidFill>
                  <a:srgbClr val="59616B"/>
                </a:solidFill>
                <a:latin typeface="Arial" panose="020B0604020202020204" pitchFamily="34" charset="0"/>
              </a:rPr>
              <a:t>Candidate model implementation</a:t>
            </a:r>
          </a:p>
        </p:txBody>
      </p:sp>
      <p:sp>
        <p:nvSpPr>
          <p:cNvPr id="21" name="TextBox 20">
            <a:extLst>
              <a:ext uri="{FF2B5EF4-FFF2-40B4-BE49-F238E27FC236}">
                <a16:creationId xmlns:a16="http://schemas.microsoft.com/office/drawing/2014/main" id="{13D9FDB6-140E-89A8-37F5-55F22BAFC1F6}"/>
              </a:ext>
            </a:extLst>
          </p:cNvPr>
          <p:cNvSpPr txBox="1"/>
          <p:nvPr/>
        </p:nvSpPr>
        <p:spPr>
          <a:xfrm>
            <a:off x="8369300" y="4546599"/>
            <a:ext cx="3213100" cy="673100"/>
          </a:xfrm>
          <a:prstGeom prst="rect">
            <a:avLst/>
          </a:prstGeom>
          <a:noFill/>
        </p:spPr>
        <p:txBody>
          <a:bodyPr vert="horz" wrap="square" lIns="0" tIns="0" rIns="76200" bIns="0" rtlCol="0">
            <a:noAutofit/>
          </a:bodyPr>
          <a:lstStyle/>
          <a:p>
            <a:r>
              <a:rPr lang="en-US">
                <a:solidFill>
                  <a:srgbClr val="59616B"/>
                </a:solidFill>
                <a:latin typeface="Arial" panose="020B0604020202020204" pitchFamily="34" charset="0"/>
              </a:rPr>
              <a:t>Check labels, licence and weights.</a:t>
            </a:r>
            <a:endParaRPr lang="en-IN">
              <a:solidFill>
                <a:srgbClr val="59616B"/>
              </a:solidFill>
              <a:latin typeface="Arial" panose="020B0604020202020204" pitchFamily="34" charset="0"/>
            </a:endParaRPr>
          </a:p>
        </p:txBody>
      </p:sp>
      <p:cxnSp>
        <p:nvCxnSpPr>
          <p:cNvPr id="22" name="Straight Connector 21">
            <a:extLst>
              <a:ext uri="{FF2B5EF4-FFF2-40B4-BE49-F238E27FC236}">
                <a16:creationId xmlns:a16="http://schemas.microsoft.com/office/drawing/2014/main" id="{A63F95FF-094B-FC92-FB7A-0327D4FFA2E8}"/>
              </a:ext>
            </a:extLst>
          </p:cNvPr>
          <p:cNvCxnSpPr/>
          <p:nvPr/>
        </p:nvCxnSpPr>
        <p:spPr>
          <a:xfrm>
            <a:off x="609600" y="5232400"/>
            <a:ext cx="10972800" cy="0"/>
          </a:xfrm>
          <a:prstGeom prst="line">
            <a:avLst/>
          </a:prstGeom>
          <a:ln w="12700">
            <a:solidFill>
              <a:srgbClr val="D4D9DD"/>
            </a:solidFill>
          </a:ln>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D0991D68-6BD9-9DF5-49D9-E826646B02BF}"/>
              </a:ext>
            </a:extLst>
          </p:cNvPr>
          <p:cNvCxnSpPr/>
          <p:nvPr/>
        </p:nvCxnSpPr>
        <p:spPr>
          <a:xfrm>
            <a:off x="609600" y="5664200"/>
            <a:ext cx="10972800" cy="0"/>
          </a:xfrm>
          <a:prstGeom prst="line">
            <a:avLst/>
          </a:prstGeom>
          <a:ln w="12700">
            <a:solidFill>
              <a:srgbClr val="D4D9DD"/>
            </a:solidFill>
          </a:ln>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085BF65B-A9F6-19E2-EC14-3CEC6A952492}"/>
              </a:ext>
            </a:extLst>
          </p:cNvPr>
          <p:cNvSpPr txBox="1"/>
          <p:nvPr/>
        </p:nvSpPr>
        <p:spPr>
          <a:xfrm>
            <a:off x="609600" y="5841999"/>
            <a:ext cx="10972800" cy="482600"/>
          </a:xfrm>
          <a:prstGeom prst="rect">
            <a:avLst/>
          </a:prstGeom>
          <a:noFill/>
        </p:spPr>
        <p:txBody>
          <a:bodyPr vert="horz" wrap="square" lIns="0" tIns="0" rIns="76200" bIns="0" rtlCol="0">
            <a:noAutofit/>
          </a:bodyPr>
          <a:lstStyle/>
          <a:p>
            <a:r>
              <a:rPr lang="en-US" sz="1600">
                <a:solidFill>
                  <a:srgbClr val="176CA4"/>
                </a:solidFill>
                <a:latin typeface="Arial" panose="020B0604020202020204" pitchFamily="34" charset="0"/>
              </a:rPr>
              <a:t>Our focus: connect detection to municipal review, repair and an auditable history.</a:t>
            </a:r>
            <a:endParaRPr lang="en-IN" sz="1600">
              <a:solidFill>
                <a:srgbClr val="176CA4"/>
              </a:solidFill>
              <a:latin typeface="Arial" panose="020B0604020202020204" pitchFamily="34" charset="0"/>
            </a:endParaRPr>
          </a:p>
        </p:txBody>
      </p:sp>
    </p:spTree>
    <p:extLst>
      <p:ext uri="{BB962C8B-B14F-4D97-AF65-F5344CB8AC3E}">
        <p14:creationId xmlns:p14="http://schemas.microsoft.com/office/powerpoint/2010/main" val="36260405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4FBA76E-CBE8-6D20-24E6-F66091D78E29}"/>
              </a:ext>
            </a:extLst>
          </p:cNvPr>
          <p:cNvSpPr txBox="1"/>
          <p:nvPr/>
        </p:nvSpPr>
        <p:spPr>
          <a:xfrm>
            <a:off x="609600" y="330199"/>
            <a:ext cx="10414000" cy="279400"/>
          </a:xfrm>
          <a:prstGeom prst="rect">
            <a:avLst/>
          </a:prstGeom>
          <a:noFill/>
        </p:spPr>
        <p:txBody>
          <a:bodyPr vert="horz" wrap="square" lIns="0" tIns="0" rIns="76200" bIns="0" rtlCol="0">
            <a:noAutofit/>
          </a:bodyPr>
          <a:lstStyle/>
          <a:p>
            <a:r>
              <a:rPr lang="en-IN" sz="1200" b="1">
                <a:solidFill>
                  <a:srgbClr val="176CA4"/>
                </a:solidFill>
                <a:latin typeface="Arial" panose="020B0604020202020204" pitchFamily="34" charset="0"/>
              </a:rPr>
              <a:t>COMPLETE WORKFLOW</a:t>
            </a:r>
          </a:p>
        </p:txBody>
      </p:sp>
      <p:sp>
        <p:nvSpPr>
          <p:cNvPr id="3" name="TextBox 2">
            <a:extLst>
              <a:ext uri="{FF2B5EF4-FFF2-40B4-BE49-F238E27FC236}">
                <a16:creationId xmlns:a16="http://schemas.microsoft.com/office/drawing/2014/main" id="{180F9D85-1114-C82B-ABCE-D3031F549374}"/>
              </a:ext>
            </a:extLst>
          </p:cNvPr>
          <p:cNvSpPr txBox="1"/>
          <p:nvPr/>
        </p:nvSpPr>
        <p:spPr>
          <a:xfrm>
            <a:off x="609600" y="876299"/>
            <a:ext cx="10972800" cy="1130300"/>
          </a:xfrm>
          <a:prstGeom prst="rect">
            <a:avLst/>
          </a:prstGeom>
          <a:noFill/>
        </p:spPr>
        <p:txBody>
          <a:bodyPr vert="horz" wrap="square" lIns="0" tIns="0" rIns="76200" bIns="0" rtlCol="0">
            <a:noAutofit/>
          </a:bodyPr>
          <a:lstStyle/>
          <a:p>
            <a:r>
              <a:rPr lang="en-IN" sz="3500" b="1">
                <a:solidFill>
                  <a:srgbClr val="171C22"/>
                </a:solidFill>
                <a:latin typeface="Arial" panose="020B0604020202020204" pitchFamily="34" charset="0"/>
              </a:rPr>
              <a:t>How the system works</a:t>
            </a:r>
          </a:p>
        </p:txBody>
      </p:sp>
      <p:cxnSp>
        <p:nvCxnSpPr>
          <p:cNvPr id="4" name="Straight Connector 3">
            <a:extLst>
              <a:ext uri="{FF2B5EF4-FFF2-40B4-BE49-F238E27FC236}">
                <a16:creationId xmlns:a16="http://schemas.microsoft.com/office/drawing/2014/main" id="{6359D8F0-B6A9-8F48-9745-E4EFF1D626BF}"/>
              </a:ext>
            </a:extLst>
          </p:cNvPr>
          <p:cNvCxnSpPr/>
          <p:nvPr/>
        </p:nvCxnSpPr>
        <p:spPr>
          <a:xfrm>
            <a:off x="609600" y="6362700"/>
            <a:ext cx="10972800" cy="0"/>
          </a:xfrm>
          <a:prstGeom prst="line">
            <a:avLst/>
          </a:prstGeom>
          <a:ln w="12700">
            <a:solidFill>
              <a:srgbClr val="D4D9DD"/>
            </a:solidFill>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17B91376-C01E-5B7A-4D44-9762C2D2E803}"/>
              </a:ext>
            </a:extLst>
          </p:cNvPr>
          <p:cNvSpPr txBox="1"/>
          <p:nvPr/>
        </p:nvSpPr>
        <p:spPr>
          <a:xfrm>
            <a:off x="609600" y="6477000"/>
            <a:ext cx="8890000" cy="228600"/>
          </a:xfrm>
          <a:prstGeom prst="rect">
            <a:avLst/>
          </a:prstGeom>
          <a:noFill/>
        </p:spPr>
        <p:txBody>
          <a:bodyPr vert="horz" wrap="square" lIns="0" tIns="0" rIns="76200" bIns="0" rtlCol="0">
            <a:noAutofit/>
          </a:bodyPr>
          <a:lstStyle/>
          <a:p>
            <a:r>
              <a:rPr lang="en-IN" sz="1000">
                <a:solidFill>
                  <a:srgbClr val="59616B"/>
                </a:solidFill>
                <a:latin typeface="Arial" panose="020B0604020202020204" pitchFamily="34" charset="0"/>
              </a:rPr>
              <a:t>ROAD DAMAGE DETECTION  /  GECB</a:t>
            </a:r>
          </a:p>
        </p:txBody>
      </p:sp>
      <p:sp>
        <p:nvSpPr>
          <p:cNvPr id="6" name="TextBox 5">
            <a:extLst>
              <a:ext uri="{FF2B5EF4-FFF2-40B4-BE49-F238E27FC236}">
                <a16:creationId xmlns:a16="http://schemas.microsoft.com/office/drawing/2014/main" id="{CB9BDB74-6B13-CC1F-7310-A8782381743B}"/>
              </a:ext>
            </a:extLst>
          </p:cNvPr>
          <p:cNvSpPr txBox="1"/>
          <p:nvPr/>
        </p:nvSpPr>
        <p:spPr>
          <a:xfrm>
            <a:off x="10617200" y="6477000"/>
            <a:ext cx="965200" cy="228600"/>
          </a:xfrm>
          <a:prstGeom prst="rect">
            <a:avLst/>
          </a:prstGeom>
          <a:noFill/>
        </p:spPr>
        <p:txBody>
          <a:bodyPr vert="horz" wrap="square" lIns="0" tIns="0" rIns="76200" bIns="0" rtlCol="0">
            <a:noAutofit/>
          </a:bodyPr>
          <a:lstStyle/>
          <a:p>
            <a:pPr algn="r"/>
            <a:r>
              <a:rPr lang="en-IN" sz="1000">
                <a:solidFill>
                  <a:srgbClr val="59616B"/>
                </a:solidFill>
                <a:latin typeface="Arial" panose="020B0604020202020204" pitchFamily="34" charset="0"/>
              </a:rPr>
              <a:t>05 / 12</a:t>
            </a:r>
          </a:p>
        </p:txBody>
      </p:sp>
      <p:cxnSp>
        <p:nvCxnSpPr>
          <p:cNvPr id="7" name="Straight Connector 6">
            <a:extLst>
              <a:ext uri="{FF2B5EF4-FFF2-40B4-BE49-F238E27FC236}">
                <a16:creationId xmlns:a16="http://schemas.microsoft.com/office/drawing/2014/main" id="{A8906D3B-0BBC-AB07-64B7-202110606805}"/>
              </a:ext>
            </a:extLst>
          </p:cNvPr>
          <p:cNvCxnSpPr/>
          <p:nvPr/>
        </p:nvCxnSpPr>
        <p:spPr>
          <a:xfrm>
            <a:off x="609600" y="2832100"/>
            <a:ext cx="10845800" cy="0"/>
          </a:xfrm>
          <a:prstGeom prst="line">
            <a:avLst/>
          </a:prstGeom>
          <a:ln w="25400">
            <a:solidFill>
              <a:srgbClr val="176CA4"/>
            </a:solidFill>
            <a:tailEnd type="arrow"/>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8EDCE6C6-A531-16E1-FBBD-0D1DD68B25B3}"/>
              </a:ext>
            </a:extLst>
          </p:cNvPr>
          <p:cNvSpPr txBox="1"/>
          <p:nvPr/>
        </p:nvSpPr>
        <p:spPr>
          <a:xfrm>
            <a:off x="609600" y="2197099"/>
            <a:ext cx="3352800" cy="533400"/>
          </a:xfrm>
          <a:prstGeom prst="rect">
            <a:avLst/>
          </a:prstGeom>
          <a:noFill/>
        </p:spPr>
        <p:txBody>
          <a:bodyPr vert="horz" wrap="square" lIns="0" tIns="0" rIns="76200" bIns="0" rtlCol="0">
            <a:noAutofit/>
          </a:bodyPr>
          <a:lstStyle/>
          <a:p>
            <a:r>
              <a:rPr lang="en-IN" sz="2400" b="1">
                <a:solidFill>
                  <a:srgbClr val="171C22"/>
                </a:solidFill>
                <a:latin typeface="Arial" panose="020B0604020202020204" pitchFamily="34" charset="0"/>
              </a:rPr>
              <a:t>Capture &amp; analyze</a:t>
            </a:r>
          </a:p>
        </p:txBody>
      </p:sp>
      <p:sp>
        <p:nvSpPr>
          <p:cNvPr id="9" name="TextBox 8">
            <a:extLst>
              <a:ext uri="{FF2B5EF4-FFF2-40B4-BE49-F238E27FC236}">
                <a16:creationId xmlns:a16="http://schemas.microsoft.com/office/drawing/2014/main" id="{3A1CEF76-7CE9-45AE-C3FA-F1925371E0C2}"/>
              </a:ext>
            </a:extLst>
          </p:cNvPr>
          <p:cNvSpPr txBox="1"/>
          <p:nvPr/>
        </p:nvSpPr>
        <p:spPr>
          <a:xfrm>
            <a:off x="609600" y="3162299"/>
            <a:ext cx="3429000" cy="749300"/>
          </a:xfrm>
          <a:prstGeom prst="rect">
            <a:avLst/>
          </a:prstGeom>
          <a:noFill/>
        </p:spPr>
        <p:txBody>
          <a:bodyPr vert="horz" wrap="square" lIns="0" tIns="0" rIns="76200" bIns="0" rtlCol="0">
            <a:noAutofit/>
          </a:bodyPr>
          <a:lstStyle/>
          <a:p>
            <a:r>
              <a:rPr lang="en-US">
                <a:solidFill>
                  <a:srgbClr val="59616B"/>
                </a:solidFill>
                <a:latin typeface="Arial" panose="020B0604020202020204" pitchFamily="34" charset="0"/>
              </a:rPr>
              <a:t>1  Upload photo/video + GPS</a:t>
            </a:r>
            <a:endParaRPr lang="en-IN">
              <a:solidFill>
                <a:srgbClr val="59616B"/>
              </a:solidFill>
              <a:latin typeface="Arial" panose="020B0604020202020204" pitchFamily="34" charset="0"/>
            </a:endParaRPr>
          </a:p>
        </p:txBody>
      </p:sp>
      <p:sp>
        <p:nvSpPr>
          <p:cNvPr id="10" name="TextBox 9">
            <a:extLst>
              <a:ext uri="{FF2B5EF4-FFF2-40B4-BE49-F238E27FC236}">
                <a16:creationId xmlns:a16="http://schemas.microsoft.com/office/drawing/2014/main" id="{9F412B19-34C7-8FF7-5E71-F0304F674276}"/>
              </a:ext>
            </a:extLst>
          </p:cNvPr>
          <p:cNvSpPr txBox="1"/>
          <p:nvPr/>
        </p:nvSpPr>
        <p:spPr>
          <a:xfrm>
            <a:off x="609600" y="3962399"/>
            <a:ext cx="3429000" cy="749300"/>
          </a:xfrm>
          <a:prstGeom prst="rect">
            <a:avLst/>
          </a:prstGeom>
          <a:noFill/>
        </p:spPr>
        <p:txBody>
          <a:bodyPr vert="horz" wrap="square" lIns="0" tIns="0" rIns="76200" bIns="0" rtlCol="0">
            <a:noAutofit/>
          </a:bodyPr>
          <a:lstStyle/>
          <a:p>
            <a:r>
              <a:rPr lang="en-US">
                <a:solidFill>
                  <a:srgbClr val="59616B"/>
                </a:solidFill>
                <a:latin typeface="Arial" panose="020B0604020202020204" pitchFamily="34" charset="0"/>
              </a:rPr>
              <a:t>2  Detect potholes and cracks</a:t>
            </a:r>
            <a:endParaRPr lang="en-IN">
              <a:solidFill>
                <a:srgbClr val="59616B"/>
              </a:solidFill>
              <a:latin typeface="Arial" panose="020B0604020202020204" pitchFamily="34" charset="0"/>
            </a:endParaRPr>
          </a:p>
        </p:txBody>
      </p:sp>
      <p:sp>
        <p:nvSpPr>
          <p:cNvPr id="11" name="TextBox 10">
            <a:extLst>
              <a:ext uri="{FF2B5EF4-FFF2-40B4-BE49-F238E27FC236}">
                <a16:creationId xmlns:a16="http://schemas.microsoft.com/office/drawing/2014/main" id="{1B55BBAF-505B-5F99-EFDB-D8FC162DC2EE}"/>
              </a:ext>
            </a:extLst>
          </p:cNvPr>
          <p:cNvSpPr txBox="1"/>
          <p:nvPr/>
        </p:nvSpPr>
        <p:spPr>
          <a:xfrm>
            <a:off x="609600" y="4762499"/>
            <a:ext cx="3429000" cy="749300"/>
          </a:xfrm>
          <a:prstGeom prst="rect">
            <a:avLst/>
          </a:prstGeom>
          <a:noFill/>
        </p:spPr>
        <p:txBody>
          <a:bodyPr vert="horz" wrap="square" lIns="0" tIns="0" rIns="76200" bIns="0" rtlCol="0">
            <a:noAutofit/>
          </a:bodyPr>
          <a:lstStyle/>
          <a:p>
            <a:r>
              <a:rPr lang="en-US">
                <a:solidFill>
                  <a:srgbClr val="59616B"/>
                </a:solidFill>
                <a:latin typeface="Arial" panose="020B0604020202020204" pitchFamily="34" charset="0"/>
              </a:rPr>
              <a:t>3  Estimate type, severity
    and priority</a:t>
            </a:r>
            <a:endParaRPr lang="en-IN">
              <a:solidFill>
                <a:srgbClr val="59616B"/>
              </a:solidFill>
              <a:latin typeface="Arial" panose="020B0604020202020204" pitchFamily="34" charset="0"/>
            </a:endParaRPr>
          </a:p>
        </p:txBody>
      </p:sp>
      <p:sp>
        <p:nvSpPr>
          <p:cNvPr id="12" name="TextBox 11">
            <a:extLst>
              <a:ext uri="{FF2B5EF4-FFF2-40B4-BE49-F238E27FC236}">
                <a16:creationId xmlns:a16="http://schemas.microsoft.com/office/drawing/2014/main" id="{55733801-756B-208C-7F4F-C75980BD0DE0}"/>
              </a:ext>
            </a:extLst>
          </p:cNvPr>
          <p:cNvSpPr txBox="1"/>
          <p:nvPr/>
        </p:nvSpPr>
        <p:spPr>
          <a:xfrm>
            <a:off x="4419600" y="2197099"/>
            <a:ext cx="3352800" cy="533400"/>
          </a:xfrm>
          <a:prstGeom prst="rect">
            <a:avLst/>
          </a:prstGeom>
          <a:noFill/>
        </p:spPr>
        <p:txBody>
          <a:bodyPr vert="horz" wrap="square" lIns="0" tIns="0" rIns="76200" bIns="0" rtlCol="0">
            <a:noAutofit/>
          </a:bodyPr>
          <a:lstStyle/>
          <a:p>
            <a:r>
              <a:rPr lang="en-IN" sz="2400" b="1">
                <a:solidFill>
                  <a:srgbClr val="171C22"/>
                </a:solidFill>
                <a:latin typeface="Arial" panose="020B0604020202020204" pitchFamily="34" charset="0"/>
              </a:rPr>
              <a:t>Review &amp; assign</a:t>
            </a:r>
          </a:p>
        </p:txBody>
      </p:sp>
      <p:sp>
        <p:nvSpPr>
          <p:cNvPr id="13" name="TextBox 12">
            <a:extLst>
              <a:ext uri="{FF2B5EF4-FFF2-40B4-BE49-F238E27FC236}">
                <a16:creationId xmlns:a16="http://schemas.microsoft.com/office/drawing/2014/main" id="{01CB340F-0A08-9595-1954-B5849D4BE9B6}"/>
              </a:ext>
            </a:extLst>
          </p:cNvPr>
          <p:cNvSpPr txBox="1"/>
          <p:nvPr/>
        </p:nvSpPr>
        <p:spPr>
          <a:xfrm>
            <a:off x="4419600" y="3162299"/>
            <a:ext cx="3429000" cy="749300"/>
          </a:xfrm>
          <a:prstGeom prst="rect">
            <a:avLst/>
          </a:prstGeom>
          <a:noFill/>
        </p:spPr>
        <p:txBody>
          <a:bodyPr vert="horz" wrap="square" lIns="0" tIns="0" rIns="76200" bIns="0" rtlCol="0">
            <a:noAutofit/>
          </a:bodyPr>
          <a:lstStyle/>
          <a:p>
            <a:r>
              <a:rPr lang="en-US">
                <a:solidFill>
                  <a:srgbClr val="59616B"/>
                </a:solidFill>
                <a:latin typeface="Arial" panose="020B0604020202020204" pitchFamily="34" charset="0"/>
              </a:rPr>
              <a:t>4  Show photo and map
    on the dashboard</a:t>
            </a:r>
            <a:endParaRPr lang="en-IN">
              <a:solidFill>
                <a:srgbClr val="59616B"/>
              </a:solidFill>
              <a:latin typeface="Arial" panose="020B0604020202020204" pitchFamily="34" charset="0"/>
            </a:endParaRPr>
          </a:p>
        </p:txBody>
      </p:sp>
      <p:sp>
        <p:nvSpPr>
          <p:cNvPr id="14" name="TextBox 13">
            <a:extLst>
              <a:ext uri="{FF2B5EF4-FFF2-40B4-BE49-F238E27FC236}">
                <a16:creationId xmlns:a16="http://schemas.microsoft.com/office/drawing/2014/main" id="{A89282E2-6DCD-8515-69F7-81473D39A0CB}"/>
              </a:ext>
            </a:extLst>
          </p:cNvPr>
          <p:cNvSpPr txBox="1"/>
          <p:nvPr/>
        </p:nvSpPr>
        <p:spPr>
          <a:xfrm>
            <a:off x="4419600" y="3962399"/>
            <a:ext cx="3429000" cy="749300"/>
          </a:xfrm>
          <a:prstGeom prst="rect">
            <a:avLst/>
          </a:prstGeom>
          <a:noFill/>
        </p:spPr>
        <p:txBody>
          <a:bodyPr vert="horz" wrap="square" lIns="0" tIns="0" rIns="76200" bIns="0" rtlCol="0">
            <a:noAutofit/>
          </a:bodyPr>
          <a:lstStyle/>
          <a:p>
            <a:r>
              <a:rPr lang="en-US">
                <a:solidFill>
                  <a:srgbClr val="59616B"/>
                </a:solidFill>
                <a:latin typeface="Arial" panose="020B0604020202020204" pitchFamily="34" charset="0"/>
              </a:rPr>
              <a:t>5  Officer verifies the result</a:t>
            </a:r>
            <a:endParaRPr lang="en-IN">
              <a:solidFill>
                <a:srgbClr val="59616B"/>
              </a:solidFill>
              <a:latin typeface="Arial" panose="020B0604020202020204" pitchFamily="34" charset="0"/>
            </a:endParaRPr>
          </a:p>
        </p:txBody>
      </p:sp>
      <p:sp>
        <p:nvSpPr>
          <p:cNvPr id="15" name="TextBox 14">
            <a:extLst>
              <a:ext uri="{FF2B5EF4-FFF2-40B4-BE49-F238E27FC236}">
                <a16:creationId xmlns:a16="http://schemas.microsoft.com/office/drawing/2014/main" id="{C74E43D9-3B52-9EEB-0E9C-4FA7212F28AB}"/>
              </a:ext>
            </a:extLst>
          </p:cNvPr>
          <p:cNvSpPr txBox="1"/>
          <p:nvPr/>
        </p:nvSpPr>
        <p:spPr>
          <a:xfrm>
            <a:off x="4419600" y="4762499"/>
            <a:ext cx="3429000" cy="749300"/>
          </a:xfrm>
          <a:prstGeom prst="rect">
            <a:avLst/>
          </a:prstGeom>
          <a:noFill/>
        </p:spPr>
        <p:txBody>
          <a:bodyPr vert="horz" wrap="square" lIns="0" tIns="0" rIns="76200" bIns="0" rtlCol="0">
            <a:noAutofit/>
          </a:bodyPr>
          <a:lstStyle/>
          <a:p>
            <a:r>
              <a:rPr lang="en-US">
                <a:solidFill>
                  <a:srgbClr val="59616B"/>
                </a:solidFill>
                <a:latin typeface="Arial" panose="020B0604020202020204" pitchFamily="34" charset="0"/>
              </a:rPr>
              <a:t>6  Assign the approved case
    to a maintenance team</a:t>
            </a:r>
            <a:endParaRPr lang="en-IN">
              <a:solidFill>
                <a:srgbClr val="59616B"/>
              </a:solidFill>
              <a:latin typeface="Arial" panose="020B0604020202020204" pitchFamily="34" charset="0"/>
            </a:endParaRPr>
          </a:p>
        </p:txBody>
      </p:sp>
      <p:sp>
        <p:nvSpPr>
          <p:cNvPr id="16" name="TextBox 15">
            <a:extLst>
              <a:ext uri="{FF2B5EF4-FFF2-40B4-BE49-F238E27FC236}">
                <a16:creationId xmlns:a16="http://schemas.microsoft.com/office/drawing/2014/main" id="{2FB8D5DB-EA0B-91EF-96A6-61D973466F68}"/>
              </a:ext>
            </a:extLst>
          </p:cNvPr>
          <p:cNvSpPr txBox="1"/>
          <p:nvPr/>
        </p:nvSpPr>
        <p:spPr>
          <a:xfrm>
            <a:off x="8229600" y="2197099"/>
            <a:ext cx="3352800" cy="533400"/>
          </a:xfrm>
          <a:prstGeom prst="rect">
            <a:avLst/>
          </a:prstGeom>
          <a:noFill/>
        </p:spPr>
        <p:txBody>
          <a:bodyPr vert="horz" wrap="square" lIns="0" tIns="0" rIns="76200" bIns="0" rtlCol="0">
            <a:noAutofit/>
          </a:bodyPr>
          <a:lstStyle/>
          <a:p>
            <a:r>
              <a:rPr lang="en-IN" sz="2400" b="1">
                <a:solidFill>
                  <a:srgbClr val="171C22"/>
                </a:solidFill>
                <a:latin typeface="Arial" panose="020B0604020202020204" pitchFamily="34" charset="0"/>
              </a:rPr>
              <a:t>Repair &amp; retain</a:t>
            </a:r>
          </a:p>
        </p:txBody>
      </p:sp>
      <p:sp>
        <p:nvSpPr>
          <p:cNvPr id="17" name="TextBox 16">
            <a:extLst>
              <a:ext uri="{FF2B5EF4-FFF2-40B4-BE49-F238E27FC236}">
                <a16:creationId xmlns:a16="http://schemas.microsoft.com/office/drawing/2014/main" id="{8AFA70D1-261D-0471-EDA7-90298E5E4150}"/>
              </a:ext>
            </a:extLst>
          </p:cNvPr>
          <p:cNvSpPr txBox="1"/>
          <p:nvPr/>
        </p:nvSpPr>
        <p:spPr>
          <a:xfrm>
            <a:off x="8229600" y="3162299"/>
            <a:ext cx="3429000" cy="749300"/>
          </a:xfrm>
          <a:prstGeom prst="rect">
            <a:avLst/>
          </a:prstGeom>
          <a:noFill/>
        </p:spPr>
        <p:txBody>
          <a:bodyPr vert="horz" wrap="square" lIns="0" tIns="0" rIns="76200" bIns="0" rtlCol="0">
            <a:noAutofit/>
          </a:bodyPr>
          <a:lstStyle/>
          <a:p>
            <a:r>
              <a:rPr lang="en-US">
                <a:solidFill>
                  <a:srgbClr val="59616B"/>
                </a:solidFill>
                <a:latin typeface="Arial" panose="020B0604020202020204" pitchFamily="34" charset="0"/>
              </a:rPr>
              <a:t>7  Repair and upload
    after-repair photos</a:t>
            </a:r>
            <a:endParaRPr lang="en-IN">
              <a:solidFill>
                <a:srgbClr val="59616B"/>
              </a:solidFill>
              <a:latin typeface="Arial" panose="020B0604020202020204" pitchFamily="34" charset="0"/>
            </a:endParaRPr>
          </a:p>
        </p:txBody>
      </p:sp>
      <p:sp>
        <p:nvSpPr>
          <p:cNvPr id="18" name="TextBox 17">
            <a:extLst>
              <a:ext uri="{FF2B5EF4-FFF2-40B4-BE49-F238E27FC236}">
                <a16:creationId xmlns:a16="http://schemas.microsoft.com/office/drawing/2014/main" id="{89A13670-A39E-61D9-5BA3-8F06DA4F2D1B}"/>
              </a:ext>
            </a:extLst>
          </p:cNvPr>
          <p:cNvSpPr txBox="1"/>
          <p:nvPr/>
        </p:nvSpPr>
        <p:spPr>
          <a:xfrm>
            <a:off x="8229600" y="3962399"/>
            <a:ext cx="3429000" cy="749300"/>
          </a:xfrm>
          <a:prstGeom prst="rect">
            <a:avLst/>
          </a:prstGeom>
          <a:noFill/>
        </p:spPr>
        <p:txBody>
          <a:bodyPr vert="horz" wrap="square" lIns="0" tIns="0" rIns="76200" bIns="0" rtlCol="0">
            <a:noAutofit/>
          </a:bodyPr>
          <a:lstStyle/>
          <a:p>
            <a:r>
              <a:rPr lang="en-US">
                <a:solidFill>
                  <a:srgbClr val="59616B"/>
                </a:solidFill>
                <a:latin typeface="Arial" panose="020B0604020202020204" pitchFamily="34" charset="0"/>
              </a:rPr>
              <a:t>8  Officer checks and closes</a:t>
            </a:r>
            <a:endParaRPr lang="en-IN">
              <a:solidFill>
                <a:srgbClr val="59616B"/>
              </a:solidFill>
              <a:latin typeface="Arial" panose="020B0604020202020204" pitchFamily="34" charset="0"/>
            </a:endParaRPr>
          </a:p>
        </p:txBody>
      </p:sp>
      <p:sp>
        <p:nvSpPr>
          <p:cNvPr id="19" name="TextBox 18">
            <a:extLst>
              <a:ext uri="{FF2B5EF4-FFF2-40B4-BE49-F238E27FC236}">
                <a16:creationId xmlns:a16="http://schemas.microsoft.com/office/drawing/2014/main" id="{1916A305-1CEA-11F6-1488-99F3CB0DEBE6}"/>
              </a:ext>
            </a:extLst>
          </p:cNvPr>
          <p:cNvSpPr txBox="1"/>
          <p:nvPr/>
        </p:nvSpPr>
        <p:spPr>
          <a:xfrm>
            <a:off x="8229600" y="4762499"/>
            <a:ext cx="3429000" cy="749300"/>
          </a:xfrm>
          <a:prstGeom prst="rect">
            <a:avLst/>
          </a:prstGeom>
          <a:noFill/>
        </p:spPr>
        <p:txBody>
          <a:bodyPr vert="horz" wrap="square" lIns="0" tIns="0" rIns="76200" bIns="0" rtlCol="0">
            <a:noAutofit/>
          </a:bodyPr>
          <a:lstStyle/>
          <a:p>
            <a:r>
              <a:rPr lang="en-US">
                <a:solidFill>
                  <a:srgbClr val="59616B"/>
                </a:solidFill>
                <a:latin typeface="Arial" panose="020B0604020202020204" pitchFamily="34" charset="0"/>
              </a:rPr>
              <a:t>9  Retain reports, repairs
    and road history</a:t>
            </a:r>
            <a:endParaRPr lang="en-IN">
              <a:solidFill>
                <a:srgbClr val="59616B"/>
              </a:solidFill>
              <a:latin typeface="Arial" panose="020B0604020202020204" pitchFamily="34" charset="0"/>
            </a:endParaRPr>
          </a:p>
        </p:txBody>
      </p:sp>
      <p:cxnSp>
        <p:nvCxnSpPr>
          <p:cNvPr id="20" name="Straight Connector 19">
            <a:extLst>
              <a:ext uri="{FF2B5EF4-FFF2-40B4-BE49-F238E27FC236}">
                <a16:creationId xmlns:a16="http://schemas.microsoft.com/office/drawing/2014/main" id="{2BEF991F-7DBD-9537-DAA4-3C564848BE87}"/>
              </a:ext>
            </a:extLst>
          </p:cNvPr>
          <p:cNvCxnSpPr/>
          <p:nvPr/>
        </p:nvCxnSpPr>
        <p:spPr>
          <a:xfrm>
            <a:off x="609600" y="5664200"/>
            <a:ext cx="10972800" cy="0"/>
          </a:xfrm>
          <a:prstGeom prst="line">
            <a:avLst/>
          </a:prstGeom>
          <a:ln w="12700">
            <a:solidFill>
              <a:srgbClr val="D4D9DD"/>
            </a:solidFill>
          </a:ln>
        </p:spPr>
        <p:style>
          <a:lnRef idx="2">
            <a:schemeClr val="accent1"/>
          </a:lnRef>
          <a:fillRef idx="0">
            <a:schemeClr val="accent1"/>
          </a:fillRef>
          <a:effectRef idx="1">
            <a:schemeClr val="accent1"/>
          </a:effectRef>
          <a:fontRef idx="minor">
            <a:schemeClr val="tx1"/>
          </a:fontRef>
        </p:style>
      </p:cxnSp>
      <p:sp>
        <p:nvSpPr>
          <p:cNvPr id="21" name="TextBox 20">
            <a:extLst>
              <a:ext uri="{FF2B5EF4-FFF2-40B4-BE49-F238E27FC236}">
                <a16:creationId xmlns:a16="http://schemas.microsoft.com/office/drawing/2014/main" id="{9CD6C072-35D2-37B8-072B-3CC550854205}"/>
              </a:ext>
            </a:extLst>
          </p:cNvPr>
          <p:cNvSpPr txBox="1"/>
          <p:nvPr/>
        </p:nvSpPr>
        <p:spPr>
          <a:xfrm>
            <a:off x="609600" y="5841999"/>
            <a:ext cx="10972800" cy="482600"/>
          </a:xfrm>
          <a:prstGeom prst="rect">
            <a:avLst/>
          </a:prstGeom>
          <a:noFill/>
        </p:spPr>
        <p:txBody>
          <a:bodyPr vert="horz" wrap="square" lIns="0" tIns="0" rIns="76200" bIns="0" rtlCol="0">
            <a:noAutofit/>
          </a:bodyPr>
          <a:lstStyle/>
          <a:p>
            <a:r>
              <a:rPr lang="en-US" sz="1600">
                <a:solidFill>
                  <a:srgbClr val="176CA4"/>
                </a:solidFill>
                <a:latin typeface="Arial" panose="020B0604020202020204" pitchFamily="34" charset="0"/>
              </a:rPr>
              <a:t>AI recommendations remain provisional until an officer reviews them.</a:t>
            </a:r>
            <a:endParaRPr lang="en-IN" sz="1600">
              <a:solidFill>
                <a:srgbClr val="176CA4"/>
              </a:solidFill>
              <a:latin typeface="Arial" panose="020B0604020202020204" pitchFamily="34" charset="0"/>
            </a:endParaRPr>
          </a:p>
        </p:txBody>
      </p:sp>
    </p:spTree>
    <p:extLst>
      <p:ext uri="{BB962C8B-B14F-4D97-AF65-F5344CB8AC3E}">
        <p14:creationId xmlns:p14="http://schemas.microsoft.com/office/powerpoint/2010/main" val="33330866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725CAC9-C49B-ED1C-24A6-201066352DC6}"/>
              </a:ext>
            </a:extLst>
          </p:cNvPr>
          <p:cNvSpPr txBox="1"/>
          <p:nvPr/>
        </p:nvSpPr>
        <p:spPr>
          <a:xfrm>
            <a:off x="609600" y="330199"/>
            <a:ext cx="10414000" cy="279400"/>
          </a:xfrm>
          <a:prstGeom prst="rect">
            <a:avLst/>
          </a:prstGeom>
          <a:noFill/>
        </p:spPr>
        <p:txBody>
          <a:bodyPr vert="horz" wrap="square" lIns="0" tIns="0" rIns="76200" bIns="0" rtlCol="0">
            <a:noAutofit/>
          </a:bodyPr>
          <a:lstStyle/>
          <a:p>
            <a:r>
              <a:rPr lang="en-IN" sz="1200" b="1">
                <a:solidFill>
                  <a:srgbClr val="176CA4"/>
                </a:solidFill>
                <a:latin typeface="Arial" panose="020B0604020202020204" pitchFamily="34" charset="0"/>
              </a:rPr>
              <a:t>DETECTION METHODOLOGY</a:t>
            </a:r>
          </a:p>
        </p:txBody>
      </p:sp>
      <p:sp>
        <p:nvSpPr>
          <p:cNvPr id="3" name="TextBox 2">
            <a:extLst>
              <a:ext uri="{FF2B5EF4-FFF2-40B4-BE49-F238E27FC236}">
                <a16:creationId xmlns:a16="http://schemas.microsoft.com/office/drawing/2014/main" id="{6B308F88-D586-4253-6008-59E01E192676}"/>
              </a:ext>
            </a:extLst>
          </p:cNvPr>
          <p:cNvSpPr txBox="1"/>
          <p:nvPr/>
        </p:nvSpPr>
        <p:spPr>
          <a:xfrm>
            <a:off x="609600" y="876299"/>
            <a:ext cx="10972800" cy="1130300"/>
          </a:xfrm>
          <a:prstGeom prst="rect">
            <a:avLst/>
          </a:prstGeom>
          <a:noFill/>
        </p:spPr>
        <p:txBody>
          <a:bodyPr vert="horz" wrap="square" lIns="0" tIns="0" rIns="76200" bIns="0" rtlCol="0">
            <a:noAutofit/>
          </a:bodyPr>
          <a:lstStyle/>
          <a:p>
            <a:r>
              <a:rPr lang="en-US" sz="3500" b="1">
                <a:solidFill>
                  <a:srgbClr val="171C22"/>
                </a:solidFill>
                <a:latin typeface="Arial" panose="020B0604020202020204" pitchFamily="34" charset="0"/>
              </a:rPr>
              <a:t>The AI creates an evidence-backed report</a:t>
            </a:r>
            <a:endParaRPr lang="en-IN" sz="3500" b="1">
              <a:solidFill>
                <a:srgbClr val="171C22"/>
              </a:solidFill>
              <a:latin typeface="Arial" panose="020B0604020202020204" pitchFamily="34" charset="0"/>
            </a:endParaRPr>
          </a:p>
        </p:txBody>
      </p:sp>
      <p:cxnSp>
        <p:nvCxnSpPr>
          <p:cNvPr id="4" name="Straight Connector 3">
            <a:extLst>
              <a:ext uri="{FF2B5EF4-FFF2-40B4-BE49-F238E27FC236}">
                <a16:creationId xmlns:a16="http://schemas.microsoft.com/office/drawing/2014/main" id="{32857A49-D411-D303-B4FC-4E704B15DF51}"/>
              </a:ext>
            </a:extLst>
          </p:cNvPr>
          <p:cNvCxnSpPr/>
          <p:nvPr/>
        </p:nvCxnSpPr>
        <p:spPr>
          <a:xfrm>
            <a:off x="609600" y="6362700"/>
            <a:ext cx="10972800" cy="0"/>
          </a:xfrm>
          <a:prstGeom prst="line">
            <a:avLst/>
          </a:prstGeom>
          <a:ln w="12700">
            <a:solidFill>
              <a:srgbClr val="D4D9DD"/>
            </a:solidFill>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DBA220BA-77EC-3AC9-94A4-BA541214C63D}"/>
              </a:ext>
            </a:extLst>
          </p:cNvPr>
          <p:cNvSpPr txBox="1"/>
          <p:nvPr/>
        </p:nvSpPr>
        <p:spPr>
          <a:xfrm>
            <a:off x="609600" y="6477000"/>
            <a:ext cx="8890000" cy="228600"/>
          </a:xfrm>
          <a:prstGeom prst="rect">
            <a:avLst/>
          </a:prstGeom>
          <a:noFill/>
        </p:spPr>
        <p:txBody>
          <a:bodyPr vert="horz" wrap="square" lIns="0" tIns="0" rIns="76200" bIns="0" rtlCol="0">
            <a:noAutofit/>
          </a:bodyPr>
          <a:lstStyle/>
          <a:p>
            <a:r>
              <a:rPr lang="en-IN" sz="1000">
                <a:solidFill>
                  <a:srgbClr val="59616B"/>
                </a:solidFill>
                <a:latin typeface="Arial" panose="020B0604020202020204" pitchFamily="34" charset="0"/>
              </a:rPr>
              <a:t>ROAD DAMAGE DETECTION  /  GECB</a:t>
            </a:r>
          </a:p>
        </p:txBody>
      </p:sp>
      <p:sp>
        <p:nvSpPr>
          <p:cNvPr id="6" name="TextBox 5">
            <a:extLst>
              <a:ext uri="{FF2B5EF4-FFF2-40B4-BE49-F238E27FC236}">
                <a16:creationId xmlns:a16="http://schemas.microsoft.com/office/drawing/2014/main" id="{DB153F9C-0DC7-E87D-B0F2-FAA20628C99F}"/>
              </a:ext>
            </a:extLst>
          </p:cNvPr>
          <p:cNvSpPr txBox="1"/>
          <p:nvPr/>
        </p:nvSpPr>
        <p:spPr>
          <a:xfrm>
            <a:off x="10617200" y="6477000"/>
            <a:ext cx="965200" cy="228600"/>
          </a:xfrm>
          <a:prstGeom prst="rect">
            <a:avLst/>
          </a:prstGeom>
          <a:noFill/>
        </p:spPr>
        <p:txBody>
          <a:bodyPr vert="horz" wrap="square" lIns="0" tIns="0" rIns="76200" bIns="0" rtlCol="0">
            <a:noAutofit/>
          </a:bodyPr>
          <a:lstStyle/>
          <a:p>
            <a:pPr algn="r"/>
            <a:r>
              <a:rPr lang="en-IN" sz="1000">
                <a:solidFill>
                  <a:srgbClr val="59616B"/>
                </a:solidFill>
                <a:latin typeface="Arial" panose="020B0604020202020204" pitchFamily="34" charset="0"/>
              </a:rPr>
              <a:t>06 / 12</a:t>
            </a:r>
          </a:p>
        </p:txBody>
      </p:sp>
      <p:sp>
        <p:nvSpPr>
          <p:cNvPr id="7" name="TextBox 6">
            <a:extLst>
              <a:ext uri="{FF2B5EF4-FFF2-40B4-BE49-F238E27FC236}">
                <a16:creationId xmlns:a16="http://schemas.microsoft.com/office/drawing/2014/main" id="{9F6E2EBF-A782-3DA8-8123-662C15C5F9D4}"/>
              </a:ext>
            </a:extLst>
          </p:cNvPr>
          <p:cNvSpPr txBox="1"/>
          <p:nvPr/>
        </p:nvSpPr>
        <p:spPr>
          <a:xfrm>
            <a:off x="609600" y="2171699"/>
            <a:ext cx="6451600" cy="431800"/>
          </a:xfrm>
          <a:prstGeom prst="rect">
            <a:avLst/>
          </a:prstGeom>
          <a:noFill/>
        </p:spPr>
        <p:txBody>
          <a:bodyPr vert="horz" wrap="square" lIns="0" tIns="0" rIns="76200" bIns="0" rtlCol="0">
            <a:noAutofit/>
          </a:bodyPr>
          <a:lstStyle/>
          <a:p>
            <a:r>
              <a:rPr lang="en-IN" sz="2400" b="1">
                <a:solidFill>
                  <a:srgbClr val="171C22"/>
                </a:solidFill>
                <a:latin typeface="Arial" panose="020B0604020202020204" pitchFamily="34" charset="0"/>
              </a:rPr>
              <a:t>Validate the input</a:t>
            </a:r>
          </a:p>
        </p:txBody>
      </p:sp>
      <p:sp>
        <p:nvSpPr>
          <p:cNvPr id="8" name="TextBox 7">
            <a:extLst>
              <a:ext uri="{FF2B5EF4-FFF2-40B4-BE49-F238E27FC236}">
                <a16:creationId xmlns:a16="http://schemas.microsoft.com/office/drawing/2014/main" id="{187CB67C-BE02-C45B-5969-235C605F3507}"/>
              </a:ext>
            </a:extLst>
          </p:cNvPr>
          <p:cNvSpPr txBox="1"/>
          <p:nvPr/>
        </p:nvSpPr>
        <p:spPr>
          <a:xfrm>
            <a:off x="609600" y="2628899"/>
            <a:ext cx="6451600" cy="673100"/>
          </a:xfrm>
          <a:prstGeom prst="rect">
            <a:avLst/>
          </a:prstGeom>
          <a:noFill/>
        </p:spPr>
        <p:txBody>
          <a:bodyPr vert="horz" wrap="square" lIns="0" tIns="0" rIns="76200" bIns="0" rtlCol="0">
            <a:noAutofit/>
          </a:bodyPr>
          <a:lstStyle/>
          <a:p>
            <a:r>
              <a:rPr lang="en-US">
                <a:solidFill>
                  <a:srgbClr val="59616B"/>
                </a:solidFill>
                <a:latin typeface="Arial" panose="020B0604020202020204" pitchFamily="34" charset="0"/>
              </a:rPr>
              <a:t>Check file quality and capture time; sample usable video frames.</a:t>
            </a:r>
            <a:endParaRPr lang="en-IN">
              <a:solidFill>
                <a:srgbClr val="59616B"/>
              </a:solidFill>
              <a:latin typeface="Arial" panose="020B0604020202020204" pitchFamily="34" charset="0"/>
            </a:endParaRPr>
          </a:p>
        </p:txBody>
      </p:sp>
      <p:sp>
        <p:nvSpPr>
          <p:cNvPr id="9" name="TextBox 8">
            <a:extLst>
              <a:ext uri="{FF2B5EF4-FFF2-40B4-BE49-F238E27FC236}">
                <a16:creationId xmlns:a16="http://schemas.microsoft.com/office/drawing/2014/main" id="{B9D0026E-0F2E-EFE1-023A-DCBBB57147CE}"/>
              </a:ext>
            </a:extLst>
          </p:cNvPr>
          <p:cNvSpPr txBox="1"/>
          <p:nvPr/>
        </p:nvSpPr>
        <p:spPr>
          <a:xfrm>
            <a:off x="609600" y="3289299"/>
            <a:ext cx="6451600" cy="431800"/>
          </a:xfrm>
          <a:prstGeom prst="rect">
            <a:avLst/>
          </a:prstGeom>
          <a:noFill/>
        </p:spPr>
        <p:txBody>
          <a:bodyPr vert="horz" wrap="square" lIns="0" tIns="0" rIns="76200" bIns="0" rtlCol="0">
            <a:noAutofit/>
          </a:bodyPr>
          <a:lstStyle/>
          <a:p>
            <a:r>
              <a:rPr lang="en-IN" sz="2400" b="1">
                <a:solidFill>
                  <a:srgbClr val="171C22"/>
                </a:solidFill>
                <a:latin typeface="Arial" panose="020B0604020202020204" pitchFamily="34" charset="0"/>
              </a:rPr>
              <a:t>Run the detector</a:t>
            </a:r>
          </a:p>
        </p:txBody>
      </p:sp>
      <p:sp>
        <p:nvSpPr>
          <p:cNvPr id="10" name="TextBox 9">
            <a:extLst>
              <a:ext uri="{FF2B5EF4-FFF2-40B4-BE49-F238E27FC236}">
                <a16:creationId xmlns:a16="http://schemas.microsoft.com/office/drawing/2014/main" id="{C2F35C0D-E043-6AA2-2038-C336D13BC609}"/>
              </a:ext>
            </a:extLst>
          </p:cNvPr>
          <p:cNvSpPr txBox="1"/>
          <p:nvPr/>
        </p:nvSpPr>
        <p:spPr>
          <a:xfrm>
            <a:off x="609600" y="3746499"/>
            <a:ext cx="6451600" cy="673100"/>
          </a:xfrm>
          <a:prstGeom prst="rect">
            <a:avLst/>
          </a:prstGeom>
          <a:noFill/>
        </p:spPr>
        <p:txBody>
          <a:bodyPr vert="horz" wrap="square" lIns="0" tIns="0" rIns="76200" bIns="0" rtlCol="0">
            <a:noAutofit/>
          </a:bodyPr>
          <a:lstStyle/>
          <a:p>
            <a:r>
              <a:rPr lang="en-US">
                <a:solidFill>
                  <a:srgbClr val="59616B"/>
                </a:solidFill>
                <a:latin typeface="Arial" panose="020B0604020202020204" pitchFamily="34" charset="0"/>
              </a:rPr>
              <a:t>Retain the damage label, bounding box, confidence and model version.</a:t>
            </a:r>
            <a:endParaRPr lang="en-IN">
              <a:solidFill>
                <a:srgbClr val="59616B"/>
              </a:solidFill>
              <a:latin typeface="Arial" panose="020B0604020202020204" pitchFamily="34" charset="0"/>
            </a:endParaRPr>
          </a:p>
        </p:txBody>
      </p:sp>
      <p:sp>
        <p:nvSpPr>
          <p:cNvPr id="11" name="TextBox 10">
            <a:extLst>
              <a:ext uri="{FF2B5EF4-FFF2-40B4-BE49-F238E27FC236}">
                <a16:creationId xmlns:a16="http://schemas.microsoft.com/office/drawing/2014/main" id="{3C8846C5-6905-7AA8-24CC-CA3B771DF740}"/>
              </a:ext>
            </a:extLst>
          </p:cNvPr>
          <p:cNvSpPr txBox="1"/>
          <p:nvPr/>
        </p:nvSpPr>
        <p:spPr>
          <a:xfrm>
            <a:off x="609600" y="4406899"/>
            <a:ext cx="6451600" cy="431800"/>
          </a:xfrm>
          <a:prstGeom prst="rect">
            <a:avLst/>
          </a:prstGeom>
          <a:noFill/>
        </p:spPr>
        <p:txBody>
          <a:bodyPr vert="horz" wrap="square" lIns="0" tIns="0" rIns="76200" bIns="0" rtlCol="0">
            <a:noAutofit/>
          </a:bodyPr>
          <a:lstStyle/>
          <a:p>
            <a:r>
              <a:rPr lang="en-IN" sz="2400" b="1">
                <a:solidFill>
                  <a:srgbClr val="171C22"/>
                </a:solidFill>
                <a:latin typeface="Arial" panose="020B0604020202020204" pitchFamily="34" charset="0"/>
              </a:rPr>
              <a:t>Attach the location</a:t>
            </a:r>
          </a:p>
        </p:txBody>
      </p:sp>
      <p:sp>
        <p:nvSpPr>
          <p:cNvPr id="12" name="TextBox 11">
            <a:extLst>
              <a:ext uri="{FF2B5EF4-FFF2-40B4-BE49-F238E27FC236}">
                <a16:creationId xmlns:a16="http://schemas.microsoft.com/office/drawing/2014/main" id="{F57E10EB-8339-BB19-D468-0B039C1EAF18}"/>
              </a:ext>
            </a:extLst>
          </p:cNvPr>
          <p:cNvSpPr txBox="1"/>
          <p:nvPr/>
        </p:nvSpPr>
        <p:spPr>
          <a:xfrm>
            <a:off x="609600" y="4864099"/>
            <a:ext cx="6451600" cy="673100"/>
          </a:xfrm>
          <a:prstGeom prst="rect">
            <a:avLst/>
          </a:prstGeom>
          <a:noFill/>
        </p:spPr>
        <p:txBody>
          <a:bodyPr vert="horz" wrap="square" lIns="0" tIns="0" rIns="76200" bIns="0" rtlCol="0">
            <a:noAutofit/>
          </a:bodyPr>
          <a:lstStyle/>
          <a:p>
            <a:r>
              <a:rPr lang="en-US">
                <a:solidFill>
                  <a:srgbClr val="59616B"/>
                </a:solidFill>
                <a:latin typeface="Arial" panose="020B0604020202020204" pitchFamily="34" charset="0"/>
              </a:rPr>
              <a:t>Use capture GPS or a synchronized log; group repeated observations.</a:t>
            </a:r>
            <a:endParaRPr lang="en-IN">
              <a:solidFill>
                <a:srgbClr val="59616B"/>
              </a:solidFill>
              <a:latin typeface="Arial" panose="020B0604020202020204" pitchFamily="34" charset="0"/>
            </a:endParaRPr>
          </a:p>
        </p:txBody>
      </p:sp>
      <p:cxnSp>
        <p:nvCxnSpPr>
          <p:cNvPr id="13" name="Straight Connector 12">
            <a:extLst>
              <a:ext uri="{FF2B5EF4-FFF2-40B4-BE49-F238E27FC236}">
                <a16:creationId xmlns:a16="http://schemas.microsoft.com/office/drawing/2014/main" id="{2D0ADF82-132C-9120-CDDD-53EF60213A26}"/>
              </a:ext>
            </a:extLst>
          </p:cNvPr>
          <p:cNvCxnSpPr/>
          <p:nvPr/>
        </p:nvCxnSpPr>
        <p:spPr>
          <a:xfrm>
            <a:off x="7569200" y="2197100"/>
            <a:ext cx="0" cy="3073400"/>
          </a:xfrm>
          <a:prstGeom prst="line">
            <a:avLst/>
          </a:prstGeom>
          <a:ln w="12700">
            <a:solidFill>
              <a:srgbClr val="D4D9DD"/>
            </a:solidFill>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A436165E-D91C-977D-1F6D-DE68FCCFDD8A}"/>
              </a:ext>
            </a:extLst>
          </p:cNvPr>
          <p:cNvSpPr txBox="1"/>
          <p:nvPr/>
        </p:nvSpPr>
        <p:spPr>
          <a:xfrm>
            <a:off x="8064500" y="2197099"/>
            <a:ext cx="3517900" cy="762000"/>
          </a:xfrm>
          <a:prstGeom prst="rect">
            <a:avLst/>
          </a:prstGeom>
          <a:noFill/>
        </p:spPr>
        <p:txBody>
          <a:bodyPr vert="horz" wrap="square" lIns="0" tIns="0" rIns="76200" bIns="0" rtlCol="0">
            <a:noAutofit/>
          </a:bodyPr>
          <a:lstStyle/>
          <a:p>
            <a:r>
              <a:rPr lang="en-IN" sz="2400" b="1">
                <a:solidFill>
                  <a:srgbClr val="176CA4"/>
                </a:solidFill>
                <a:latin typeface="Arial" panose="020B0604020202020204" pitchFamily="34" charset="0"/>
              </a:rPr>
              <a:t>Target damage classes</a:t>
            </a:r>
          </a:p>
        </p:txBody>
      </p:sp>
      <p:sp>
        <p:nvSpPr>
          <p:cNvPr id="15" name="TextBox 14">
            <a:extLst>
              <a:ext uri="{FF2B5EF4-FFF2-40B4-BE49-F238E27FC236}">
                <a16:creationId xmlns:a16="http://schemas.microsoft.com/office/drawing/2014/main" id="{F5144C84-1571-8984-A9BD-54FB61424160}"/>
              </a:ext>
            </a:extLst>
          </p:cNvPr>
          <p:cNvSpPr txBox="1"/>
          <p:nvPr/>
        </p:nvSpPr>
        <p:spPr>
          <a:xfrm>
            <a:off x="8064500" y="3238499"/>
            <a:ext cx="3517900" cy="1765300"/>
          </a:xfrm>
          <a:prstGeom prst="rect">
            <a:avLst/>
          </a:prstGeom>
          <a:noFill/>
        </p:spPr>
        <p:txBody>
          <a:bodyPr vert="horz" wrap="square" lIns="0" tIns="0" rIns="76200" bIns="0" rtlCol="0">
            <a:noAutofit/>
          </a:bodyPr>
          <a:lstStyle/>
          <a:p>
            <a:r>
              <a:rPr lang="en-US" sz="2000">
                <a:solidFill>
                  <a:srgbClr val="171C22"/>
                </a:solidFill>
                <a:latin typeface="Arial" panose="020B0604020202020204" pitchFamily="34" charset="0"/>
              </a:rPr>
              <a:t>Potholes
Longitudinal cracks
Transverse cracks
Alligator cracks</a:t>
            </a:r>
            <a:endParaRPr lang="en-IN" sz="2000">
              <a:solidFill>
                <a:srgbClr val="171C22"/>
              </a:solidFill>
              <a:latin typeface="Arial" panose="020B0604020202020204" pitchFamily="34" charset="0"/>
            </a:endParaRPr>
          </a:p>
        </p:txBody>
      </p:sp>
      <p:sp>
        <p:nvSpPr>
          <p:cNvPr id="16" name="TextBox 15">
            <a:extLst>
              <a:ext uri="{FF2B5EF4-FFF2-40B4-BE49-F238E27FC236}">
                <a16:creationId xmlns:a16="http://schemas.microsoft.com/office/drawing/2014/main" id="{4CDC5227-9C2E-407A-8960-16F6CCE7CD64}"/>
              </a:ext>
            </a:extLst>
          </p:cNvPr>
          <p:cNvSpPr txBox="1"/>
          <p:nvPr/>
        </p:nvSpPr>
        <p:spPr>
          <a:xfrm>
            <a:off x="8064500" y="5105399"/>
            <a:ext cx="3517900" cy="406400"/>
          </a:xfrm>
          <a:prstGeom prst="rect">
            <a:avLst/>
          </a:prstGeom>
          <a:noFill/>
        </p:spPr>
        <p:txBody>
          <a:bodyPr vert="horz" wrap="square" lIns="0" tIns="0" rIns="76200" bIns="0" rtlCol="0">
            <a:noAutofit/>
          </a:bodyPr>
          <a:lstStyle/>
          <a:p>
            <a:r>
              <a:rPr lang="en-IN" sz="1600">
                <a:solidFill>
                  <a:srgbClr val="59616B"/>
                </a:solidFill>
                <a:latin typeface="Arial" panose="020B0604020202020204" pitchFamily="34" charset="0"/>
              </a:rPr>
              <a:t>Subject to checkpoint support.</a:t>
            </a:r>
          </a:p>
        </p:txBody>
      </p:sp>
      <p:cxnSp>
        <p:nvCxnSpPr>
          <p:cNvPr id="17" name="Straight Connector 16">
            <a:extLst>
              <a:ext uri="{FF2B5EF4-FFF2-40B4-BE49-F238E27FC236}">
                <a16:creationId xmlns:a16="http://schemas.microsoft.com/office/drawing/2014/main" id="{AAC4628B-ECBD-18F9-E368-AEAD1FA448F2}"/>
              </a:ext>
            </a:extLst>
          </p:cNvPr>
          <p:cNvCxnSpPr/>
          <p:nvPr/>
        </p:nvCxnSpPr>
        <p:spPr>
          <a:xfrm>
            <a:off x="609600" y="5664200"/>
            <a:ext cx="10972800" cy="0"/>
          </a:xfrm>
          <a:prstGeom prst="line">
            <a:avLst/>
          </a:prstGeom>
          <a:ln w="12700">
            <a:solidFill>
              <a:srgbClr val="D4D9DD"/>
            </a:solidFill>
          </a:ln>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DB447AB3-D60E-A619-497E-94F70502E8F0}"/>
              </a:ext>
            </a:extLst>
          </p:cNvPr>
          <p:cNvSpPr txBox="1"/>
          <p:nvPr/>
        </p:nvSpPr>
        <p:spPr>
          <a:xfrm>
            <a:off x="609600" y="5841999"/>
            <a:ext cx="10972800" cy="482600"/>
          </a:xfrm>
          <a:prstGeom prst="rect">
            <a:avLst/>
          </a:prstGeom>
          <a:noFill/>
        </p:spPr>
        <p:txBody>
          <a:bodyPr vert="horz" wrap="square" lIns="0" tIns="0" rIns="76200" bIns="0" rtlCol="0">
            <a:noAutofit/>
          </a:bodyPr>
          <a:lstStyle/>
          <a:p>
            <a:r>
              <a:rPr lang="en-US" sz="1600">
                <a:solidFill>
                  <a:srgbClr val="176CA4"/>
                </a:solidFill>
                <a:latin typeface="Arial" panose="020B0604020202020204" pitchFamily="34" charset="0"/>
              </a:rPr>
              <a:t>Missing GPS needs correction or a clearly labelled manual location.</a:t>
            </a:r>
            <a:endParaRPr lang="en-IN" sz="1600">
              <a:solidFill>
                <a:srgbClr val="176CA4"/>
              </a:solidFill>
              <a:latin typeface="Arial" panose="020B0604020202020204" pitchFamily="34" charset="0"/>
            </a:endParaRPr>
          </a:p>
        </p:txBody>
      </p:sp>
    </p:spTree>
    <p:extLst>
      <p:ext uri="{BB962C8B-B14F-4D97-AF65-F5344CB8AC3E}">
        <p14:creationId xmlns:p14="http://schemas.microsoft.com/office/powerpoint/2010/main" val="10499723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A0E7C82-01C5-B78E-77E3-1145EB052859}"/>
              </a:ext>
            </a:extLst>
          </p:cNvPr>
          <p:cNvSpPr txBox="1"/>
          <p:nvPr/>
        </p:nvSpPr>
        <p:spPr>
          <a:xfrm>
            <a:off x="609600" y="330199"/>
            <a:ext cx="10414000" cy="279400"/>
          </a:xfrm>
          <a:prstGeom prst="rect">
            <a:avLst/>
          </a:prstGeom>
          <a:noFill/>
        </p:spPr>
        <p:txBody>
          <a:bodyPr vert="horz" wrap="square" lIns="0" tIns="0" rIns="76200" bIns="0" rtlCol="0">
            <a:noAutofit/>
          </a:bodyPr>
          <a:lstStyle/>
          <a:p>
            <a:r>
              <a:rPr lang="en-IN" sz="1200" b="1">
                <a:solidFill>
                  <a:srgbClr val="176CA4"/>
                </a:solidFill>
                <a:latin typeface="Arial" panose="020B0604020202020204" pitchFamily="34" charset="0"/>
              </a:rPr>
              <a:t>ASSESSMENT &amp; ROAD CONDITION</a:t>
            </a:r>
          </a:p>
        </p:txBody>
      </p:sp>
      <p:sp>
        <p:nvSpPr>
          <p:cNvPr id="3" name="TextBox 2">
            <a:extLst>
              <a:ext uri="{FF2B5EF4-FFF2-40B4-BE49-F238E27FC236}">
                <a16:creationId xmlns:a16="http://schemas.microsoft.com/office/drawing/2014/main" id="{1B01AD75-E549-D93A-BECA-21C6FF1D6D89}"/>
              </a:ext>
            </a:extLst>
          </p:cNvPr>
          <p:cNvSpPr txBox="1"/>
          <p:nvPr/>
        </p:nvSpPr>
        <p:spPr>
          <a:xfrm>
            <a:off x="609600" y="876299"/>
            <a:ext cx="10972800" cy="1130300"/>
          </a:xfrm>
          <a:prstGeom prst="rect">
            <a:avLst/>
          </a:prstGeom>
          <a:noFill/>
        </p:spPr>
        <p:txBody>
          <a:bodyPr vert="horz" wrap="square" lIns="0" tIns="0" rIns="76200" bIns="0" rtlCol="0">
            <a:noAutofit/>
          </a:bodyPr>
          <a:lstStyle/>
          <a:p>
            <a:r>
              <a:rPr lang="en-US" sz="3500" b="1">
                <a:solidFill>
                  <a:srgbClr val="171C22"/>
                </a:solidFill>
                <a:latin typeface="Arial" panose="020B0604020202020204" pitchFamily="34" charset="0"/>
              </a:rPr>
              <a:t>Severity and priority are different</a:t>
            </a:r>
            <a:endParaRPr lang="en-IN" sz="3500" b="1">
              <a:solidFill>
                <a:srgbClr val="171C22"/>
              </a:solidFill>
              <a:latin typeface="Arial" panose="020B0604020202020204" pitchFamily="34" charset="0"/>
            </a:endParaRPr>
          </a:p>
        </p:txBody>
      </p:sp>
      <p:cxnSp>
        <p:nvCxnSpPr>
          <p:cNvPr id="4" name="Straight Connector 3">
            <a:extLst>
              <a:ext uri="{FF2B5EF4-FFF2-40B4-BE49-F238E27FC236}">
                <a16:creationId xmlns:a16="http://schemas.microsoft.com/office/drawing/2014/main" id="{6C36833C-0358-DCD3-35B4-338CCFDA7D99}"/>
              </a:ext>
            </a:extLst>
          </p:cNvPr>
          <p:cNvCxnSpPr/>
          <p:nvPr/>
        </p:nvCxnSpPr>
        <p:spPr>
          <a:xfrm>
            <a:off x="609600" y="6362700"/>
            <a:ext cx="10972800" cy="0"/>
          </a:xfrm>
          <a:prstGeom prst="line">
            <a:avLst/>
          </a:prstGeom>
          <a:ln w="12700">
            <a:solidFill>
              <a:srgbClr val="D4D9DD"/>
            </a:solidFill>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0B758802-7A0C-9303-B40E-9C22E5B2B715}"/>
              </a:ext>
            </a:extLst>
          </p:cNvPr>
          <p:cNvSpPr txBox="1"/>
          <p:nvPr/>
        </p:nvSpPr>
        <p:spPr>
          <a:xfrm>
            <a:off x="609600" y="6477000"/>
            <a:ext cx="8890000" cy="228600"/>
          </a:xfrm>
          <a:prstGeom prst="rect">
            <a:avLst/>
          </a:prstGeom>
          <a:noFill/>
        </p:spPr>
        <p:txBody>
          <a:bodyPr vert="horz" wrap="square" lIns="0" tIns="0" rIns="76200" bIns="0" rtlCol="0">
            <a:noAutofit/>
          </a:bodyPr>
          <a:lstStyle/>
          <a:p>
            <a:r>
              <a:rPr lang="en-IN" sz="1000">
                <a:solidFill>
                  <a:srgbClr val="59616B"/>
                </a:solidFill>
                <a:latin typeface="Arial" panose="020B0604020202020204" pitchFamily="34" charset="0"/>
              </a:rPr>
              <a:t>ROAD DAMAGE DETECTION  /  GECB</a:t>
            </a:r>
          </a:p>
        </p:txBody>
      </p:sp>
      <p:sp>
        <p:nvSpPr>
          <p:cNvPr id="6" name="TextBox 5">
            <a:extLst>
              <a:ext uri="{FF2B5EF4-FFF2-40B4-BE49-F238E27FC236}">
                <a16:creationId xmlns:a16="http://schemas.microsoft.com/office/drawing/2014/main" id="{23BE5403-2D5B-E2DE-0089-5FE90EFC1E37}"/>
              </a:ext>
            </a:extLst>
          </p:cNvPr>
          <p:cNvSpPr txBox="1"/>
          <p:nvPr/>
        </p:nvSpPr>
        <p:spPr>
          <a:xfrm>
            <a:off x="10617200" y="6477000"/>
            <a:ext cx="965200" cy="228600"/>
          </a:xfrm>
          <a:prstGeom prst="rect">
            <a:avLst/>
          </a:prstGeom>
          <a:noFill/>
        </p:spPr>
        <p:txBody>
          <a:bodyPr vert="horz" wrap="square" lIns="0" tIns="0" rIns="76200" bIns="0" rtlCol="0">
            <a:noAutofit/>
          </a:bodyPr>
          <a:lstStyle/>
          <a:p>
            <a:pPr algn="r"/>
            <a:r>
              <a:rPr lang="en-IN" sz="1000">
                <a:solidFill>
                  <a:srgbClr val="59616B"/>
                </a:solidFill>
                <a:latin typeface="Arial" panose="020B0604020202020204" pitchFamily="34" charset="0"/>
              </a:rPr>
              <a:t>07 / 12</a:t>
            </a:r>
          </a:p>
        </p:txBody>
      </p:sp>
      <p:sp>
        <p:nvSpPr>
          <p:cNvPr id="7" name="TextBox 6">
            <a:extLst>
              <a:ext uri="{FF2B5EF4-FFF2-40B4-BE49-F238E27FC236}">
                <a16:creationId xmlns:a16="http://schemas.microsoft.com/office/drawing/2014/main" id="{B50449FD-8897-9AE7-4BE7-ED4D71511B49}"/>
              </a:ext>
            </a:extLst>
          </p:cNvPr>
          <p:cNvSpPr txBox="1"/>
          <p:nvPr/>
        </p:nvSpPr>
        <p:spPr>
          <a:xfrm>
            <a:off x="609600" y="2311399"/>
            <a:ext cx="3352800" cy="508000"/>
          </a:xfrm>
          <a:prstGeom prst="rect">
            <a:avLst/>
          </a:prstGeom>
          <a:noFill/>
        </p:spPr>
        <p:txBody>
          <a:bodyPr vert="horz" wrap="square" lIns="0" tIns="0" rIns="76200" bIns="0" rtlCol="0">
            <a:noAutofit/>
          </a:bodyPr>
          <a:lstStyle/>
          <a:p>
            <a:r>
              <a:rPr lang="en-IN" sz="2400" b="1">
                <a:solidFill>
                  <a:srgbClr val="176CA4"/>
                </a:solidFill>
                <a:latin typeface="Arial" panose="020B0604020202020204" pitchFamily="34" charset="0"/>
              </a:rPr>
              <a:t>Severity</a:t>
            </a:r>
          </a:p>
        </p:txBody>
      </p:sp>
      <p:sp>
        <p:nvSpPr>
          <p:cNvPr id="8" name="TextBox 7">
            <a:extLst>
              <a:ext uri="{FF2B5EF4-FFF2-40B4-BE49-F238E27FC236}">
                <a16:creationId xmlns:a16="http://schemas.microsoft.com/office/drawing/2014/main" id="{A8898A3D-DEAC-D264-D216-437B8EA75B7C}"/>
              </a:ext>
            </a:extLst>
          </p:cNvPr>
          <p:cNvSpPr txBox="1"/>
          <p:nvPr/>
        </p:nvSpPr>
        <p:spPr>
          <a:xfrm>
            <a:off x="609600" y="3047999"/>
            <a:ext cx="3352800" cy="1003300"/>
          </a:xfrm>
          <a:prstGeom prst="rect">
            <a:avLst/>
          </a:prstGeom>
          <a:noFill/>
        </p:spPr>
        <p:txBody>
          <a:bodyPr vert="horz" wrap="square" lIns="0" tIns="0" rIns="76200" bIns="0" rtlCol="0">
            <a:noAutofit/>
          </a:bodyPr>
          <a:lstStyle/>
          <a:p>
            <a:r>
              <a:rPr lang="en-US" sz="2200" b="1">
                <a:solidFill>
                  <a:srgbClr val="171C22"/>
                </a:solidFill>
                <a:latin typeface="Arial" panose="020B0604020202020204" pitchFamily="34" charset="0"/>
              </a:rPr>
              <a:t>How concerning does the visible damage appear?</a:t>
            </a:r>
            <a:endParaRPr lang="en-IN" sz="2200" b="1">
              <a:solidFill>
                <a:srgbClr val="171C22"/>
              </a:solidFill>
              <a:latin typeface="Arial" panose="020B0604020202020204" pitchFamily="34" charset="0"/>
            </a:endParaRPr>
          </a:p>
        </p:txBody>
      </p:sp>
      <p:sp>
        <p:nvSpPr>
          <p:cNvPr id="9" name="TextBox 8">
            <a:extLst>
              <a:ext uri="{FF2B5EF4-FFF2-40B4-BE49-F238E27FC236}">
                <a16:creationId xmlns:a16="http://schemas.microsoft.com/office/drawing/2014/main" id="{321CC75E-FBE6-92F8-4765-B75E126BC720}"/>
              </a:ext>
            </a:extLst>
          </p:cNvPr>
          <p:cNvSpPr txBox="1"/>
          <p:nvPr/>
        </p:nvSpPr>
        <p:spPr>
          <a:xfrm>
            <a:off x="609600" y="4292599"/>
            <a:ext cx="3352800" cy="1270000"/>
          </a:xfrm>
          <a:prstGeom prst="rect">
            <a:avLst/>
          </a:prstGeom>
          <a:noFill/>
        </p:spPr>
        <p:txBody>
          <a:bodyPr vert="horz" wrap="square" lIns="0" tIns="0" rIns="76200" bIns="0" rtlCol="0">
            <a:noAutofit/>
          </a:bodyPr>
          <a:lstStyle/>
          <a:p>
            <a:r>
              <a:rPr lang="en-US">
                <a:solidFill>
                  <a:srgbClr val="59616B"/>
                </a:solidFill>
                <a:latin typeface="Arial" panose="020B0604020202020204" pitchFamily="34" charset="0"/>
              </a:rPr>
              <a:t>Propose low, medium or high concern from damage type and apparent extent.</a:t>
            </a:r>
            <a:endParaRPr lang="en-IN">
              <a:solidFill>
                <a:srgbClr val="59616B"/>
              </a:solidFill>
              <a:latin typeface="Arial" panose="020B0604020202020204" pitchFamily="34" charset="0"/>
            </a:endParaRPr>
          </a:p>
        </p:txBody>
      </p:sp>
      <p:sp>
        <p:nvSpPr>
          <p:cNvPr id="10" name="TextBox 9">
            <a:extLst>
              <a:ext uri="{FF2B5EF4-FFF2-40B4-BE49-F238E27FC236}">
                <a16:creationId xmlns:a16="http://schemas.microsoft.com/office/drawing/2014/main" id="{5502F590-3EAB-DD4B-D7A0-727810CC15AA}"/>
              </a:ext>
            </a:extLst>
          </p:cNvPr>
          <p:cNvSpPr txBox="1"/>
          <p:nvPr/>
        </p:nvSpPr>
        <p:spPr>
          <a:xfrm>
            <a:off x="4419600" y="2311399"/>
            <a:ext cx="3352800" cy="508000"/>
          </a:xfrm>
          <a:prstGeom prst="rect">
            <a:avLst/>
          </a:prstGeom>
          <a:noFill/>
        </p:spPr>
        <p:txBody>
          <a:bodyPr vert="horz" wrap="square" lIns="0" tIns="0" rIns="76200" bIns="0" rtlCol="0">
            <a:noAutofit/>
          </a:bodyPr>
          <a:lstStyle/>
          <a:p>
            <a:r>
              <a:rPr lang="en-IN" sz="2400" b="1">
                <a:solidFill>
                  <a:srgbClr val="176CA4"/>
                </a:solidFill>
                <a:latin typeface="Arial" panose="020B0604020202020204" pitchFamily="34" charset="0"/>
              </a:rPr>
              <a:t>Priority</a:t>
            </a:r>
          </a:p>
        </p:txBody>
      </p:sp>
      <p:sp>
        <p:nvSpPr>
          <p:cNvPr id="11" name="TextBox 10">
            <a:extLst>
              <a:ext uri="{FF2B5EF4-FFF2-40B4-BE49-F238E27FC236}">
                <a16:creationId xmlns:a16="http://schemas.microsoft.com/office/drawing/2014/main" id="{1E7F56BB-166F-C7A9-2C59-11FB4D8BF496}"/>
              </a:ext>
            </a:extLst>
          </p:cNvPr>
          <p:cNvSpPr txBox="1"/>
          <p:nvPr/>
        </p:nvSpPr>
        <p:spPr>
          <a:xfrm>
            <a:off x="4419600" y="3047999"/>
            <a:ext cx="3352800" cy="1003300"/>
          </a:xfrm>
          <a:prstGeom prst="rect">
            <a:avLst/>
          </a:prstGeom>
          <a:noFill/>
        </p:spPr>
        <p:txBody>
          <a:bodyPr vert="horz" wrap="square" lIns="0" tIns="0" rIns="76200" bIns="0" rtlCol="0">
            <a:noAutofit/>
          </a:bodyPr>
          <a:lstStyle/>
          <a:p>
            <a:r>
              <a:rPr lang="en-US" sz="2200" b="1">
                <a:solidFill>
                  <a:srgbClr val="171C22"/>
                </a:solidFill>
                <a:latin typeface="Arial" panose="020B0604020202020204" pitchFamily="34" charset="0"/>
              </a:rPr>
              <a:t>Which case should be inspected first?</a:t>
            </a:r>
            <a:endParaRPr lang="en-IN" sz="2200" b="1">
              <a:solidFill>
                <a:srgbClr val="171C22"/>
              </a:solidFill>
              <a:latin typeface="Arial" panose="020B0604020202020204" pitchFamily="34" charset="0"/>
            </a:endParaRPr>
          </a:p>
        </p:txBody>
      </p:sp>
      <p:sp>
        <p:nvSpPr>
          <p:cNvPr id="12" name="TextBox 11">
            <a:extLst>
              <a:ext uri="{FF2B5EF4-FFF2-40B4-BE49-F238E27FC236}">
                <a16:creationId xmlns:a16="http://schemas.microsoft.com/office/drawing/2014/main" id="{F7A3350B-88F7-01D0-E704-01CF7977F930}"/>
              </a:ext>
            </a:extLst>
          </p:cNvPr>
          <p:cNvSpPr txBox="1"/>
          <p:nvPr/>
        </p:nvSpPr>
        <p:spPr>
          <a:xfrm>
            <a:off x="4419600" y="4292599"/>
            <a:ext cx="3352800" cy="1270000"/>
          </a:xfrm>
          <a:prstGeom prst="rect">
            <a:avLst/>
          </a:prstGeom>
          <a:noFill/>
        </p:spPr>
        <p:txBody>
          <a:bodyPr vert="horz" wrap="square" lIns="0" tIns="0" rIns="76200" bIns="0" rtlCol="0">
            <a:noAutofit/>
          </a:bodyPr>
          <a:lstStyle/>
          <a:p>
            <a:r>
              <a:rPr lang="en-US">
                <a:solidFill>
                  <a:srgbClr val="59616B"/>
                </a:solidFill>
                <a:latin typeface="Arial" panose="020B0604020202020204" pitchFamily="34" charset="0"/>
              </a:rPr>
              <a:t>Combine severity, road importance, report age and reliable traffic exposure.</a:t>
            </a:r>
            <a:endParaRPr lang="en-IN">
              <a:solidFill>
                <a:srgbClr val="59616B"/>
              </a:solidFill>
              <a:latin typeface="Arial" panose="020B0604020202020204" pitchFamily="34" charset="0"/>
            </a:endParaRPr>
          </a:p>
        </p:txBody>
      </p:sp>
      <p:sp>
        <p:nvSpPr>
          <p:cNvPr id="13" name="TextBox 12">
            <a:extLst>
              <a:ext uri="{FF2B5EF4-FFF2-40B4-BE49-F238E27FC236}">
                <a16:creationId xmlns:a16="http://schemas.microsoft.com/office/drawing/2014/main" id="{89682B34-30F8-9115-00B4-D2525B735B5F}"/>
              </a:ext>
            </a:extLst>
          </p:cNvPr>
          <p:cNvSpPr txBox="1"/>
          <p:nvPr/>
        </p:nvSpPr>
        <p:spPr>
          <a:xfrm>
            <a:off x="8229600" y="2311399"/>
            <a:ext cx="3352800" cy="508000"/>
          </a:xfrm>
          <a:prstGeom prst="rect">
            <a:avLst/>
          </a:prstGeom>
          <a:noFill/>
        </p:spPr>
        <p:txBody>
          <a:bodyPr vert="horz" wrap="square" lIns="0" tIns="0" rIns="76200" bIns="0" rtlCol="0">
            <a:noAutofit/>
          </a:bodyPr>
          <a:lstStyle/>
          <a:p>
            <a:r>
              <a:rPr lang="en-IN" sz="2400" b="1">
                <a:solidFill>
                  <a:srgbClr val="176CA4"/>
                </a:solidFill>
                <a:latin typeface="Arial" panose="020B0604020202020204" pitchFamily="34" charset="0"/>
              </a:rPr>
              <a:t>Road health</a:t>
            </a:r>
          </a:p>
        </p:txBody>
      </p:sp>
      <p:sp>
        <p:nvSpPr>
          <p:cNvPr id="14" name="TextBox 13">
            <a:extLst>
              <a:ext uri="{FF2B5EF4-FFF2-40B4-BE49-F238E27FC236}">
                <a16:creationId xmlns:a16="http://schemas.microsoft.com/office/drawing/2014/main" id="{F8331194-F121-2363-B685-3E15B825E694}"/>
              </a:ext>
            </a:extLst>
          </p:cNvPr>
          <p:cNvSpPr txBox="1"/>
          <p:nvPr/>
        </p:nvSpPr>
        <p:spPr>
          <a:xfrm>
            <a:off x="8229600" y="3047999"/>
            <a:ext cx="3352800" cy="1003300"/>
          </a:xfrm>
          <a:prstGeom prst="rect">
            <a:avLst/>
          </a:prstGeom>
          <a:noFill/>
        </p:spPr>
        <p:txBody>
          <a:bodyPr vert="horz" wrap="square" lIns="0" tIns="0" rIns="76200" bIns="0" rtlCol="0">
            <a:noAutofit/>
          </a:bodyPr>
          <a:lstStyle/>
          <a:p>
            <a:r>
              <a:rPr lang="en-US" sz="2200" b="1">
                <a:solidFill>
                  <a:srgbClr val="171C22"/>
                </a:solidFill>
                <a:latin typeface="Arial" panose="020B0604020202020204" pitchFamily="34" charset="0"/>
              </a:rPr>
              <a:t>What was observed on this segment?</a:t>
            </a:r>
            <a:endParaRPr lang="en-IN" sz="2200" b="1">
              <a:solidFill>
                <a:srgbClr val="171C22"/>
              </a:solidFill>
              <a:latin typeface="Arial" panose="020B0604020202020204" pitchFamily="34" charset="0"/>
            </a:endParaRPr>
          </a:p>
        </p:txBody>
      </p:sp>
      <p:sp>
        <p:nvSpPr>
          <p:cNvPr id="15" name="TextBox 14">
            <a:extLst>
              <a:ext uri="{FF2B5EF4-FFF2-40B4-BE49-F238E27FC236}">
                <a16:creationId xmlns:a16="http://schemas.microsoft.com/office/drawing/2014/main" id="{E4A2BA4C-BE6F-30D6-4287-20F6BD00D188}"/>
              </a:ext>
            </a:extLst>
          </p:cNvPr>
          <p:cNvSpPr txBox="1"/>
          <p:nvPr/>
        </p:nvSpPr>
        <p:spPr>
          <a:xfrm>
            <a:off x="8229600" y="4292599"/>
            <a:ext cx="3352800" cy="1270000"/>
          </a:xfrm>
          <a:prstGeom prst="rect">
            <a:avLst/>
          </a:prstGeom>
          <a:noFill/>
        </p:spPr>
        <p:txBody>
          <a:bodyPr vert="horz" wrap="square" lIns="0" tIns="0" rIns="76200" bIns="0" rtlCol="0">
            <a:noAutofit/>
          </a:bodyPr>
          <a:lstStyle/>
          <a:p>
            <a:r>
              <a:rPr lang="en-US">
                <a:solidFill>
                  <a:srgbClr val="59616B"/>
                </a:solidFill>
                <a:latin typeface="Arial" panose="020B0604020202020204" pitchFamily="34" charset="0"/>
              </a:rPr>
              <a:t>Use a provisional 0–100 score with survey date and coverage; higher means better.</a:t>
            </a:r>
            <a:endParaRPr lang="en-IN">
              <a:solidFill>
                <a:srgbClr val="59616B"/>
              </a:solidFill>
              <a:latin typeface="Arial" panose="020B0604020202020204" pitchFamily="34" charset="0"/>
            </a:endParaRPr>
          </a:p>
        </p:txBody>
      </p:sp>
      <p:cxnSp>
        <p:nvCxnSpPr>
          <p:cNvPr id="16" name="Straight Connector 15">
            <a:extLst>
              <a:ext uri="{FF2B5EF4-FFF2-40B4-BE49-F238E27FC236}">
                <a16:creationId xmlns:a16="http://schemas.microsoft.com/office/drawing/2014/main" id="{CF9D9745-44D7-C35A-8FA8-798ABDA63624}"/>
              </a:ext>
            </a:extLst>
          </p:cNvPr>
          <p:cNvCxnSpPr/>
          <p:nvPr/>
        </p:nvCxnSpPr>
        <p:spPr>
          <a:xfrm>
            <a:off x="609600" y="5664200"/>
            <a:ext cx="10972800" cy="0"/>
          </a:xfrm>
          <a:prstGeom prst="line">
            <a:avLst/>
          </a:prstGeom>
          <a:ln w="12700">
            <a:solidFill>
              <a:srgbClr val="D4D9DD"/>
            </a:solidFill>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AB101D79-83E2-F872-1972-9A441D6C5B3A}"/>
              </a:ext>
            </a:extLst>
          </p:cNvPr>
          <p:cNvSpPr txBox="1"/>
          <p:nvPr/>
        </p:nvSpPr>
        <p:spPr>
          <a:xfrm>
            <a:off x="609600" y="5841999"/>
            <a:ext cx="10972800" cy="482600"/>
          </a:xfrm>
          <a:prstGeom prst="rect">
            <a:avLst/>
          </a:prstGeom>
          <a:noFill/>
        </p:spPr>
        <p:txBody>
          <a:bodyPr vert="horz" wrap="square" lIns="0" tIns="0" rIns="76200" bIns="0" rtlCol="0">
            <a:noAutofit/>
          </a:bodyPr>
          <a:lstStyle/>
          <a:p>
            <a:r>
              <a:rPr lang="en-US" sz="1600">
                <a:solidFill>
                  <a:srgbClr val="176CA4"/>
                </a:solidFill>
                <a:latin typeface="Arial" panose="020B0604020202020204" pitchFamily="34" charset="0"/>
              </a:rPr>
              <a:t>Confidence is separate from severity. Officers can review scores and record overrides.</a:t>
            </a:r>
            <a:endParaRPr lang="en-IN" sz="1600">
              <a:solidFill>
                <a:srgbClr val="176CA4"/>
              </a:solidFill>
              <a:latin typeface="Arial" panose="020B0604020202020204" pitchFamily="34" charset="0"/>
            </a:endParaRPr>
          </a:p>
        </p:txBody>
      </p:sp>
    </p:spTree>
    <p:extLst>
      <p:ext uri="{BB962C8B-B14F-4D97-AF65-F5344CB8AC3E}">
        <p14:creationId xmlns:p14="http://schemas.microsoft.com/office/powerpoint/2010/main" val="11391010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C6DAF96-D88C-64C3-A421-1D0761741251}"/>
              </a:ext>
            </a:extLst>
          </p:cNvPr>
          <p:cNvSpPr txBox="1"/>
          <p:nvPr/>
        </p:nvSpPr>
        <p:spPr>
          <a:xfrm>
            <a:off x="609600" y="330199"/>
            <a:ext cx="10414000" cy="279400"/>
          </a:xfrm>
          <a:prstGeom prst="rect">
            <a:avLst/>
          </a:prstGeom>
          <a:noFill/>
        </p:spPr>
        <p:txBody>
          <a:bodyPr vert="horz" wrap="square" lIns="0" tIns="0" rIns="76200" bIns="0" rtlCol="0">
            <a:noAutofit/>
          </a:bodyPr>
          <a:lstStyle/>
          <a:p>
            <a:r>
              <a:rPr lang="en-IN" sz="1200" b="1">
                <a:solidFill>
                  <a:srgbClr val="176CA4"/>
                </a:solidFill>
                <a:latin typeface="Arial" panose="020B0604020202020204" pitchFamily="34" charset="0"/>
              </a:rPr>
              <a:t>SYSTEM DESIGN</a:t>
            </a:r>
          </a:p>
        </p:txBody>
      </p:sp>
      <p:sp>
        <p:nvSpPr>
          <p:cNvPr id="3" name="TextBox 2">
            <a:extLst>
              <a:ext uri="{FF2B5EF4-FFF2-40B4-BE49-F238E27FC236}">
                <a16:creationId xmlns:a16="http://schemas.microsoft.com/office/drawing/2014/main" id="{BAC9F88B-3240-48FC-8463-107842D450FE}"/>
              </a:ext>
            </a:extLst>
          </p:cNvPr>
          <p:cNvSpPr txBox="1"/>
          <p:nvPr/>
        </p:nvSpPr>
        <p:spPr>
          <a:xfrm>
            <a:off x="609600" y="876299"/>
            <a:ext cx="10972800" cy="1130300"/>
          </a:xfrm>
          <a:prstGeom prst="rect">
            <a:avLst/>
          </a:prstGeom>
          <a:noFill/>
        </p:spPr>
        <p:txBody>
          <a:bodyPr vert="horz" wrap="square" lIns="0" tIns="0" rIns="76200" bIns="0" rtlCol="0">
            <a:noAutofit/>
          </a:bodyPr>
          <a:lstStyle/>
          <a:p>
            <a:r>
              <a:rPr lang="en-IN" sz="3500" b="1">
                <a:solidFill>
                  <a:srgbClr val="171C22"/>
                </a:solidFill>
                <a:latin typeface="Arial" panose="020B0604020202020204" pitchFamily="34" charset="0"/>
              </a:rPr>
              <a:t>Proposed system architecture</a:t>
            </a:r>
          </a:p>
        </p:txBody>
      </p:sp>
      <p:cxnSp>
        <p:nvCxnSpPr>
          <p:cNvPr id="4" name="Straight Connector 3">
            <a:extLst>
              <a:ext uri="{FF2B5EF4-FFF2-40B4-BE49-F238E27FC236}">
                <a16:creationId xmlns:a16="http://schemas.microsoft.com/office/drawing/2014/main" id="{7DA44EFE-DC52-DAE9-5C90-7752EDED227B}"/>
              </a:ext>
            </a:extLst>
          </p:cNvPr>
          <p:cNvCxnSpPr/>
          <p:nvPr/>
        </p:nvCxnSpPr>
        <p:spPr>
          <a:xfrm>
            <a:off x="609600" y="6362700"/>
            <a:ext cx="10972800" cy="0"/>
          </a:xfrm>
          <a:prstGeom prst="line">
            <a:avLst/>
          </a:prstGeom>
          <a:ln w="12700">
            <a:solidFill>
              <a:srgbClr val="D4D9DD"/>
            </a:solidFill>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20965F64-E5B7-886D-7A19-3669E60259FE}"/>
              </a:ext>
            </a:extLst>
          </p:cNvPr>
          <p:cNvSpPr txBox="1"/>
          <p:nvPr/>
        </p:nvSpPr>
        <p:spPr>
          <a:xfrm>
            <a:off x="609600" y="6477000"/>
            <a:ext cx="8890000" cy="228600"/>
          </a:xfrm>
          <a:prstGeom prst="rect">
            <a:avLst/>
          </a:prstGeom>
          <a:noFill/>
        </p:spPr>
        <p:txBody>
          <a:bodyPr vert="horz" wrap="square" lIns="0" tIns="0" rIns="76200" bIns="0" rtlCol="0">
            <a:noAutofit/>
          </a:bodyPr>
          <a:lstStyle/>
          <a:p>
            <a:r>
              <a:rPr lang="en-IN" sz="1000">
                <a:solidFill>
                  <a:srgbClr val="59616B"/>
                </a:solidFill>
                <a:latin typeface="Arial" panose="020B0604020202020204" pitchFamily="34" charset="0"/>
              </a:rPr>
              <a:t>ROAD DAMAGE DETECTION  /  GECB</a:t>
            </a:r>
          </a:p>
        </p:txBody>
      </p:sp>
      <p:sp>
        <p:nvSpPr>
          <p:cNvPr id="6" name="TextBox 5">
            <a:extLst>
              <a:ext uri="{FF2B5EF4-FFF2-40B4-BE49-F238E27FC236}">
                <a16:creationId xmlns:a16="http://schemas.microsoft.com/office/drawing/2014/main" id="{7F8E734E-6B18-4F3E-9E27-1BA957E4D053}"/>
              </a:ext>
            </a:extLst>
          </p:cNvPr>
          <p:cNvSpPr txBox="1"/>
          <p:nvPr/>
        </p:nvSpPr>
        <p:spPr>
          <a:xfrm>
            <a:off x="10617200" y="6477000"/>
            <a:ext cx="965200" cy="228600"/>
          </a:xfrm>
          <a:prstGeom prst="rect">
            <a:avLst/>
          </a:prstGeom>
          <a:noFill/>
        </p:spPr>
        <p:txBody>
          <a:bodyPr vert="horz" wrap="square" lIns="0" tIns="0" rIns="76200" bIns="0" rtlCol="0">
            <a:noAutofit/>
          </a:bodyPr>
          <a:lstStyle/>
          <a:p>
            <a:pPr algn="r"/>
            <a:r>
              <a:rPr lang="en-IN" sz="1000">
                <a:solidFill>
                  <a:srgbClr val="59616B"/>
                </a:solidFill>
                <a:latin typeface="Arial" panose="020B0604020202020204" pitchFamily="34" charset="0"/>
              </a:rPr>
              <a:t>08 / 12</a:t>
            </a:r>
          </a:p>
        </p:txBody>
      </p:sp>
      <p:cxnSp>
        <p:nvCxnSpPr>
          <p:cNvPr id="7" name="Straight Connector 6">
            <a:extLst>
              <a:ext uri="{FF2B5EF4-FFF2-40B4-BE49-F238E27FC236}">
                <a16:creationId xmlns:a16="http://schemas.microsoft.com/office/drawing/2014/main" id="{4276EBE0-7A9A-B805-C80D-962B46D769D3}"/>
              </a:ext>
            </a:extLst>
          </p:cNvPr>
          <p:cNvCxnSpPr/>
          <p:nvPr/>
        </p:nvCxnSpPr>
        <p:spPr>
          <a:xfrm>
            <a:off x="3924300" y="2794000"/>
            <a:ext cx="546100" cy="0"/>
          </a:xfrm>
          <a:prstGeom prst="line">
            <a:avLst/>
          </a:prstGeom>
          <a:ln w="19050">
            <a:solidFill>
              <a:srgbClr val="176CA4"/>
            </a:solidFill>
            <a:tailEnd type="arrow"/>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56BBF803-7C3C-FFD9-F85D-6144187D5CC3}"/>
              </a:ext>
            </a:extLst>
          </p:cNvPr>
          <p:cNvCxnSpPr/>
          <p:nvPr/>
        </p:nvCxnSpPr>
        <p:spPr>
          <a:xfrm>
            <a:off x="7721600" y="2794000"/>
            <a:ext cx="571500" cy="0"/>
          </a:xfrm>
          <a:prstGeom prst="line">
            <a:avLst/>
          </a:prstGeom>
          <a:ln w="19050">
            <a:solidFill>
              <a:srgbClr val="176CA4"/>
            </a:solidFill>
            <a:tailEnd type="arrow"/>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2BF5F2B0-472B-6130-B9D1-780F1867A252}"/>
              </a:ext>
            </a:extLst>
          </p:cNvPr>
          <p:cNvCxnSpPr/>
          <p:nvPr/>
        </p:nvCxnSpPr>
        <p:spPr>
          <a:xfrm>
            <a:off x="6083300" y="3327400"/>
            <a:ext cx="0" cy="762000"/>
          </a:xfrm>
          <a:prstGeom prst="line">
            <a:avLst/>
          </a:prstGeom>
          <a:ln w="19050">
            <a:solidFill>
              <a:srgbClr val="176CA4"/>
            </a:solidFill>
            <a:tailEnd type="arrow"/>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4DAA27FD-DB22-ECE6-9CBE-32E355C1CD11}"/>
              </a:ext>
            </a:extLst>
          </p:cNvPr>
          <p:cNvCxnSpPr/>
          <p:nvPr/>
        </p:nvCxnSpPr>
        <p:spPr>
          <a:xfrm flipH="1">
            <a:off x="3251200" y="3327400"/>
            <a:ext cx="1917700" cy="749300"/>
          </a:xfrm>
          <a:prstGeom prst="line">
            <a:avLst/>
          </a:prstGeom>
          <a:ln w="19050">
            <a:solidFill>
              <a:srgbClr val="176CA4"/>
            </a:solidFill>
            <a:tailEnd type="arrow"/>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29FDCDE2-D1FB-C84A-A588-5E7442621CD9}"/>
              </a:ext>
            </a:extLst>
          </p:cNvPr>
          <p:cNvCxnSpPr/>
          <p:nvPr/>
        </p:nvCxnSpPr>
        <p:spPr>
          <a:xfrm>
            <a:off x="3911600" y="4660900"/>
            <a:ext cx="546100" cy="0"/>
          </a:xfrm>
          <a:prstGeom prst="line">
            <a:avLst/>
          </a:prstGeom>
          <a:ln w="19050">
            <a:solidFill>
              <a:srgbClr val="176CA4"/>
            </a:solidFill>
            <a:tailEnd type="arrow"/>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7A13D414-32C7-8F6D-FF97-9EBE523B67C1}"/>
              </a:ext>
            </a:extLst>
          </p:cNvPr>
          <p:cNvCxnSpPr/>
          <p:nvPr/>
        </p:nvCxnSpPr>
        <p:spPr>
          <a:xfrm>
            <a:off x="7721600" y="4660900"/>
            <a:ext cx="571500" cy="0"/>
          </a:xfrm>
          <a:prstGeom prst="line">
            <a:avLst/>
          </a:prstGeom>
          <a:ln w="19050">
            <a:solidFill>
              <a:srgbClr val="176CA4"/>
            </a:solidFill>
            <a:tailEnd type="arrow"/>
          </a:ln>
        </p:spPr>
        <p:style>
          <a:lnRef idx="2">
            <a:schemeClr val="accent1"/>
          </a:lnRef>
          <a:fillRef idx="0">
            <a:schemeClr val="accent1"/>
          </a:fillRef>
          <a:effectRef idx="1">
            <a:schemeClr val="accent1"/>
          </a:effectRef>
          <a:fontRef idx="minor">
            <a:schemeClr val="tx1"/>
          </a:fontRef>
        </p:style>
      </p:cxnSp>
      <p:sp>
        <p:nvSpPr>
          <p:cNvPr id="13" name="Rectangle 12">
            <a:extLst>
              <a:ext uri="{FF2B5EF4-FFF2-40B4-BE49-F238E27FC236}">
                <a16:creationId xmlns:a16="http://schemas.microsoft.com/office/drawing/2014/main" id="{655DEAFB-9D85-BDA0-CE87-C56CCA17482F}"/>
              </a:ext>
            </a:extLst>
          </p:cNvPr>
          <p:cNvSpPr/>
          <p:nvPr/>
        </p:nvSpPr>
        <p:spPr>
          <a:xfrm>
            <a:off x="609600" y="2247900"/>
            <a:ext cx="3276600" cy="1092200"/>
          </a:xfrm>
          <a:prstGeom prst="rect">
            <a:avLst/>
          </a:prstGeom>
          <a:solidFill>
            <a:srgbClr val="F0F3F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54F7D398-E7D4-3264-A480-788C1F10E494}"/>
              </a:ext>
            </a:extLst>
          </p:cNvPr>
          <p:cNvSpPr txBox="1"/>
          <p:nvPr/>
        </p:nvSpPr>
        <p:spPr>
          <a:xfrm>
            <a:off x="800100" y="2412999"/>
            <a:ext cx="2895600" cy="381000"/>
          </a:xfrm>
          <a:prstGeom prst="rect">
            <a:avLst/>
          </a:prstGeom>
          <a:noFill/>
        </p:spPr>
        <p:txBody>
          <a:bodyPr vert="horz" wrap="square" lIns="0" tIns="0" rIns="76200" bIns="0" rtlCol="0">
            <a:noAutofit/>
          </a:bodyPr>
          <a:lstStyle/>
          <a:p>
            <a:r>
              <a:rPr lang="en-IN" sz="2400" b="1">
                <a:solidFill>
                  <a:srgbClr val="171C22"/>
                </a:solidFill>
                <a:latin typeface="Arial" panose="020B0604020202020204" pitchFamily="34" charset="0"/>
              </a:rPr>
              <a:t>Web application</a:t>
            </a:r>
          </a:p>
        </p:txBody>
      </p:sp>
      <p:sp>
        <p:nvSpPr>
          <p:cNvPr id="15" name="TextBox 14">
            <a:extLst>
              <a:ext uri="{FF2B5EF4-FFF2-40B4-BE49-F238E27FC236}">
                <a16:creationId xmlns:a16="http://schemas.microsoft.com/office/drawing/2014/main" id="{083320C9-C9D8-33F8-9D35-54FEC4F94A96}"/>
              </a:ext>
            </a:extLst>
          </p:cNvPr>
          <p:cNvSpPr txBox="1"/>
          <p:nvPr/>
        </p:nvSpPr>
        <p:spPr>
          <a:xfrm>
            <a:off x="800100" y="2870199"/>
            <a:ext cx="2895600" cy="342900"/>
          </a:xfrm>
          <a:prstGeom prst="rect">
            <a:avLst/>
          </a:prstGeom>
          <a:noFill/>
        </p:spPr>
        <p:txBody>
          <a:bodyPr vert="horz" wrap="square" lIns="0" tIns="0" rIns="76200" bIns="0" rtlCol="0">
            <a:noAutofit/>
          </a:bodyPr>
          <a:lstStyle/>
          <a:p>
            <a:r>
              <a:rPr lang="en-IN" sz="1600">
                <a:solidFill>
                  <a:srgbClr val="59616B"/>
                </a:solidFill>
                <a:latin typeface="Arial" panose="020B0604020202020204" pitchFamily="34" charset="0"/>
              </a:rPr>
              <a:t>React · uploads &amp; dashboard</a:t>
            </a:r>
          </a:p>
        </p:txBody>
      </p:sp>
      <p:sp>
        <p:nvSpPr>
          <p:cNvPr id="16" name="Rectangle 15">
            <a:extLst>
              <a:ext uri="{FF2B5EF4-FFF2-40B4-BE49-F238E27FC236}">
                <a16:creationId xmlns:a16="http://schemas.microsoft.com/office/drawing/2014/main" id="{C6A0241D-1D2B-9D85-29DB-C66ECF860B0F}"/>
              </a:ext>
            </a:extLst>
          </p:cNvPr>
          <p:cNvSpPr/>
          <p:nvPr/>
        </p:nvSpPr>
        <p:spPr>
          <a:xfrm>
            <a:off x="4470400" y="2247900"/>
            <a:ext cx="3276600" cy="1092200"/>
          </a:xfrm>
          <a:prstGeom prst="rect">
            <a:avLst/>
          </a:prstGeom>
          <a:solidFill>
            <a:srgbClr val="F0F3F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TextBox 16">
            <a:extLst>
              <a:ext uri="{FF2B5EF4-FFF2-40B4-BE49-F238E27FC236}">
                <a16:creationId xmlns:a16="http://schemas.microsoft.com/office/drawing/2014/main" id="{82130602-534C-5F55-CF14-3D804D8285EE}"/>
              </a:ext>
            </a:extLst>
          </p:cNvPr>
          <p:cNvSpPr txBox="1"/>
          <p:nvPr/>
        </p:nvSpPr>
        <p:spPr>
          <a:xfrm>
            <a:off x="4660900" y="2412999"/>
            <a:ext cx="2895600" cy="381000"/>
          </a:xfrm>
          <a:prstGeom prst="rect">
            <a:avLst/>
          </a:prstGeom>
          <a:noFill/>
        </p:spPr>
        <p:txBody>
          <a:bodyPr vert="horz" wrap="square" lIns="0" tIns="0" rIns="76200" bIns="0" rtlCol="0">
            <a:noAutofit/>
          </a:bodyPr>
          <a:lstStyle/>
          <a:p>
            <a:r>
              <a:rPr lang="en-IN" sz="2400" b="1">
                <a:solidFill>
                  <a:srgbClr val="171C22"/>
                </a:solidFill>
                <a:latin typeface="Arial" panose="020B0604020202020204" pitchFamily="34" charset="0"/>
              </a:rPr>
              <a:t>Application API</a:t>
            </a:r>
          </a:p>
        </p:txBody>
      </p:sp>
      <p:sp>
        <p:nvSpPr>
          <p:cNvPr id="18" name="TextBox 17">
            <a:extLst>
              <a:ext uri="{FF2B5EF4-FFF2-40B4-BE49-F238E27FC236}">
                <a16:creationId xmlns:a16="http://schemas.microsoft.com/office/drawing/2014/main" id="{26363A67-2566-215F-2650-99F81733D82B}"/>
              </a:ext>
            </a:extLst>
          </p:cNvPr>
          <p:cNvSpPr txBox="1"/>
          <p:nvPr/>
        </p:nvSpPr>
        <p:spPr>
          <a:xfrm>
            <a:off x="4660900" y="2870199"/>
            <a:ext cx="2895600" cy="342900"/>
          </a:xfrm>
          <a:prstGeom prst="rect">
            <a:avLst/>
          </a:prstGeom>
          <a:noFill/>
        </p:spPr>
        <p:txBody>
          <a:bodyPr vert="horz" wrap="square" lIns="0" tIns="0" rIns="76200" bIns="0" rtlCol="0">
            <a:noAutofit/>
          </a:bodyPr>
          <a:lstStyle/>
          <a:p>
            <a:r>
              <a:rPr lang="en-IN" sz="1600">
                <a:solidFill>
                  <a:srgbClr val="59616B"/>
                </a:solidFill>
                <a:latin typeface="Arial" panose="020B0604020202020204" pitchFamily="34" charset="0"/>
              </a:rPr>
              <a:t>FastAPI · access &amp; workflow</a:t>
            </a:r>
          </a:p>
        </p:txBody>
      </p:sp>
      <p:sp>
        <p:nvSpPr>
          <p:cNvPr id="19" name="Rectangle 18">
            <a:extLst>
              <a:ext uri="{FF2B5EF4-FFF2-40B4-BE49-F238E27FC236}">
                <a16:creationId xmlns:a16="http://schemas.microsoft.com/office/drawing/2014/main" id="{978F703C-51EA-12DA-D58E-D36ADDE4B2FA}"/>
              </a:ext>
            </a:extLst>
          </p:cNvPr>
          <p:cNvSpPr/>
          <p:nvPr/>
        </p:nvSpPr>
        <p:spPr>
          <a:xfrm>
            <a:off x="8305800" y="2247900"/>
            <a:ext cx="3276600" cy="1092200"/>
          </a:xfrm>
          <a:prstGeom prst="rect">
            <a:avLst/>
          </a:prstGeom>
          <a:solidFill>
            <a:srgbClr val="F0F3F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TextBox 19">
            <a:extLst>
              <a:ext uri="{FF2B5EF4-FFF2-40B4-BE49-F238E27FC236}">
                <a16:creationId xmlns:a16="http://schemas.microsoft.com/office/drawing/2014/main" id="{686BB56C-C993-D3C7-AB8B-9C71464F3733}"/>
              </a:ext>
            </a:extLst>
          </p:cNvPr>
          <p:cNvSpPr txBox="1"/>
          <p:nvPr/>
        </p:nvSpPr>
        <p:spPr>
          <a:xfrm>
            <a:off x="8496300" y="2412999"/>
            <a:ext cx="2895600" cy="381000"/>
          </a:xfrm>
          <a:prstGeom prst="rect">
            <a:avLst/>
          </a:prstGeom>
          <a:noFill/>
        </p:spPr>
        <p:txBody>
          <a:bodyPr vert="horz" wrap="square" lIns="0" tIns="0" rIns="76200" bIns="0" rtlCol="0">
            <a:noAutofit/>
          </a:bodyPr>
          <a:lstStyle/>
          <a:p>
            <a:r>
              <a:rPr lang="en-IN" sz="2400" b="1">
                <a:solidFill>
                  <a:srgbClr val="171C22"/>
                </a:solidFill>
                <a:latin typeface="Arial" panose="020B0604020202020204" pitchFamily="34" charset="0"/>
              </a:rPr>
              <a:t>Notifications</a:t>
            </a:r>
          </a:p>
        </p:txBody>
      </p:sp>
      <p:sp>
        <p:nvSpPr>
          <p:cNvPr id="21" name="TextBox 20">
            <a:extLst>
              <a:ext uri="{FF2B5EF4-FFF2-40B4-BE49-F238E27FC236}">
                <a16:creationId xmlns:a16="http://schemas.microsoft.com/office/drawing/2014/main" id="{498102D9-CC37-0C43-936B-536A7957F958}"/>
              </a:ext>
            </a:extLst>
          </p:cNvPr>
          <p:cNvSpPr txBox="1"/>
          <p:nvPr/>
        </p:nvSpPr>
        <p:spPr>
          <a:xfrm>
            <a:off x="8496300" y="2870199"/>
            <a:ext cx="2895600" cy="342900"/>
          </a:xfrm>
          <a:prstGeom prst="rect">
            <a:avLst/>
          </a:prstGeom>
          <a:noFill/>
        </p:spPr>
        <p:txBody>
          <a:bodyPr vert="horz" wrap="square" lIns="0" tIns="0" rIns="76200" bIns="0" rtlCol="0">
            <a:noAutofit/>
          </a:bodyPr>
          <a:lstStyle/>
          <a:p>
            <a:r>
              <a:rPr lang="en-IN" sz="1600">
                <a:solidFill>
                  <a:srgbClr val="59616B"/>
                </a:solidFill>
                <a:latin typeface="Arial" panose="020B0604020202020204" pitchFamily="34" charset="0"/>
              </a:rPr>
              <a:t>Configured municipal alerts</a:t>
            </a:r>
          </a:p>
        </p:txBody>
      </p:sp>
      <p:sp>
        <p:nvSpPr>
          <p:cNvPr id="22" name="TextBox 21">
            <a:extLst>
              <a:ext uri="{FF2B5EF4-FFF2-40B4-BE49-F238E27FC236}">
                <a16:creationId xmlns:a16="http://schemas.microsoft.com/office/drawing/2014/main" id="{EEE7A829-2BA2-498D-D48C-A7F63163D41A}"/>
              </a:ext>
            </a:extLst>
          </p:cNvPr>
          <p:cNvSpPr txBox="1"/>
          <p:nvPr/>
        </p:nvSpPr>
        <p:spPr>
          <a:xfrm>
            <a:off x="2146300" y="3543299"/>
            <a:ext cx="1905000" cy="342900"/>
          </a:xfrm>
          <a:prstGeom prst="rect">
            <a:avLst/>
          </a:prstGeom>
          <a:noFill/>
        </p:spPr>
        <p:txBody>
          <a:bodyPr vert="horz" wrap="square" lIns="0" tIns="0" rIns="76200" bIns="0" rtlCol="0">
            <a:noAutofit/>
          </a:bodyPr>
          <a:lstStyle/>
          <a:p>
            <a:r>
              <a:rPr lang="en-IN" sz="1600">
                <a:solidFill>
                  <a:srgbClr val="176CA4"/>
                </a:solidFill>
                <a:latin typeface="Arial" panose="020B0604020202020204" pitchFamily="34" charset="0"/>
              </a:rPr>
              <a:t>Queued jobs</a:t>
            </a:r>
          </a:p>
        </p:txBody>
      </p:sp>
      <p:sp>
        <p:nvSpPr>
          <p:cNvPr id="23" name="Rectangle 22">
            <a:extLst>
              <a:ext uri="{FF2B5EF4-FFF2-40B4-BE49-F238E27FC236}">
                <a16:creationId xmlns:a16="http://schemas.microsoft.com/office/drawing/2014/main" id="{66F43599-F2F0-002C-013F-6CD156FDFCE2}"/>
              </a:ext>
            </a:extLst>
          </p:cNvPr>
          <p:cNvSpPr/>
          <p:nvPr/>
        </p:nvSpPr>
        <p:spPr>
          <a:xfrm>
            <a:off x="609600" y="4102100"/>
            <a:ext cx="3276600" cy="1092200"/>
          </a:xfrm>
          <a:prstGeom prst="rect">
            <a:avLst/>
          </a:prstGeom>
          <a:solidFill>
            <a:srgbClr val="F0F3F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TextBox 23">
            <a:extLst>
              <a:ext uri="{FF2B5EF4-FFF2-40B4-BE49-F238E27FC236}">
                <a16:creationId xmlns:a16="http://schemas.microsoft.com/office/drawing/2014/main" id="{8223ADBE-9C87-CAD9-2C7E-D76412ACEB94}"/>
              </a:ext>
            </a:extLst>
          </p:cNvPr>
          <p:cNvSpPr txBox="1"/>
          <p:nvPr/>
        </p:nvSpPr>
        <p:spPr>
          <a:xfrm>
            <a:off x="800100" y="4267199"/>
            <a:ext cx="2895600" cy="381000"/>
          </a:xfrm>
          <a:prstGeom prst="rect">
            <a:avLst/>
          </a:prstGeom>
          <a:noFill/>
        </p:spPr>
        <p:txBody>
          <a:bodyPr vert="horz" wrap="square" lIns="0" tIns="0" rIns="76200" bIns="0" rtlCol="0">
            <a:noAutofit/>
          </a:bodyPr>
          <a:lstStyle/>
          <a:p>
            <a:r>
              <a:rPr lang="en-IN" sz="2400" b="1">
                <a:solidFill>
                  <a:srgbClr val="171C22"/>
                </a:solidFill>
                <a:latin typeface="Arial" panose="020B0604020202020204" pitchFamily="34" charset="0"/>
              </a:rPr>
              <a:t>AI worker</a:t>
            </a:r>
          </a:p>
        </p:txBody>
      </p:sp>
      <p:sp>
        <p:nvSpPr>
          <p:cNvPr id="25" name="TextBox 24">
            <a:extLst>
              <a:ext uri="{FF2B5EF4-FFF2-40B4-BE49-F238E27FC236}">
                <a16:creationId xmlns:a16="http://schemas.microsoft.com/office/drawing/2014/main" id="{E251A6B0-DA96-90F3-0629-7EAC1DA0BF26}"/>
              </a:ext>
            </a:extLst>
          </p:cNvPr>
          <p:cNvSpPr txBox="1"/>
          <p:nvPr/>
        </p:nvSpPr>
        <p:spPr>
          <a:xfrm>
            <a:off x="800100" y="4724399"/>
            <a:ext cx="2895600" cy="342900"/>
          </a:xfrm>
          <a:prstGeom prst="rect">
            <a:avLst/>
          </a:prstGeom>
          <a:noFill/>
        </p:spPr>
        <p:txBody>
          <a:bodyPr vert="horz" wrap="square" lIns="0" tIns="0" rIns="76200" bIns="0" rtlCol="0">
            <a:noAutofit/>
          </a:bodyPr>
          <a:lstStyle/>
          <a:p>
            <a:r>
              <a:rPr lang="en-IN" sz="1600">
                <a:solidFill>
                  <a:srgbClr val="59616B"/>
                </a:solidFill>
                <a:latin typeface="Arial" panose="020B0604020202020204" pitchFamily="34" charset="0"/>
              </a:rPr>
              <a:t>OpenCV / PyTorch · inference</a:t>
            </a:r>
          </a:p>
        </p:txBody>
      </p:sp>
      <p:sp>
        <p:nvSpPr>
          <p:cNvPr id="26" name="Rectangle 25">
            <a:extLst>
              <a:ext uri="{FF2B5EF4-FFF2-40B4-BE49-F238E27FC236}">
                <a16:creationId xmlns:a16="http://schemas.microsoft.com/office/drawing/2014/main" id="{329B903E-61FD-A5DB-2AEF-525E0CAA6C1E}"/>
              </a:ext>
            </a:extLst>
          </p:cNvPr>
          <p:cNvSpPr/>
          <p:nvPr/>
        </p:nvSpPr>
        <p:spPr>
          <a:xfrm>
            <a:off x="4470400" y="4102100"/>
            <a:ext cx="3276600" cy="1092200"/>
          </a:xfrm>
          <a:prstGeom prst="rect">
            <a:avLst/>
          </a:prstGeom>
          <a:solidFill>
            <a:srgbClr val="F0F3F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TextBox 26">
            <a:extLst>
              <a:ext uri="{FF2B5EF4-FFF2-40B4-BE49-F238E27FC236}">
                <a16:creationId xmlns:a16="http://schemas.microsoft.com/office/drawing/2014/main" id="{1850B5B4-B2FC-A85F-FE7F-97D305A650A6}"/>
              </a:ext>
            </a:extLst>
          </p:cNvPr>
          <p:cNvSpPr txBox="1"/>
          <p:nvPr/>
        </p:nvSpPr>
        <p:spPr>
          <a:xfrm>
            <a:off x="4660900" y="4267199"/>
            <a:ext cx="2895600" cy="381000"/>
          </a:xfrm>
          <a:prstGeom prst="rect">
            <a:avLst/>
          </a:prstGeom>
          <a:noFill/>
        </p:spPr>
        <p:txBody>
          <a:bodyPr vert="horz" wrap="square" lIns="0" tIns="0" rIns="76200" bIns="0" rtlCol="0">
            <a:noAutofit/>
          </a:bodyPr>
          <a:lstStyle/>
          <a:p>
            <a:r>
              <a:rPr lang="en-IN" sz="2400" b="1">
                <a:solidFill>
                  <a:srgbClr val="171C22"/>
                </a:solidFill>
                <a:latin typeface="Arial" panose="020B0604020202020204" pitchFamily="34" charset="0"/>
              </a:rPr>
              <a:t>Data &amp; media</a:t>
            </a:r>
          </a:p>
        </p:txBody>
      </p:sp>
      <p:sp>
        <p:nvSpPr>
          <p:cNvPr id="28" name="TextBox 27">
            <a:extLst>
              <a:ext uri="{FF2B5EF4-FFF2-40B4-BE49-F238E27FC236}">
                <a16:creationId xmlns:a16="http://schemas.microsoft.com/office/drawing/2014/main" id="{A176AA48-8830-27EE-BDAD-0A91C839F9E4}"/>
              </a:ext>
            </a:extLst>
          </p:cNvPr>
          <p:cNvSpPr txBox="1"/>
          <p:nvPr/>
        </p:nvSpPr>
        <p:spPr>
          <a:xfrm>
            <a:off x="4660900" y="4724399"/>
            <a:ext cx="2895600" cy="342900"/>
          </a:xfrm>
          <a:prstGeom prst="rect">
            <a:avLst/>
          </a:prstGeom>
          <a:noFill/>
        </p:spPr>
        <p:txBody>
          <a:bodyPr vert="horz" wrap="square" lIns="0" tIns="0" rIns="76200" bIns="0" rtlCol="0">
            <a:noAutofit/>
          </a:bodyPr>
          <a:lstStyle/>
          <a:p>
            <a:r>
              <a:rPr lang="en-IN" sz="1600">
                <a:solidFill>
                  <a:srgbClr val="59616B"/>
                </a:solidFill>
                <a:latin typeface="Arial" panose="020B0604020202020204" pitchFamily="34" charset="0"/>
              </a:rPr>
              <a:t>PostgreSQL / PostGIS</a:t>
            </a:r>
          </a:p>
        </p:txBody>
      </p:sp>
      <p:sp>
        <p:nvSpPr>
          <p:cNvPr id="29" name="Rectangle 28">
            <a:extLst>
              <a:ext uri="{FF2B5EF4-FFF2-40B4-BE49-F238E27FC236}">
                <a16:creationId xmlns:a16="http://schemas.microsoft.com/office/drawing/2014/main" id="{BD387A4E-CC59-F5F2-1C1C-E3FD3318EE30}"/>
              </a:ext>
            </a:extLst>
          </p:cNvPr>
          <p:cNvSpPr/>
          <p:nvPr/>
        </p:nvSpPr>
        <p:spPr>
          <a:xfrm>
            <a:off x="8305800" y="4102100"/>
            <a:ext cx="3276600" cy="1092200"/>
          </a:xfrm>
          <a:prstGeom prst="rect">
            <a:avLst/>
          </a:prstGeom>
          <a:solidFill>
            <a:srgbClr val="F0F3F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0" name="TextBox 29">
            <a:extLst>
              <a:ext uri="{FF2B5EF4-FFF2-40B4-BE49-F238E27FC236}">
                <a16:creationId xmlns:a16="http://schemas.microsoft.com/office/drawing/2014/main" id="{CE5E6320-7ECB-0DE3-CFE3-75D39D17E505}"/>
              </a:ext>
            </a:extLst>
          </p:cNvPr>
          <p:cNvSpPr txBox="1"/>
          <p:nvPr/>
        </p:nvSpPr>
        <p:spPr>
          <a:xfrm>
            <a:off x="8496300" y="4267199"/>
            <a:ext cx="2895600" cy="381000"/>
          </a:xfrm>
          <a:prstGeom prst="rect">
            <a:avLst/>
          </a:prstGeom>
          <a:noFill/>
        </p:spPr>
        <p:txBody>
          <a:bodyPr vert="horz" wrap="square" lIns="0" tIns="0" rIns="76200" bIns="0" rtlCol="0">
            <a:noAutofit/>
          </a:bodyPr>
          <a:lstStyle/>
          <a:p>
            <a:r>
              <a:rPr lang="en-IN" sz="2400" b="1">
                <a:solidFill>
                  <a:srgbClr val="171C22"/>
                </a:solidFill>
                <a:latin typeface="Arial" panose="020B0604020202020204" pitchFamily="34" charset="0"/>
              </a:rPr>
              <a:t>Road history</a:t>
            </a:r>
          </a:p>
        </p:txBody>
      </p:sp>
      <p:sp>
        <p:nvSpPr>
          <p:cNvPr id="31" name="TextBox 30">
            <a:extLst>
              <a:ext uri="{FF2B5EF4-FFF2-40B4-BE49-F238E27FC236}">
                <a16:creationId xmlns:a16="http://schemas.microsoft.com/office/drawing/2014/main" id="{ECFE5040-E7F3-C364-6CE7-94F79F4DAEDC}"/>
              </a:ext>
            </a:extLst>
          </p:cNvPr>
          <p:cNvSpPr txBox="1"/>
          <p:nvPr/>
        </p:nvSpPr>
        <p:spPr>
          <a:xfrm>
            <a:off x="8496300" y="4724399"/>
            <a:ext cx="2895600" cy="342900"/>
          </a:xfrm>
          <a:prstGeom prst="rect">
            <a:avLst/>
          </a:prstGeom>
          <a:noFill/>
        </p:spPr>
        <p:txBody>
          <a:bodyPr vert="horz" wrap="square" lIns="0" tIns="0" rIns="76200" bIns="0" rtlCol="0">
            <a:noAutofit/>
          </a:bodyPr>
          <a:lstStyle/>
          <a:p>
            <a:r>
              <a:rPr lang="en-IN" sz="1600">
                <a:solidFill>
                  <a:srgbClr val="59616B"/>
                </a:solidFill>
                <a:latin typeface="Arial" panose="020B0604020202020204" pitchFamily="34" charset="0"/>
              </a:rPr>
              <a:t>Surveys &amp; repair trends</a:t>
            </a:r>
          </a:p>
        </p:txBody>
      </p:sp>
      <p:cxnSp>
        <p:nvCxnSpPr>
          <p:cNvPr id="32" name="Straight Connector 31">
            <a:extLst>
              <a:ext uri="{FF2B5EF4-FFF2-40B4-BE49-F238E27FC236}">
                <a16:creationId xmlns:a16="http://schemas.microsoft.com/office/drawing/2014/main" id="{E8582D8E-1C54-D2E0-AD0E-564DFB2A39F4}"/>
              </a:ext>
            </a:extLst>
          </p:cNvPr>
          <p:cNvCxnSpPr/>
          <p:nvPr/>
        </p:nvCxnSpPr>
        <p:spPr>
          <a:xfrm>
            <a:off x="609600" y="5664200"/>
            <a:ext cx="10972800" cy="0"/>
          </a:xfrm>
          <a:prstGeom prst="line">
            <a:avLst/>
          </a:prstGeom>
          <a:ln w="12700">
            <a:solidFill>
              <a:srgbClr val="D4D9DD"/>
            </a:solidFill>
          </a:ln>
        </p:spPr>
        <p:style>
          <a:lnRef idx="2">
            <a:schemeClr val="accent1"/>
          </a:lnRef>
          <a:fillRef idx="0">
            <a:schemeClr val="accent1"/>
          </a:fillRef>
          <a:effectRef idx="1">
            <a:schemeClr val="accent1"/>
          </a:effectRef>
          <a:fontRef idx="minor">
            <a:schemeClr val="tx1"/>
          </a:fontRef>
        </p:style>
      </p:cxnSp>
      <p:sp>
        <p:nvSpPr>
          <p:cNvPr id="33" name="TextBox 32">
            <a:extLst>
              <a:ext uri="{FF2B5EF4-FFF2-40B4-BE49-F238E27FC236}">
                <a16:creationId xmlns:a16="http://schemas.microsoft.com/office/drawing/2014/main" id="{030B60DF-3D8B-AA45-3058-132499022889}"/>
              </a:ext>
            </a:extLst>
          </p:cNvPr>
          <p:cNvSpPr txBox="1"/>
          <p:nvPr/>
        </p:nvSpPr>
        <p:spPr>
          <a:xfrm>
            <a:off x="609600" y="5841999"/>
            <a:ext cx="10972800" cy="482600"/>
          </a:xfrm>
          <a:prstGeom prst="rect">
            <a:avLst/>
          </a:prstGeom>
          <a:noFill/>
        </p:spPr>
        <p:txBody>
          <a:bodyPr vert="horz" wrap="square" lIns="0" tIns="0" rIns="76200" bIns="0" rtlCol="0">
            <a:noAutofit/>
          </a:bodyPr>
          <a:lstStyle/>
          <a:p>
            <a:r>
              <a:rPr lang="en-US" sz="1600">
                <a:solidFill>
                  <a:srgbClr val="176CA4"/>
                </a:solidFill>
                <a:latin typeface="Arial" panose="020B0604020202020204" pitchFamily="34" charset="0"/>
              </a:rPr>
              <a:t>Structured cases live in the database; original and annotated media live in object storage.</a:t>
            </a:r>
            <a:endParaRPr lang="en-IN" sz="1600">
              <a:solidFill>
                <a:srgbClr val="176CA4"/>
              </a:solidFill>
              <a:latin typeface="Arial" panose="020B0604020202020204" pitchFamily="34" charset="0"/>
            </a:endParaRPr>
          </a:p>
        </p:txBody>
      </p:sp>
    </p:spTree>
    <p:extLst>
      <p:ext uri="{BB962C8B-B14F-4D97-AF65-F5344CB8AC3E}">
        <p14:creationId xmlns:p14="http://schemas.microsoft.com/office/powerpoint/2010/main" val="14342937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55683A1-30CF-F6B6-490A-673403D71173}"/>
              </a:ext>
            </a:extLst>
          </p:cNvPr>
          <p:cNvSpPr txBox="1"/>
          <p:nvPr/>
        </p:nvSpPr>
        <p:spPr>
          <a:xfrm>
            <a:off x="609600" y="330199"/>
            <a:ext cx="10414000" cy="279400"/>
          </a:xfrm>
          <a:prstGeom prst="rect">
            <a:avLst/>
          </a:prstGeom>
          <a:noFill/>
        </p:spPr>
        <p:txBody>
          <a:bodyPr vert="horz" wrap="square" lIns="0" tIns="0" rIns="76200" bIns="0" rtlCol="0">
            <a:noAutofit/>
          </a:bodyPr>
          <a:lstStyle/>
          <a:p>
            <a:r>
              <a:rPr lang="en-IN" sz="1200" b="1">
                <a:solidFill>
                  <a:srgbClr val="176CA4"/>
                </a:solidFill>
                <a:latin typeface="Arial" panose="020B0604020202020204" pitchFamily="34" charset="0"/>
              </a:rPr>
              <a:t>MUNICIPAL OPERATIONS</a:t>
            </a:r>
          </a:p>
        </p:txBody>
      </p:sp>
      <p:sp>
        <p:nvSpPr>
          <p:cNvPr id="3" name="TextBox 2">
            <a:extLst>
              <a:ext uri="{FF2B5EF4-FFF2-40B4-BE49-F238E27FC236}">
                <a16:creationId xmlns:a16="http://schemas.microsoft.com/office/drawing/2014/main" id="{F35EEF57-C80A-B627-CF02-CB8D0B7EC89C}"/>
              </a:ext>
            </a:extLst>
          </p:cNvPr>
          <p:cNvSpPr txBox="1"/>
          <p:nvPr/>
        </p:nvSpPr>
        <p:spPr>
          <a:xfrm>
            <a:off x="609600" y="876299"/>
            <a:ext cx="10972800" cy="1130300"/>
          </a:xfrm>
          <a:prstGeom prst="rect">
            <a:avLst/>
          </a:prstGeom>
          <a:noFill/>
        </p:spPr>
        <p:txBody>
          <a:bodyPr vert="horz" wrap="square" lIns="0" tIns="0" rIns="76200" bIns="0" rtlCol="0">
            <a:noAutofit/>
          </a:bodyPr>
          <a:lstStyle/>
          <a:p>
            <a:r>
              <a:rPr lang="en-US" sz="3500" b="1">
                <a:solidFill>
                  <a:srgbClr val="171C22"/>
                </a:solidFill>
                <a:latin typeface="Arial" panose="020B0604020202020204" pitchFamily="34" charset="0"/>
              </a:rPr>
              <a:t>Officers control approval and closure</a:t>
            </a:r>
            <a:endParaRPr lang="en-IN" sz="3500" b="1">
              <a:solidFill>
                <a:srgbClr val="171C22"/>
              </a:solidFill>
              <a:latin typeface="Arial" panose="020B0604020202020204" pitchFamily="34" charset="0"/>
            </a:endParaRPr>
          </a:p>
        </p:txBody>
      </p:sp>
      <p:cxnSp>
        <p:nvCxnSpPr>
          <p:cNvPr id="4" name="Straight Connector 3">
            <a:extLst>
              <a:ext uri="{FF2B5EF4-FFF2-40B4-BE49-F238E27FC236}">
                <a16:creationId xmlns:a16="http://schemas.microsoft.com/office/drawing/2014/main" id="{5AAA7E4C-00FD-089B-A5B0-AD27AD10B328}"/>
              </a:ext>
            </a:extLst>
          </p:cNvPr>
          <p:cNvCxnSpPr/>
          <p:nvPr/>
        </p:nvCxnSpPr>
        <p:spPr>
          <a:xfrm>
            <a:off x="609600" y="6362700"/>
            <a:ext cx="10972800" cy="0"/>
          </a:xfrm>
          <a:prstGeom prst="line">
            <a:avLst/>
          </a:prstGeom>
          <a:ln w="12700">
            <a:solidFill>
              <a:srgbClr val="D4D9DD"/>
            </a:solidFill>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B475193D-4148-F116-5EC6-E9902C1E018E}"/>
              </a:ext>
            </a:extLst>
          </p:cNvPr>
          <p:cNvSpPr txBox="1"/>
          <p:nvPr/>
        </p:nvSpPr>
        <p:spPr>
          <a:xfrm>
            <a:off x="609600" y="6477000"/>
            <a:ext cx="8890000" cy="228600"/>
          </a:xfrm>
          <a:prstGeom prst="rect">
            <a:avLst/>
          </a:prstGeom>
          <a:noFill/>
        </p:spPr>
        <p:txBody>
          <a:bodyPr vert="horz" wrap="square" lIns="0" tIns="0" rIns="76200" bIns="0" rtlCol="0">
            <a:noAutofit/>
          </a:bodyPr>
          <a:lstStyle/>
          <a:p>
            <a:r>
              <a:rPr lang="en-IN" sz="1000">
                <a:solidFill>
                  <a:srgbClr val="59616B"/>
                </a:solidFill>
                <a:latin typeface="Arial" panose="020B0604020202020204" pitchFamily="34" charset="0"/>
              </a:rPr>
              <a:t>ROAD DAMAGE DETECTION  /  GECB</a:t>
            </a:r>
          </a:p>
        </p:txBody>
      </p:sp>
      <p:sp>
        <p:nvSpPr>
          <p:cNvPr id="6" name="TextBox 5">
            <a:extLst>
              <a:ext uri="{FF2B5EF4-FFF2-40B4-BE49-F238E27FC236}">
                <a16:creationId xmlns:a16="http://schemas.microsoft.com/office/drawing/2014/main" id="{39DFEC5C-3144-243A-98CD-C10371645911}"/>
              </a:ext>
            </a:extLst>
          </p:cNvPr>
          <p:cNvSpPr txBox="1"/>
          <p:nvPr/>
        </p:nvSpPr>
        <p:spPr>
          <a:xfrm>
            <a:off x="10617200" y="6477000"/>
            <a:ext cx="965200" cy="228600"/>
          </a:xfrm>
          <a:prstGeom prst="rect">
            <a:avLst/>
          </a:prstGeom>
          <a:noFill/>
        </p:spPr>
        <p:txBody>
          <a:bodyPr vert="horz" wrap="square" lIns="0" tIns="0" rIns="76200" bIns="0" rtlCol="0">
            <a:noAutofit/>
          </a:bodyPr>
          <a:lstStyle/>
          <a:p>
            <a:pPr algn="r"/>
            <a:r>
              <a:rPr lang="en-IN" sz="1000">
                <a:solidFill>
                  <a:srgbClr val="59616B"/>
                </a:solidFill>
                <a:latin typeface="Arial" panose="020B0604020202020204" pitchFamily="34" charset="0"/>
              </a:rPr>
              <a:t>09 / 12</a:t>
            </a:r>
          </a:p>
        </p:txBody>
      </p:sp>
      <p:sp>
        <p:nvSpPr>
          <p:cNvPr id="7" name="TextBox 6">
            <a:extLst>
              <a:ext uri="{FF2B5EF4-FFF2-40B4-BE49-F238E27FC236}">
                <a16:creationId xmlns:a16="http://schemas.microsoft.com/office/drawing/2014/main" id="{DFD3FA48-9CD8-6F1E-5C69-5BE9CF918301}"/>
              </a:ext>
            </a:extLst>
          </p:cNvPr>
          <p:cNvSpPr txBox="1"/>
          <p:nvPr/>
        </p:nvSpPr>
        <p:spPr>
          <a:xfrm>
            <a:off x="609600" y="2184399"/>
            <a:ext cx="622300" cy="431800"/>
          </a:xfrm>
          <a:prstGeom prst="rect">
            <a:avLst/>
          </a:prstGeom>
          <a:noFill/>
        </p:spPr>
        <p:txBody>
          <a:bodyPr vert="horz" wrap="square" lIns="0" tIns="0" rIns="76200" bIns="0" rtlCol="0">
            <a:noAutofit/>
          </a:bodyPr>
          <a:lstStyle/>
          <a:p>
            <a:r>
              <a:rPr lang="en-IN" sz="2400" b="1">
                <a:solidFill>
                  <a:srgbClr val="176CA4"/>
                </a:solidFill>
                <a:latin typeface="Arial" panose="020B0604020202020204" pitchFamily="34" charset="0"/>
              </a:rPr>
              <a:t>01</a:t>
            </a:r>
          </a:p>
        </p:txBody>
      </p:sp>
      <p:sp>
        <p:nvSpPr>
          <p:cNvPr id="8" name="TextBox 7">
            <a:extLst>
              <a:ext uri="{FF2B5EF4-FFF2-40B4-BE49-F238E27FC236}">
                <a16:creationId xmlns:a16="http://schemas.microsoft.com/office/drawing/2014/main" id="{ED305402-BB1D-9BFF-87DA-A10DCC060A70}"/>
              </a:ext>
            </a:extLst>
          </p:cNvPr>
          <p:cNvSpPr txBox="1"/>
          <p:nvPr/>
        </p:nvSpPr>
        <p:spPr>
          <a:xfrm>
            <a:off x="1409700" y="2184399"/>
            <a:ext cx="3619500" cy="825500"/>
          </a:xfrm>
          <a:prstGeom prst="rect">
            <a:avLst/>
          </a:prstGeom>
          <a:noFill/>
        </p:spPr>
        <p:txBody>
          <a:bodyPr vert="horz" wrap="square" lIns="0" tIns="0" rIns="76200" bIns="0" rtlCol="0">
            <a:noAutofit/>
          </a:bodyPr>
          <a:lstStyle/>
          <a:p>
            <a:r>
              <a:rPr lang="en-IN" sz="2400" b="1">
                <a:solidFill>
                  <a:srgbClr val="171C22"/>
                </a:solidFill>
                <a:latin typeface="Arial" panose="020B0604020202020204" pitchFamily="34" charset="0"/>
              </a:rPr>
              <a:t>Review the evidence</a:t>
            </a:r>
          </a:p>
        </p:txBody>
      </p:sp>
      <p:sp>
        <p:nvSpPr>
          <p:cNvPr id="9" name="TextBox 8">
            <a:extLst>
              <a:ext uri="{FF2B5EF4-FFF2-40B4-BE49-F238E27FC236}">
                <a16:creationId xmlns:a16="http://schemas.microsoft.com/office/drawing/2014/main" id="{CAAABE96-340E-1361-06BC-444797322684}"/>
              </a:ext>
            </a:extLst>
          </p:cNvPr>
          <p:cNvSpPr txBox="1"/>
          <p:nvPr/>
        </p:nvSpPr>
        <p:spPr>
          <a:xfrm>
            <a:off x="5397500" y="2197099"/>
            <a:ext cx="6184900" cy="825500"/>
          </a:xfrm>
          <a:prstGeom prst="rect">
            <a:avLst/>
          </a:prstGeom>
          <a:noFill/>
        </p:spPr>
        <p:txBody>
          <a:bodyPr vert="horz" wrap="square" lIns="0" tIns="0" rIns="76200" bIns="0" rtlCol="0">
            <a:noAutofit/>
          </a:bodyPr>
          <a:lstStyle/>
          <a:p>
            <a:r>
              <a:rPr lang="en-US" sz="1900">
                <a:solidFill>
                  <a:srgbClr val="59616B"/>
                </a:solidFill>
                <a:latin typeface="Arial" panose="020B0604020202020204" pitchFamily="34" charset="0"/>
              </a:rPr>
              <a:t>Inspect the photo, map, predicted damage and suggested priority.</a:t>
            </a:r>
            <a:endParaRPr lang="en-IN" sz="1900">
              <a:solidFill>
                <a:srgbClr val="59616B"/>
              </a:solidFill>
              <a:latin typeface="Arial" panose="020B0604020202020204" pitchFamily="34" charset="0"/>
            </a:endParaRPr>
          </a:p>
        </p:txBody>
      </p:sp>
      <p:cxnSp>
        <p:nvCxnSpPr>
          <p:cNvPr id="10" name="Straight Connector 9">
            <a:extLst>
              <a:ext uri="{FF2B5EF4-FFF2-40B4-BE49-F238E27FC236}">
                <a16:creationId xmlns:a16="http://schemas.microsoft.com/office/drawing/2014/main" id="{CE6556DD-4989-FE38-EC66-BF59CC4DB7D7}"/>
              </a:ext>
            </a:extLst>
          </p:cNvPr>
          <p:cNvCxnSpPr/>
          <p:nvPr/>
        </p:nvCxnSpPr>
        <p:spPr>
          <a:xfrm>
            <a:off x="1409700" y="3073400"/>
            <a:ext cx="10172700" cy="0"/>
          </a:xfrm>
          <a:prstGeom prst="line">
            <a:avLst/>
          </a:prstGeom>
          <a:ln w="12700">
            <a:solidFill>
              <a:srgbClr val="D4D9DD"/>
            </a:solidFill>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D6623621-E1B7-A7E2-82A9-887FE9C63F90}"/>
              </a:ext>
            </a:extLst>
          </p:cNvPr>
          <p:cNvSpPr txBox="1"/>
          <p:nvPr/>
        </p:nvSpPr>
        <p:spPr>
          <a:xfrm>
            <a:off x="609600" y="3276599"/>
            <a:ext cx="622300" cy="431800"/>
          </a:xfrm>
          <a:prstGeom prst="rect">
            <a:avLst/>
          </a:prstGeom>
          <a:noFill/>
        </p:spPr>
        <p:txBody>
          <a:bodyPr vert="horz" wrap="square" lIns="0" tIns="0" rIns="76200" bIns="0" rtlCol="0">
            <a:noAutofit/>
          </a:bodyPr>
          <a:lstStyle/>
          <a:p>
            <a:r>
              <a:rPr lang="en-IN" sz="2400" b="1">
                <a:solidFill>
                  <a:srgbClr val="176CA4"/>
                </a:solidFill>
                <a:latin typeface="Arial" panose="020B0604020202020204" pitchFamily="34" charset="0"/>
              </a:rPr>
              <a:t>02</a:t>
            </a:r>
          </a:p>
        </p:txBody>
      </p:sp>
      <p:sp>
        <p:nvSpPr>
          <p:cNvPr id="12" name="TextBox 11">
            <a:extLst>
              <a:ext uri="{FF2B5EF4-FFF2-40B4-BE49-F238E27FC236}">
                <a16:creationId xmlns:a16="http://schemas.microsoft.com/office/drawing/2014/main" id="{B31CD1EB-40ED-62B6-0E5F-AE141A5BB547}"/>
              </a:ext>
            </a:extLst>
          </p:cNvPr>
          <p:cNvSpPr txBox="1"/>
          <p:nvPr/>
        </p:nvSpPr>
        <p:spPr>
          <a:xfrm>
            <a:off x="1409700" y="3276599"/>
            <a:ext cx="3619500" cy="825500"/>
          </a:xfrm>
          <a:prstGeom prst="rect">
            <a:avLst/>
          </a:prstGeom>
          <a:noFill/>
        </p:spPr>
        <p:txBody>
          <a:bodyPr vert="horz" wrap="square" lIns="0" tIns="0" rIns="76200" bIns="0" rtlCol="0">
            <a:noAutofit/>
          </a:bodyPr>
          <a:lstStyle/>
          <a:p>
            <a:r>
              <a:rPr lang="en-IN" sz="2400" b="1">
                <a:solidFill>
                  <a:srgbClr val="171C22"/>
                </a:solidFill>
                <a:latin typeface="Arial" panose="020B0604020202020204" pitchFamily="34" charset="0"/>
              </a:rPr>
              <a:t>Decide and assign</a:t>
            </a:r>
          </a:p>
        </p:txBody>
      </p:sp>
      <p:sp>
        <p:nvSpPr>
          <p:cNvPr id="13" name="TextBox 12">
            <a:extLst>
              <a:ext uri="{FF2B5EF4-FFF2-40B4-BE49-F238E27FC236}">
                <a16:creationId xmlns:a16="http://schemas.microsoft.com/office/drawing/2014/main" id="{1DFF66B9-8163-907F-48E0-D416640511C4}"/>
              </a:ext>
            </a:extLst>
          </p:cNvPr>
          <p:cNvSpPr txBox="1"/>
          <p:nvPr/>
        </p:nvSpPr>
        <p:spPr>
          <a:xfrm>
            <a:off x="5397500" y="3289299"/>
            <a:ext cx="6184900" cy="825500"/>
          </a:xfrm>
          <a:prstGeom prst="rect">
            <a:avLst/>
          </a:prstGeom>
          <a:noFill/>
        </p:spPr>
        <p:txBody>
          <a:bodyPr vert="horz" wrap="square" lIns="0" tIns="0" rIns="76200" bIns="0" rtlCol="0">
            <a:noAutofit/>
          </a:bodyPr>
          <a:lstStyle/>
          <a:p>
            <a:r>
              <a:rPr lang="en-US" sz="1900">
                <a:solidFill>
                  <a:srgbClr val="59616B"/>
                </a:solidFill>
                <a:latin typeface="Arial" panose="020B0604020202020204" pitchFamily="34" charset="0"/>
              </a:rPr>
              <a:t>Accept, correct, reject or merge; assign an approved case with a target date.</a:t>
            </a:r>
            <a:endParaRPr lang="en-IN" sz="1900">
              <a:solidFill>
                <a:srgbClr val="59616B"/>
              </a:solidFill>
              <a:latin typeface="Arial" panose="020B0604020202020204" pitchFamily="34" charset="0"/>
            </a:endParaRPr>
          </a:p>
        </p:txBody>
      </p:sp>
      <p:cxnSp>
        <p:nvCxnSpPr>
          <p:cNvPr id="14" name="Straight Connector 13">
            <a:extLst>
              <a:ext uri="{FF2B5EF4-FFF2-40B4-BE49-F238E27FC236}">
                <a16:creationId xmlns:a16="http://schemas.microsoft.com/office/drawing/2014/main" id="{101C61E6-E2FE-843C-DCB8-064982AC868D}"/>
              </a:ext>
            </a:extLst>
          </p:cNvPr>
          <p:cNvCxnSpPr/>
          <p:nvPr/>
        </p:nvCxnSpPr>
        <p:spPr>
          <a:xfrm>
            <a:off x="1409700" y="4165600"/>
            <a:ext cx="10172700" cy="0"/>
          </a:xfrm>
          <a:prstGeom prst="line">
            <a:avLst/>
          </a:prstGeom>
          <a:ln w="12700">
            <a:solidFill>
              <a:srgbClr val="D4D9DD"/>
            </a:solidFill>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DF485398-1DFE-633E-FDB1-A6803F34501D}"/>
              </a:ext>
            </a:extLst>
          </p:cNvPr>
          <p:cNvSpPr txBox="1"/>
          <p:nvPr/>
        </p:nvSpPr>
        <p:spPr>
          <a:xfrm>
            <a:off x="609600" y="4368799"/>
            <a:ext cx="622300" cy="431800"/>
          </a:xfrm>
          <a:prstGeom prst="rect">
            <a:avLst/>
          </a:prstGeom>
          <a:noFill/>
        </p:spPr>
        <p:txBody>
          <a:bodyPr vert="horz" wrap="square" lIns="0" tIns="0" rIns="76200" bIns="0" rtlCol="0">
            <a:noAutofit/>
          </a:bodyPr>
          <a:lstStyle/>
          <a:p>
            <a:r>
              <a:rPr lang="en-IN" sz="2400" b="1">
                <a:solidFill>
                  <a:srgbClr val="176CA4"/>
                </a:solidFill>
                <a:latin typeface="Arial" panose="020B0604020202020204" pitchFamily="34" charset="0"/>
              </a:rPr>
              <a:t>03</a:t>
            </a:r>
          </a:p>
        </p:txBody>
      </p:sp>
      <p:sp>
        <p:nvSpPr>
          <p:cNvPr id="16" name="TextBox 15">
            <a:extLst>
              <a:ext uri="{FF2B5EF4-FFF2-40B4-BE49-F238E27FC236}">
                <a16:creationId xmlns:a16="http://schemas.microsoft.com/office/drawing/2014/main" id="{580ED7BD-9983-96F2-7C40-CDBFBCBE802B}"/>
              </a:ext>
            </a:extLst>
          </p:cNvPr>
          <p:cNvSpPr txBox="1"/>
          <p:nvPr/>
        </p:nvSpPr>
        <p:spPr>
          <a:xfrm>
            <a:off x="1409700" y="4368799"/>
            <a:ext cx="3619500" cy="825500"/>
          </a:xfrm>
          <a:prstGeom prst="rect">
            <a:avLst/>
          </a:prstGeom>
          <a:noFill/>
        </p:spPr>
        <p:txBody>
          <a:bodyPr vert="horz" wrap="square" lIns="0" tIns="0" rIns="76200" bIns="0" rtlCol="0">
            <a:noAutofit/>
          </a:bodyPr>
          <a:lstStyle/>
          <a:p>
            <a:r>
              <a:rPr lang="en-IN" sz="2400" b="1">
                <a:solidFill>
                  <a:srgbClr val="171C22"/>
                </a:solidFill>
                <a:latin typeface="Arial" panose="020B0604020202020204" pitchFamily="34" charset="0"/>
              </a:rPr>
              <a:t>Verify the repair</a:t>
            </a:r>
          </a:p>
        </p:txBody>
      </p:sp>
      <p:sp>
        <p:nvSpPr>
          <p:cNvPr id="17" name="TextBox 16">
            <a:extLst>
              <a:ext uri="{FF2B5EF4-FFF2-40B4-BE49-F238E27FC236}">
                <a16:creationId xmlns:a16="http://schemas.microsoft.com/office/drawing/2014/main" id="{B167D292-1555-B398-F133-8E61570CDA69}"/>
              </a:ext>
            </a:extLst>
          </p:cNvPr>
          <p:cNvSpPr txBox="1"/>
          <p:nvPr/>
        </p:nvSpPr>
        <p:spPr>
          <a:xfrm>
            <a:off x="5397500" y="4381499"/>
            <a:ext cx="6184900" cy="825500"/>
          </a:xfrm>
          <a:prstGeom prst="rect">
            <a:avLst/>
          </a:prstGeom>
          <a:noFill/>
        </p:spPr>
        <p:txBody>
          <a:bodyPr vert="horz" wrap="square" lIns="0" tIns="0" rIns="76200" bIns="0" rtlCol="0">
            <a:noAutofit/>
          </a:bodyPr>
          <a:lstStyle/>
          <a:p>
            <a:r>
              <a:rPr lang="en-US" sz="1900">
                <a:solidFill>
                  <a:srgbClr val="59616B"/>
                </a:solidFill>
                <a:latin typeface="Arial" panose="020B0604020202020204" pitchFamily="34" charset="0"/>
              </a:rPr>
              <a:t>Compare before/after evidence from the same location; close or return for more work.</a:t>
            </a:r>
            <a:endParaRPr lang="en-IN" sz="1900">
              <a:solidFill>
                <a:srgbClr val="59616B"/>
              </a:solidFill>
              <a:latin typeface="Arial" panose="020B0604020202020204" pitchFamily="34" charset="0"/>
            </a:endParaRPr>
          </a:p>
        </p:txBody>
      </p:sp>
      <p:cxnSp>
        <p:nvCxnSpPr>
          <p:cNvPr id="18" name="Straight Connector 17">
            <a:extLst>
              <a:ext uri="{FF2B5EF4-FFF2-40B4-BE49-F238E27FC236}">
                <a16:creationId xmlns:a16="http://schemas.microsoft.com/office/drawing/2014/main" id="{56CC3B48-1FAD-C8D0-2FB4-EF00F6356D04}"/>
              </a:ext>
            </a:extLst>
          </p:cNvPr>
          <p:cNvCxnSpPr/>
          <p:nvPr/>
        </p:nvCxnSpPr>
        <p:spPr>
          <a:xfrm>
            <a:off x="609600" y="5664200"/>
            <a:ext cx="10972800" cy="0"/>
          </a:xfrm>
          <a:prstGeom prst="line">
            <a:avLst/>
          </a:prstGeom>
          <a:ln w="12700">
            <a:solidFill>
              <a:srgbClr val="D4D9DD"/>
            </a:solidFill>
          </a:ln>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51A7410E-25D6-0CBA-15ED-3E1CAEEB205B}"/>
              </a:ext>
            </a:extLst>
          </p:cNvPr>
          <p:cNvSpPr txBox="1"/>
          <p:nvPr/>
        </p:nvSpPr>
        <p:spPr>
          <a:xfrm>
            <a:off x="609600" y="5841999"/>
            <a:ext cx="10972800" cy="482600"/>
          </a:xfrm>
          <a:prstGeom prst="rect">
            <a:avLst/>
          </a:prstGeom>
          <a:noFill/>
        </p:spPr>
        <p:txBody>
          <a:bodyPr vert="horz" wrap="square" lIns="0" tIns="0" rIns="76200" bIns="0" rtlCol="0">
            <a:noAutofit/>
          </a:bodyPr>
          <a:lstStyle/>
          <a:p>
            <a:r>
              <a:rPr lang="en-US" sz="1600">
                <a:solidFill>
                  <a:srgbClr val="176CA4"/>
                </a:solidFill>
                <a:latin typeface="Arial" panose="020B0604020202020204" pitchFamily="34" charset="0"/>
              </a:rPr>
              <a:t>Every decision retains the responsible user, timestamp and reason.</a:t>
            </a:r>
            <a:endParaRPr lang="en-IN" sz="1600">
              <a:solidFill>
                <a:srgbClr val="176CA4"/>
              </a:solidFill>
              <a:latin typeface="Arial" panose="020B0604020202020204" pitchFamily="34" charset="0"/>
            </a:endParaRPr>
          </a:p>
        </p:txBody>
      </p:sp>
    </p:spTree>
    <p:extLst>
      <p:ext uri="{BB962C8B-B14F-4D97-AF65-F5344CB8AC3E}">
        <p14:creationId xmlns:p14="http://schemas.microsoft.com/office/powerpoint/2010/main" val="28798482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7ACD41C-62B8-F968-3439-1DAB77245411}"/>
              </a:ext>
            </a:extLst>
          </p:cNvPr>
          <p:cNvSpPr txBox="1"/>
          <p:nvPr/>
        </p:nvSpPr>
        <p:spPr>
          <a:xfrm>
            <a:off x="609600" y="330199"/>
            <a:ext cx="10414000" cy="279400"/>
          </a:xfrm>
          <a:prstGeom prst="rect">
            <a:avLst/>
          </a:prstGeom>
          <a:noFill/>
        </p:spPr>
        <p:txBody>
          <a:bodyPr vert="horz" wrap="square" lIns="0" tIns="0" rIns="76200" bIns="0" rtlCol="0">
            <a:noAutofit/>
          </a:bodyPr>
          <a:lstStyle/>
          <a:p>
            <a:r>
              <a:rPr lang="en-IN" sz="1200" b="1">
                <a:solidFill>
                  <a:srgbClr val="176CA4"/>
                </a:solidFill>
                <a:latin typeface="Arial" panose="020B0604020202020204" pitchFamily="34" charset="0"/>
              </a:rPr>
              <a:t>IMPLEMENTATION &amp; REQUIREMENTS</a:t>
            </a:r>
          </a:p>
        </p:txBody>
      </p:sp>
      <p:sp>
        <p:nvSpPr>
          <p:cNvPr id="3" name="TextBox 2">
            <a:extLst>
              <a:ext uri="{FF2B5EF4-FFF2-40B4-BE49-F238E27FC236}">
                <a16:creationId xmlns:a16="http://schemas.microsoft.com/office/drawing/2014/main" id="{F58AC91D-0583-8AF4-454C-C82E1238AD78}"/>
              </a:ext>
            </a:extLst>
          </p:cNvPr>
          <p:cNvSpPr txBox="1"/>
          <p:nvPr/>
        </p:nvSpPr>
        <p:spPr>
          <a:xfrm>
            <a:off x="609600" y="876299"/>
            <a:ext cx="10972800" cy="1130300"/>
          </a:xfrm>
          <a:prstGeom prst="rect">
            <a:avLst/>
          </a:prstGeom>
          <a:noFill/>
        </p:spPr>
        <p:txBody>
          <a:bodyPr vert="horz" wrap="square" lIns="0" tIns="0" rIns="76200" bIns="0" rtlCol="0">
            <a:noAutofit/>
          </a:bodyPr>
          <a:lstStyle/>
          <a:p>
            <a:r>
              <a:rPr lang="en-US" sz="3500" b="1">
                <a:solidFill>
                  <a:srgbClr val="171C22"/>
                </a:solidFill>
                <a:latin typeface="Arial" panose="020B0604020202020204" pitchFamily="34" charset="0"/>
              </a:rPr>
              <a:t>Build the prototype in four stages</a:t>
            </a:r>
            <a:endParaRPr lang="en-IN" sz="3500" b="1">
              <a:solidFill>
                <a:srgbClr val="171C22"/>
              </a:solidFill>
              <a:latin typeface="Arial" panose="020B0604020202020204" pitchFamily="34" charset="0"/>
            </a:endParaRPr>
          </a:p>
        </p:txBody>
      </p:sp>
      <p:cxnSp>
        <p:nvCxnSpPr>
          <p:cNvPr id="4" name="Straight Connector 3">
            <a:extLst>
              <a:ext uri="{FF2B5EF4-FFF2-40B4-BE49-F238E27FC236}">
                <a16:creationId xmlns:a16="http://schemas.microsoft.com/office/drawing/2014/main" id="{58731735-928E-0FE8-7EC1-1010AE051221}"/>
              </a:ext>
            </a:extLst>
          </p:cNvPr>
          <p:cNvCxnSpPr/>
          <p:nvPr/>
        </p:nvCxnSpPr>
        <p:spPr>
          <a:xfrm>
            <a:off x="609600" y="6362700"/>
            <a:ext cx="10972800" cy="0"/>
          </a:xfrm>
          <a:prstGeom prst="line">
            <a:avLst/>
          </a:prstGeom>
          <a:ln w="12700">
            <a:solidFill>
              <a:srgbClr val="D4D9DD"/>
            </a:solidFill>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4FEF3DB4-1C4F-10B0-C2DF-46F57BC705C2}"/>
              </a:ext>
            </a:extLst>
          </p:cNvPr>
          <p:cNvSpPr txBox="1"/>
          <p:nvPr/>
        </p:nvSpPr>
        <p:spPr>
          <a:xfrm>
            <a:off x="609600" y="6477000"/>
            <a:ext cx="8890000" cy="228600"/>
          </a:xfrm>
          <a:prstGeom prst="rect">
            <a:avLst/>
          </a:prstGeom>
          <a:noFill/>
        </p:spPr>
        <p:txBody>
          <a:bodyPr vert="horz" wrap="square" lIns="0" tIns="0" rIns="76200" bIns="0" rtlCol="0">
            <a:noAutofit/>
          </a:bodyPr>
          <a:lstStyle/>
          <a:p>
            <a:r>
              <a:rPr lang="en-IN" sz="1000">
                <a:solidFill>
                  <a:srgbClr val="59616B"/>
                </a:solidFill>
                <a:latin typeface="Arial" panose="020B0604020202020204" pitchFamily="34" charset="0"/>
              </a:rPr>
              <a:t>ROAD DAMAGE DETECTION  /  GECB</a:t>
            </a:r>
          </a:p>
        </p:txBody>
      </p:sp>
      <p:sp>
        <p:nvSpPr>
          <p:cNvPr id="6" name="TextBox 5">
            <a:extLst>
              <a:ext uri="{FF2B5EF4-FFF2-40B4-BE49-F238E27FC236}">
                <a16:creationId xmlns:a16="http://schemas.microsoft.com/office/drawing/2014/main" id="{AC4D662D-340C-31AA-52C9-2477FBB81A92}"/>
              </a:ext>
            </a:extLst>
          </p:cNvPr>
          <p:cNvSpPr txBox="1"/>
          <p:nvPr/>
        </p:nvSpPr>
        <p:spPr>
          <a:xfrm>
            <a:off x="10617200" y="6477000"/>
            <a:ext cx="965200" cy="228600"/>
          </a:xfrm>
          <a:prstGeom prst="rect">
            <a:avLst/>
          </a:prstGeom>
          <a:noFill/>
        </p:spPr>
        <p:txBody>
          <a:bodyPr vert="horz" wrap="square" lIns="0" tIns="0" rIns="76200" bIns="0" rtlCol="0">
            <a:noAutofit/>
          </a:bodyPr>
          <a:lstStyle/>
          <a:p>
            <a:pPr algn="r"/>
            <a:r>
              <a:rPr lang="en-IN" sz="1000">
                <a:solidFill>
                  <a:srgbClr val="59616B"/>
                </a:solidFill>
                <a:latin typeface="Arial" panose="020B0604020202020204" pitchFamily="34" charset="0"/>
              </a:rPr>
              <a:t>10 / 12</a:t>
            </a:r>
          </a:p>
        </p:txBody>
      </p:sp>
      <p:cxnSp>
        <p:nvCxnSpPr>
          <p:cNvPr id="7" name="Straight Connector 6">
            <a:extLst>
              <a:ext uri="{FF2B5EF4-FFF2-40B4-BE49-F238E27FC236}">
                <a16:creationId xmlns:a16="http://schemas.microsoft.com/office/drawing/2014/main" id="{8BCA742B-49A3-DB73-0111-E7002DCFEB8F}"/>
              </a:ext>
            </a:extLst>
          </p:cNvPr>
          <p:cNvCxnSpPr/>
          <p:nvPr/>
        </p:nvCxnSpPr>
        <p:spPr>
          <a:xfrm>
            <a:off x="609600" y="3073400"/>
            <a:ext cx="10858500" cy="0"/>
          </a:xfrm>
          <a:prstGeom prst="line">
            <a:avLst/>
          </a:prstGeom>
          <a:ln w="25400">
            <a:solidFill>
              <a:srgbClr val="176CA4"/>
            </a:solidFill>
            <a:tailEnd type="arrow"/>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B3722643-9F69-55EB-D2D0-A806E0ACD53E}"/>
              </a:ext>
            </a:extLst>
          </p:cNvPr>
          <p:cNvSpPr txBox="1"/>
          <p:nvPr/>
        </p:nvSpPr>
        <p:spPr>
          <a:xfrm>
            <a:off x="609600" y="2209799"/>
            <a:ext cx="2451100" cy="850900"/>
          </a:xfrm>
          <a:prstGeom prst="rect">
            <a:avLst/>
          </a:prstGeom>
          <a:noFill/>
        </p:spPr>
        <p:txBody>
          <a:bodyPr vert="horz" wrap="square" lIns="0" tIns="0" rIns="76200" bIns="0" rtlCol="0">
            <a:noAutofit/>
          </a:bodyPr>
          <a:lstStyle/>
          <a:p>
            <a:r>
              <a:rPr lang="en-IN" sz="2400" b="1">
                <a:solidFill>
                  <a:srgbClr val="171C22"/>
                </a:solidFill>
                <a:latin typeface="Arial" panose="020B0604020202020204" pitchFamily="34" charset="0"/>
              </a:rPr>
              <a:t>1  Detection baseline</a:t>
            </a:r>
          </a:p>
        </p:txBody>
      </p:sp>
      <p:sp>
        <p:nvSpPr>
          <p:cNvPr id="9" name="TextBox 8">
            <a:extLst>
              <a:ext uri="{FF2B5EF4-FFF2-40B4-BE49-F238E27FC236}">
                <a16:creationId xmlns:a16="http://schemas.microsoft.com/office/drawing/2014/main" id="{4E5CF9C0-F64A-F625-7118-CF43CF7EC7C9}"/>
              </a:ext>
            </a:extLst>
          </p:cNvPr>
          <p:cNvSpPr txBox="1"/>
          <p:nvPr/>
        </p:nvSpPr>
        <p:spPr>
          <a:xfrm>
            <a:off x="609600" y="3428999"/>
            <a:ext cx="2451100" cy="1892300"/>
          </a:xfrm>
          <a:prstGeom prst="rect">
            <a:avLst/>
          </a:prstGeom>
          <a:noFill/>
        </p:spPr>
        <p:txBody>
          <a:bodyPr vert="horz" wrap="square" lIns="0" tIns="0" rIns="76200" bIns="0" rtlCol="0">
            <a:noAutofit/>
          </a:bodyPr>
          <a:lstStyle/>
          <a:p>
            <a:r>
              <a:rPr lang="en-US">
                <a:solidFill>
                  <a:srgbClr val="59616B"/>
                </a:solidFill>
                <a:latin typeface="Arial" panose="020B0604020202020204" pitchFamily="34" charset="0"/>
              </a:rPr>
              <a:t>Confirm model classes; test annotated images and video sampling.</a:t>
            </a:r>
            <a:endParaRPr lang="en-IN">
              <a:solidFill>
                <a:srgbClr val="59616B"/>
              </a:solidFill>
              <a:latin typeface="Arial" panose="020B0604020202020204" pitchFamily="34" charset="0"/>
            </a:endParaRPr>
          </a:p>
        </p:txBody>
      </p:sp>
      <p:sp>
        <p:nvSpPr>
          <p:cNvPr id="10" name="TextBox 9">
            <a:extLst>
              <a:ext uri="{FF2B5EF4-FFF2-40B4-BE49-F238E27FC236}">
                <a16:creationId xmlns:a16="http://schemas.microsoft.com/office/drawing/2014/main" id="{23FFFE52-8BE5-DBCC-CA77-C421D3EA96E7}"/>
              </a:ext>
            </a:extLst>
          </p:cNvPr>
          <p:cNvSpPr txBox="1"/>
          <p:nvPr/>
        </p:nvSpPr>
        <p:spPr>
          <a:xfrm>
            <a:off x="3454400" y="2209799"/>
            <a:ext cx="2451100" cy="850900"/>
          </a:xfrm>
          <a:prstGeom prst="rect">
            <a:avLst/>
          </a:prstGeom>
          <a:noFill/>
        </p:spPr>
        <p:txBody>
          <a:bodyPr vert="horz" wrap="square" lIns="0" tIns="0" rIns="76200" bIns="0" rtlCol="0">
            <a:noAutofit/>
          </a:bodyPr>
          <a:lstStyle/>
          <a:p>
            <a:r>
              <a:rPr lang="en-IN" sz="2400" b="1">
                <a:solidFill>
                  <a:srgbClr val="171C22"/>
                </a:solidFill>
                <a:latin typeface="Arial" panose="020B0604020202020204" pitchFamily="34" charset="0"/>
              </a:rPr>
              <a:t>2  Incident pipeline</a:t>
            </a:r>
          </a:p>
        </p:txBody>
      </p:sp>
      <p:sp>
        <p:nvSpPr>
          <p:cNvPr id="11" name="TextBox 10">
            <a:extLst>
              <a:ext uri="{FF2B5EF4-FFF2-40B4-BE49-F238E27FC236}">
                <a16:creationId xmlns:a16="http://schemas.microsoft.com/office/drawing/2014/main" id="{E9DD5CFC-596D-0B2C-DFC8-7A14965C222F}"/>
              </a:ext>
            </a:extLst>
          </p:cNvPr>
          <p:cNvSpPr txBox="1"/>
          <p:nvPr/>
        </p:nvSpPr>
        <p:spPr>
          <a:xfrm>
            <a:off x="3454400" y="3428999"/>
            <a:ext cx="2451100" cy="1892300"/>
          </a:xfrm>
          <a:prstGeom prst="rect">
            <a:avLst/>
          </a:prstGeom>
          <a:noFill/>
        </p:spPr>
        <p:txBody>
          <a:bodyPr vert="horz" wrap="square" lIns="0" tIns="0" rIns="76200" bIns="0" rtlCol="0">
            <a:noAutofit/>
          </a:bodyPr>
          <a:lstStyle/>
          <a:p>
            <a:r>
              <a:rPr lang="en-US">
                <a:solidFill>
                  <a:srgbClr val="59616B"/>
                </a:solidFill>
                <a:latin typeface="Arial" panose="020B0604020202020204" pitchFamily="34" charset="0"/>
              </a:rPr>
              <a:t>Connect uploads, GPS, duplicate grouping and provisional scores.</a:t>
            </a:r>
            <a:endParaRPr lang="en-IN">
              <a:solidFill>
                <a:srgbClr val="59616B"/>
              </a:solidFill>
              <a:latin typeface="Arial" panose="020B0604020202020204" pitchFamily="34" charset="0"/>
            </a:endParaRPr>
          </a:p>
        </p:txBody>
      </p:sp>
      <p:sp>
        <p:nvSpPr>
          <p:cNvPr id="12" name="TextBox 11">
            <a:extLst>
              <a:ext uri="{FF2B5EF4-FFF2-40B4-BE49-F238E27FC236}">
                <a16:creationId xmlns:a16="http://schemas.microsoft.com/office/drawing/2014/main" id="{5FF542EB-4CB0-ABE8-8B33-B9112E7E68F4}"/>
              </a:ext>
            </a:extLst>
          </p:cNvPr>
          <p:cNvSpPr txBox="1"/>
          <p:nvPr/>
        </p:nvSpPr>
        <p:spPr>
          <a:xfrm>
            <a:off x="6299200" y="2209799"/>
            <a:ext cx="2451100" cy="850900"/>
          </a:xfrm>
          <a:prstGeom prst="rect">
            <a:avLst/>
          </a:prstGeom>
          <a:noFill/>
        </p:spPr>
        <p:txBody>
          <a:bodyPr vert="horz" wrap="square" lIns="0" tIns="0" rIns="76200" bIns="0" rtlCol="0">
            <a:noAutofit/>
          </a:bodyPr>
          <a:lstStyle/>
          <a:p>
            <a:r>
              <a:rPr lang="en-IN" sz="2400" b="1">
                <a:solidFill>
                  <a:srgbClr val="171C22"/>
                </a:solidFill>
                <a:latin typeface="Arial" panose="020B0604020202020204" pitchFamily="34" charset="0"/>
              </a:rPr>
              <a:t>3  Municipal workflow</a:t>
            </a:r>
          </a:p>
        </p:txBody>
      </p:sp>
      <p:sp>
        <p:nvSpPr>
          <p:cNvPr id="13" name="TextBox 12">
            <a:extLst>
              <a:ext uri="{FF2B5EF4-FFF2-40B4-BE49-F238E27FC236}">
                <a16:creationId xmlns:a16="http://schemas.microsoft.com/office/drawing/2014/main" id="{6BA723C4-12FB-DF85-9322-235F4C59AB80}"/>
              </a:ext>
            </a:extLst>
          </p:cNvPr>
          <p:cNvSpPr txBox="1"/>
          <p:nvPr/>
        </p:nvSpPr>
        <p:spPr>
          <a:xfrm>
            <a:off x="6299200" y="3428999"/>
            <a:ext cx="2451100" cy="1892300"/>
          </a:xfrm>
          <a:prstGeom prst="rect">
            <a:avLst/>
          </a:prstGeom>
          <a:noFill/>
        </p:spPr>
        <p:txBody>
          <a:bodyPr vert="horz" wrap="square" lIns="0" tIns="0" rIns="76200" bIns="0" rtlCol="0">
            <a:noAutofit/>
          </a:bodyPr>
          <a:lstStyle/>
          <a:p>
            <a:r>
              <a:rPr lang="en-US">
                <a:solidFill>
                  <a:srgbClr val="59616B"/>
                </a:solidFill>
                <a:latin typeface="Arial" panose="020B0604020202020204" pitchFamily="34" charset="0"/>
              </a:rPr>
              <a:t>Add role-based review, assignment, repair evidence and history.</a:t>
            </a:r>
            <a:endParaRPr lang="en-IN">
              <a:solidFill>
                <a:srgbClr val="59616B"/>
              </a:solidFill>
              <a:latin typeface="Arial" panose="020B0604020202020204" pitchFamily="34" charset="0"/>
            </a:endParaRPr>
          </a:p>
        </p:txBody>
      </p:sp>
      <p:sp>
        <p:nvSpPr>
          <p:cNvPr id="14" name="TextBox 13">
            <a:extLst>
              <a:ext uri="{FF2B5EF4-FFF2-40B4-BE49-F238E27FC236}">
                <a16:creationId xmlns:a16="http://schemas.microsoft.com/office/drawing/2014/main" id="{3C833CA7-187B-03D9-14BA-579D73165A1D}"/>
              </a:ext>
            </a:extLst>
          </p:cNvPr>
          <p:cNvSpPr txBox="1"/>
          <p:nvPr/>
        </p:nvSpPr>
        <p:spPr>
          <a:xfrm>
            <a:off x="9144000" y="2209799"/>
            <a:ext cx="2451100" cy="850900"/>
          </a:xfrm>
          <a:prstGeom prst="rect">
            <a:avLst/>
          </a:prstGeom>
          <a:noFill/>
        </p:spPr>
        <p:txBody>
          <a:bodyPr vert="horz" wrap="square" lIns="0" tIns="0" rIns="76200" bIns="0" rtlCol="0">
            <a:noAutofit/>
          </a:bodyPr>
          <a:lstStyle/>
          <a:p>
            <a:r>
              <a:rPr lang="en-IN" sz="2400" b="1">
                <a:solidFill>
                  <a:srgbClr val="171C22"/>
                </a:solidFill>
                <a:latin typeface="Arial" panose="020B0604020202020204" pitchFamily="34" charset="0"/>
              </a:rPr>
              <a:t>4  End-to-end validation</a:t>
            </a:r>
          </a:p>
        </p:txBody>
      </p:sp>
      <p:sp>
        <p:nvSpPr>
          <p:cNvPr id="15" name="TextBox 14">
            <a:extLst>
              <a:ext uri="{FF2B5EF4-FFF2-40B4-BE49-F238E27FC236}">
                <a16:creationId xmlns:a16="http://schemas.microsoft.com/office/drawing/2014/main" id="{26EB2DD0-389E-5CF8-927B-806151C36FE1}"/>
              </a:ext>
            </a:extLst>
          </p:cNvPr>
          <p:cNvSpPr txBox="1"/>
          <p:nvPr/>
        </p:nvSpPr>
        <p:spPr>
          <a:xfrm>
            <a:off x="9144000" y="3428999"/>
            <a:ext cx="2451100" cy="1892300"/>
          </a:xfrm>
          <a:prstGeom prst="rect">
            <a:avLst/>
          </a:prstGeom>
          <a:noFill/>
        </p:spPr>
        <p:txBody>
          <a:bodyPr vert="horz" wrap="square" lIns="0" tIns="0" rIns="76200" bIns="0" rtlCol="0">
            <a:noAutofit/>
          </a:bodyPr>
          <a:lstStyle/>
          <a:p>
            <a:r>
              <a:rPr lang="en-US">
                <a:solidFill>
                  <a:srgbClr val="59616B"/>
                </a:solidFill>
                <a:latin typeface="Arial" panose="020B0604020202020204" pitchFamily="34" charset="0"/>
              </a:rPr>
              <a:t>Measure quality and delay; test failures and closure controls.</a:t>
            </a:r>
            <a:endParaRPr lang="en-IN">
              <a:solidFill>
                <a:srgbClr val="59616B"/>
              </a:solidFill>
              <a:latin typeface="Arial" panose="020B0604020202020204" pitchFamily="34" charset="0"/>
            </a:endParaRPr>
          </a:p>
        </p:txBody>
      </p:sp>
      <p:cxnSp>
        <p:nvCxnSpPr>
          <p:cNvPr id="16" name="Straight Connector 15">
            <a:extLst>
              <a:ext uri="{FF2B5EF4-FFF2-40B4-BE49-F238E27FC236}">
                <a16:creationId xmlns:a16="http://schemas.microsoft.com/office/drawing/2014/main" id="{1881A677-906E-EDF9-6447-2DF24397C92D}"/>
              </a:ext>
            </a:extLst>
          </p:cNvPr>
          <p:cNvCxnSpPr/>
          <p:nvPr/>
        </p:nvCxnSpPr>
        <p:spPr>
          <a:xfrm>
            <a:off x="609600" y="5664200"/>
            <a:ext cx="10972800" cy="0"/>
          </a:xfrm>
          <a:prstGeom prst="line">
            <a:avLst/>
          </a:prstGeom>
          <a:ln w="12700">
            <a:solidFill>
              <a:srgbClr val="D4D9DD"/>
            </a:solidFill>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9FB9EE77-7503-120A-76BC-F9A2E53A741A}"/>
              </a:ext>
            </a:extLst>
          </p:cNvPr>
          <p:cNvSpPr txBox="1"/>
          <p:nvPr/>
        </p:nvSpPr>
        <p:spPr>
          <a:xfrm>
            <a:off x="609600" y="5841999"/>
            <a:ext cx="10972800" cy="482600"/>
          </a:xfrm>
          <a:prstGeom prst="rect">
            <a:avLst/>
          </a:prstGeom>
          <a:noFill/>
        </p:spPr>
        <p:txBody>
          <a:bodyPr vert="horz" wrap="square" lIns="0" tIns="0" rIns="76200" bIns="0" rtlCol="0">
            <a:noAutofit/>
          </a:bodyPr>
          <a:lstStyle/>
          <a:p>
            <a:r>
              <a:rPr lang="en-IN" sz="1600">
                <a:solidFill>
                  <a:srgbClr val="176CA4"/>
                </a:solidFill>
                <a:latin typeface="Arial" panose="020B0604020202020204" pitchFamily="34" charset="0"/>
              </a:rPr>
              <a:t>Starting setup: GPS phone · 4-core PC · 16 GB RAM · ~50 GB SSD · optional GPU</a:t>
            </a:r>
          </a:p>
        </p:txBody>
      </p:sp>
    </p:spTree>
    <p:extLst>
      <p:ext uri="{BB962C8B-B14F-4D97-AF65-F5344CB8AC3E}">
        <p14:creationId xmlns:p14="http://schemas.microsoft.com/office/powerpoint/2010/main" val="11228028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41C894C-2871-414D-480F-950763ED4418}"/>
              </a:ext>
            </a:extLst>
          </p:cNvPr>
          <p:cNvSpPr txBox="1"/>
          <p:nvPr/>
        </p:nvSpPr>
        <p:spPr>
          <a:xfrm>
            <a:off x="609600" y="330199"/>
            <a:ext cx="10414000" cy="279400"/>
          </a:xfrm>
          <a:prstGeom prst="rect">
            <a:avLst/>
          </a:prstGeom>
          <a:noFill/>
        </p:spPr>
        <p:txBody>
          <a:bodyPr vert="horz" wrap="square" lIns="0" tIns="0" rIns="76200" bIns="0" rtlCol="0">
            <a:noAutofit/>
          </a:bodyPr>
          <a:lstStyle/>
          <a:p>
            <a:r>
              <a:rPr lang="en-IN" sz="1200" b="1">
                <a:solidFill>
                  <a:srgbClr val="176CA4"/>
                </a:solidFill>
                <a:latin typeface="Arial" panose="020B0604020202020204" pitchFamily="34" charset="0"/>
              </a:rPr>
              <a:t>VALIDATION PLAN</a:t>
            </a:r>
          </a:p>
        </p:txBody>
      </p:sp>
      <p:sp>
        <p:nvSpPr>
          <p:cNvPr id="3" name="TextBox 2">
            <a:extLst>
              <a:ext uri="{FF2B5EF4-FFF2-40B4-BE49-F238E27FC236}">
                <a16:creationId xmlns:a16="http://schemas.microsoft.com/office/drawing/2014/main" id="{92C2B30E-2290-E5CF-5DA5-3149001BC419}"/>
              </a:ext>
            </a:extLst>
          </p:cNvPr>
          <p:cNvSpPr txBox="1"/>
          <p:nvPr/>
        </p:nvSpPr>
        <p:spPr>
          <a:xfrm>
            <a:off x="609600" y="876299"/>
            <a:ext cx="10972800" cy="1130300"/>
          </a:xfrm>
          <a:prstGeom prst="rect">
            <a:avLst/>
          </a:prstGeom>
          <a:noFill/>
        </p:spPr>
        <p:txBody>
          <a:bodyPr vert="horz" wrap="square" lIns="0" tIns="0" rIns="76200" bIns="0" rtlCol="0">
            <a:noAutofit/>
          </a:bodyPr>
          <a:lstStyle/>
          <a:p>
            <a:r>
              <a:rPr lang="en-US" sz="3500" b="1">
                <a:solidFill>
                  <a:srgbClr val="171C22"/>
                </a:solidFill>
                <a:latin typeface="Arial" panose="020B0604020202020204" pitchFamily="34" charset="0"/>
              </a:rPr>
              <a:t>Test the AI and the complete workflow</a:t>
            </a:r>
            <a:endParaRPr lang="en-IN" sz="3500" b="1">
              <a:solidFill>
                <a:srgbClr val="171C22"/>
              </a:solidFill>
              <a:latin typeface="Arial" panose="020B0604020202020204" pitchFamily="34" charset="0"/>
            </a:endParaRPr>
          </a:p>
        </p:txBody>
      </p:sp>
      <p:cxnSp>
        <p:nvCxnSpPr>
          <p:cNvPr id="4" name="Straight Connector 3">
            <a:extLst>
              <a:ext uri="{FF2B5EF4-FFF2-40B4-BE49-F238E27FC236}">
                <a16:creationId xmlns:a16="http://schemas.microsoft.com/office/drawing/2014/main" id="{8E120858-2E0D-E662-6C1C-33AA4FD9C2F0}"/>
              </a:ext>
            </a:extLst>
          </p:cNvPr>
          <p:cNvCxnSpPr/>
          <p:nvPr/>
        </p:nvCxnSpPr>
        <p:spPr>
          <a:xfrm>
            <a:off x="609600" y="6362700"/>
            <a:ext cx="10972800" cy="0"/>
          </a:xfrm>
          <a:prstGeom prst="line">
            <a:avLst/>
          </a:prstGeom>
          <a:ln w="12700">
            <a:solidFill>
              <a:srgbClr val="D4D9DD"/>
            </a:solidFill>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42886A01-86B0-2E48-CA05-E1F288FDCC17}"/>
              </a:ext>
            </a:extLst>
          </p:cNvPr>
          <p:cNvSpPr txBox="1"/>
          <p:nvPr/>
        </p:nvSpPr>
        <p:spPr>
          <a:xfrm>
            <a:off x="609600" y="6477000"/>
            <a:ext cx="8890000" cy="228600"/>
          </a:xfrm>
          <a:prstGeom prst="rect">
            <a:avLst/>
          </a:prstGeom>
          <a:noFill/>
        </p:spPr>
        <p:txBody>
          <a:bodyPr vert="horz" wrap="square" lIns="0" tIns="0" rIns="76200" bIns="0" rtlCol="0">
            <a:noAutofit/>
          </a:bodyPr>
          <a:lstStyle/>
          <a:p>
            <a:r>
              <a:rPr lang="en-IN" sz="1000">
                <a:solidFill>
                  <a:srgbClr val="59616B"/>
                </a:solidFill>
                <a:latin typeface="Arial" panose="020B0604020202020204" pitchFamily="34" charset="0"/>
              </a:rPr>
              <a:t>ROAD DAMAGE DETECTION  /  GECB</a:t>
            </a:r>
          </a:p>
        </p:txBody>
      </p:sp>
      <p:sp>
        <p:nvSpPr>
          <p:cNvPr id="6" name="TextBox 5">
            <a:extLst>
              <a:ext uri="{FF2B5EF4-FFF2-40B4-BE49-F238E27FC236}">
                <a16:creationId xmlns:a16="http://schemas.microsoft.com/office/drawing/2014/main" id="{795CE037-D20A-C54D-7705-1FE72961C078}"/>
              </a:ext>
            </a:extLst>
          </p:cNvPr>
          <p:cNvSpPr txBox="1"/>
          <p:nvPr/>
        </p:nvSpPr>
        <p:spPr>
          <a:xfrm>
            <a:off x="10617200" y="6477000"/>
            <a:ext cx="965200" cy="228600"/>
          </a:xfrm>
          <a:prstGeom prst="rect">
            <a:avLst/>
          </a:prstGeom>
          <a:noFill/>
        </p:spPr>
        <p:txBody>
          <a:bodyPr vert="horz" wrap="square" lIns="0" tIns="0" rIns="76200" bIns="0" rtlCol="0">
            <a:noAutofit/>
          </a:bodyPr>
          <a:lstStyle/>
          <a:p>
            <a:pPr algn="r"/>
            <a:r>
              <a:rPr lang="en-IN" sz="1000">
                <a:solidFill>
                  <a:srgbClr val="59616B"/>
                </a:solidFill>
                <a:latin typeface="Arial" panose="020B0604020202020204" pitchFamily="34" charset="0"/>
              </a:rPr>
              <a:t>11 / 12</a:t>
            </a:r>
          </a:p>
        </p:txBody>
      </p:sp>
      <p:sp>
        <p:nvSpPr>
          <p:cNvPr id="7" name="TextBox 6">
            <a:extLst>
              <a:ext uri="{FF2B5EF4-FFF2-40B4-BE49-F238E27FC236}">
                <a16:creationId xmlns:a16="http://schemas.microsoft.com/office/drawing/2014/main" id="{2F646A56-0329-DC3E-8168-CD0F39FA56D1}"/>
              </a:ext>
            </a:extLst>
          </p:cNvPr>
          <p:cNvSpPr txBox="1"/>
          <p:nvPr/>
        </p:nvSpPr>
        <p:spPr>
          <a:xfrm>
            <a:off x="609600" y="2108199"/>
            <a:ext cx="3708400" cy="381000"/>
          </a:xfrm>
          <a:prstGeom prst="rect">
            <a:avLst/>
          </a:prstGeom>
          <a:noFill/>
        </p:spPr>
        <p:txBody>
          <a:bodyPr vert="horz" wrap="square" lIns="0" tIns="0" rIns="76200" bIns="0" rtlCol="0">
            <a:noAutofit/>
          </a:bodyPr>
          <a:lstStyle/>
          <a:p>
            <a:r>
              <a:rPr lang="en-IN" b="1">
                <a:solidFill>
                  <a:srgbClr val="176CA4"/>
                </a:solidFill>
                <a:latin typeface="Arial" panose="020B0604020202020204" pitchFamily="34" charset="0"/>
              </a:rPr>
              <a:t>Evaluation area</a:t>
            </a:r>
          </a:p>
        </p:txBody>
      </p:sp>
      <p:sp>
        <p:nvSpPr>
          <p:cNvPr id="8" name="TextBox 7">
            <a:extLst>
              <a:ext uri="{FF2B5EF4-FFF2-40B4-BE49-F238E27FC236}">
                <a16:creationId xmlns:a16="http://schemas.microsoft.com/office/drawing/2014/main" id="{8AE42EE7-3992-FFD5-1C86-B0D85BB18576}"/>
              </a:ext>
            </a:extLst>
          </p:cNvPr>
          <p:cNvSpPr txBox="1"/>
          <p:nvPr/>
        </p:nvSpPr>
        <p:spPr>
          <a:xfrm>
            <a:off x="4699000" y="2108199"/>
            <a:ext cx="6883400" cy="381000"/>
          </a:xfrm>
          <a:prstGeom prst="rect">
            <a:avLst/>
          </a:prstGeom>
          <a:noFill/>
        </p:spPr>
        <p:txBody>
          <a:bodyPr vert="horz" wrap="square" lIns="0" tIns="0" rIns="76200" bIns="0" rtlCol="0">
            <a:noAutofit/>
          </a:bodyPr>
          <a:lstStyle/>
          <a:p>
            <a:r>
              <a:rPr lang="en-IN" b="1">
                <a:solidFill>
                  <a:srgbClr val="176CA4"/>
                </a:solidFill>
                <a:latin typeface="Arial" panose="020B0604020202020204" pitchFamily="34" charset="0"/>
              </a:rPr>
              <a:t>Evidence to collect</a:t>
            </a:r>
          </a:p>
        </p:txBody>
      </p:sp>
      <p:cxnSp>
        <p:nvCxnSpPr>
          <p:cNvPr id="9" name="Straight Connector 8">
            <a:extLst>
              <a:ext uri="{FF2B5EF4-FFF2-40B4-BE49-F238E27FC236}">
                <a16:creationId xmlns:a16="http://schemas.microsoft.com/office/drawing/2014/main" id="{A625C9E0-90C9-CFBB-24C7-84A52CC2ABA0}"/>
              </a:ext>
            </a:extLst>
          </p:cNvPr>
          <p:cNvCxnSpPr/>
          <p:nvPr/>
        </p:nvCxnSpPr>
        <p:spPr>
          <a:xfrm>
            <a:off x="609600" y="2590800"/>
            <a:ext cx="10972800" cy="0"/>
          </a:xfrm>
          <a:prstGeom prst="line">
            <a:avLst/>
          </a:prstGeom>
          <a:ln w="12700">
            <a:solidFill>
              <a:srgbClr val="171C22"/>
            </a:solidFill>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07F3F913-CE3E-230F-BF42-74AE2A17B6B7}"/>
              </a:ext>
            </a:extLst>
          </p:cNvPr>
          <p:cNvSpPr txBox="1"/>
          <p:nvPr/>
        </p:nvSpPr>
        <p:spPr>
          <a:xfrm>
            <a:off x="609600" y="2755899"/>
            <a:ext cx="3644900" cy="622300"/>
          </a:xfrm>
          <a:prstGeom prst="rect">
            <a:avLst/>
          </a:prstGeom>
          <a:noFill/>
        </p:spPr>
        <p:txBody>
          <a:bodyPr vert="horz" wrap="square" lIns="0" tIns="0" rIns="76200" bIns="0" rtlCol="0">
            <a:noAutofit/>
          </a:bodyPr>
          <a:lstStyle/>
          <a:p>
            <a:r>
              <a:rPr lang="en-IN" sz="2000" b="1">
                <a:solidFill>
                  <a:srgbClr val="171C22"/>
                </a:solidFill>
                <a:latin typeface="Arial" panose="020B0604020202020204" pitchFamily="34" charset="0"/>
              </a:rPr>
              <a:t>Detection</a:t>
            </a:r>
          </a:p>
        </p:txBody>
      </p:sp>
      <p:sp>
        <p:nvSpPr>
          <p:cNvPr id="11" name="TextBox 10">
            <a:extLst>
              <a:ext uri="{FF2B5EF4-FFF2-40B4-BE49-F238E27FC236}">
                <a16:creationId xmlns:a16="http://schemas.microsoft.com/office/drawing/2014/main" id="{D7C6ED27-3FF4-9C9A-D531-7BD73AD69536}"/>
              </a:ext>
            </a:extLst>
          </p:cNvPr>
          <p:cNvSpPr txBox="1"/>
          <p:nvPr/>
        </p:nvSpPr>
        <p:spPr>
          <a:xfrm>
            <a:off x="4699000" y="2755899"/>
            <a:ext cx="6883400" cy="622300"/>
          </a:xfrm>
          <a:prstGeom prst="rect">
            <a:avLst/>
          </a:prstGeom>
          <a:noFill/>
        </p:spPr>
        <p:txBody>
          <a:bodyPr vert="horz" wrap="square" lIns="0" tIns="0" rIns="76200" bIns="0" rtlCol="0">
            <a:noAutofit/>
          </a:bodyPr>
          <a:lstStyle/>
          <a:p>
            <a:r>
              <a:rPr lang="en-US">
                <a:solidFill>
                  <a:srgbClr val="59616B"/>
                </a:solidFill>
                <a:latin typeface="Arial" panose="020B0604020202020204" pitchFamily="34" charset="0"/>
              </a:rPr>
              <a:t>Per-class precision, recall and mAP on held-out images</a:t>
            </a:r>
            <a:endParaRPr lang="en-IN">
              <a:solidFill>
                <a:srgbClr val="59616B"/>
              </a:solidFill>
              <a:latin typeface="Arial" panose="020B0604020202020204" pitchFamily="34" charset="0"/>
            </a:endParaRPr>
          </a:p>
        </p:txBody>
      </p:sp>
      <p:cxnSp>
        <p:nvCxnSpPr>
          <p:cNvPr id="12" name="Straight Connector 11">
            <a:extLst>
              <a:ext uri="{FF2B5EF4-FFF2-40B4-BE49-F238E27FC236}">
                <a16:creationId xmlns:a16="http://schemas.microsoft.com/office/drawing/2014/main" id="{B154B545-FABC-44A3-53B0-DFE63002D5E9}"/>
              </a:ext>
            </a:extLst>
          </p:cNvPr>
          <p:cNvCxnSpPr/>
          <p:nvPr/>
        </p:nvCxnSpPr>
        <p:spPr>
          <a:xfrm>
            <a:off x="609600" y="3327400"/>
            <a:ext cx="10972800" cy="0"/>
          </a:xfrm>
          <a:prstGeom prst="line">
            <a:avLst/>
          </a:prstGeom>
          <a:ln w="12700">
            <a:solidFill>
              <a:srgbClr val="D4D9DD"/>
            </a:solidFill>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8708C57B-0CB8-4292-32AE-CB30BFEC4057}"/>
              </a:ext>
            </a:extLst>
          </p:cNvPr>
          <p:cNvSpPr txBox="1"/>
          <p:nvPr/>
        </p:nvSpPr>
        <p:spPr>
          <a:xfrm>
            <a:off x="609600" y="3454399"/>
            <a:ext cx="3644900" cy="622300"/>
          </a:xfrm>
          <a:prstGeom prst="rect">
            <a:avLst/>
          </a:prstGeom>
          <a:noFill/>
        </p:spPr>
        <p:txBody>
          <a:bodyPr vert="horz" wrap="square" lIns="0" tIns="0" rIns="76200" bIns="0" rtlCol="0">
            <a:noAutofit/>
          </a:bodyPr>
          <a:lstStyle/>
          <a:p>
            <a:r>
              <a:rPr lang="en-IN" sz="2000" b="1">
                <a:solidFill>
                  <a:srgbClr val="171C22"/>
                </a:solidFill>
                <a:latin typeface="Arial" panose="020B0604020202020204" pitchFamily="34" charset="0"/>
              </a:rPr>
              <a:t>Location &amp; duplicates</a:t>
            </a:r>
          </a:p>
        </p:txBody>
      </p:sp>
      <p:sp>
        <p:nvSpPr>
          <p:cNvPr id="14" name="TextBox 13">
            <a:extLst>
              <a:ext uri="{FF2B5EF4-FFF2-40B4-BE49-F238E27FC236}">
                <a16:creationId xmlns:a16="http://schemas.microsoft.com/office/drawing/2014/main" id="{2B2A1DAC-611F-B774-19A5-6C57BC9EE020}"/>
              </a:ext>
            </a:extLst>
          </p:cNvPr>
          <p:cNvSpPr txBox="1"/>
          <p:nvPr/>
        </p:nvSpPr>
        <p:spPr>
          <a:xfrm>
            <a:off x="4699000" y="3454399"/>
            <a:ext cx="6883400" cy="622300"/>
          </a:xfrm>
          <a:prstGeom prst="rect">
            <a:avLst/>
          </a:prstGeom>
          <a:noFill/>
        </p:spPr>
        <p:txBody>
          <a:bodyPr vert="horz" wrap="square" lIns="0" tIns="0" rIns="76200" bIns="0" rtlCol="0">
            <a:noAutofit/>
          </a:bodyPr>
          <a:lstStyle/>
          <a:p>
            <a:r>
              <a:rPr lang="en-US">
                <a:solidFill>
                  <a:srgbClr val="59616B"/>
                </a:solidFill>
                <a:latin typeface="Arial" panose="020B0604020202020204" pitchFamily="34" charset="0"/>
              </a:rPr>
              <a:t>GPS/road-segment errors; missed or incorrect merges</a:t>
            </a:r>
            <a:endParaRPr lang="en-IN">
              <a:solidFill>
                <a:srgbClr val="59616B"/>
              </a:solidFill>
              <a:latin typeface="Arial" panose="020B0604020202020204" pitchFamily="34" charset="0"/>
            </a:endParaRPr>
          </a:p>
        </p:txBody>
      </p:sp>
      <p:cxnSp>
        <p:nvCxnSpPr>
          <p:cNvPr id="15" name="Straight Connector 14">
            <a:extLst>
              <a:ext uri="{FF2B5EF4-FFF2-40B4-BE49-F238E27FC236}">
                <a16:creationId xmlns:a16="http://schemas.microsoft.com/office/drawing/2014/main" id="{ABD6E7CE-8583-796D-10C3-A993D95FCD92}"/>
              </a:ext>
            </a:extLst>
          </p:cNvPr>
          <p:cNvCxnSpPr/>
          <p:nvPr/>
        </p:nvCxnSpPr>
        <p:spPr>
          <a:xfrm>
            <a:off x="609600" y="4025900"/>
            <a:ext cx="10972800" cy="0"/>
          </a:xfrm>
          <a:prstGeom prst="line">
            <a:avLst/>
          </a:prstGeom>
          <a:ln w="12700">
            <a:solidFill>
              <a:srgbClr val="D4D9DD"/>
            </a:solidFill>
          </a:ln>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66D6ED1A-09D4-1E6F-9430-9515C37A244A}"/>
              </a:ext>
            </a:extLst>
          </p:cNvPr>
          <p:cNvSpPr txBox="1"/>
          <p:nvPr/>
        </p:nvSpPr>
        <p:spPr>
          <a:xfrm>
            <a:off x="609600" y="4152899"/>
            <a:ext cx="3644900" cy="622300"/>
          </a:xfrm>
          <a:prstGeom prst="rect">
            <a:avLst/>
          </a:prstGeom>
          <a:noFill/>
        </p:spPr>
        <p:txBody>
          <a:bodyPr vert="horz" wrap="square" lIns="0" tIns="0" rIns="76200" bIns="0" rtlCol="0">
            <a:noAutofit/>
          </a:bodyPr>
          <a:lstStyle/>
          <a:p>
            <a:r>
              <a:rPr lang="en-IN" sz="2000" b="1">
                <a:solidFill>
                  <a:srgbClr val="171C22"/>
                </a:solidFill>
                <a:latin typeface="Arial" panose="020B0604020202020204" pitchFamily="34" charset="0"/>
              </a:rPr>
              <a:t>Scoring &amp; speed</a:t>
            </a:r>
          </a:p>
        </p:txBody>
      </p:sp>
      <p:sp>
        <p:nvSpPr>
          <p:cNvPr id="17" name="TextBox 16">
            <a:extLst>
              <a:ext uri="{FF2B5EF4-FFF2-40B4-BE49-F238E27FC236}">
                <a16:creationId xmlns:a16="http://schemas.microsoft.com/office/drawing/2014/main" id="{75509196-9559-8B7C-2EC4-841D86693A36}"/>
              </a:ext>
            </a:extLst>
          </p:cNvPr>
          <p:cNvSpPr txBox="1"/>
          <p:nvPr/>
        </p:nvSpPr>
        <p:spPr>
          <a:xfrm>
            <a:off x="4699000" y="4152899"/>
            <a:ext cx="6883400" cy="622300"/>
          </a:xfrm>
          <a:prstGeom prst="rect">
            <a:avLst/>
          </a:prstGeom>
          <a:noFill/>
        </p:spPr>
        <p:txBody>
          <a:bodyPr vert="horz" wrap="square" lIns="0" tIns="0" rIns="76200" bIns="0" rtlCol="0">
            <a:noAutofit/>
          </a:bodyPr>
          <a:lstStyle/>
          <a:p>
            <a:r>
              <a:rPr lang="en-US">
                <a:solidFill>
                  <a:srgbClr val="59616B"/>
                </a:solidFill>
                <a:latin typeface="Arial" panose="020B0604020202020204" pitchFamily="34" charset="0"/>
              </a:rPr>
              <a:t>Officer agreement; upload-to-result delay on stated hardware</a:t>
            </a:r>
            <a:endParaRPr lang="en-IN">
              <a:solidFill>
                <a:srgbClr val="59616B"/>
              </a:solidFill>
              <a:latin typeface="Arial" panose="020B0604020202020204" pitchFamily="34" charset="0"/>
            </a:endParaRPr>
          </a:p>
        </p:txBody>
      </p:sp>
      <p:cxnSp>
        <p:nvCxnSpPr>
          <p:cNvPr id="18" name="Straight Connector 17">
            <a:extLst>
              <a:ext uri="{FF2B5EF4-FFF2-40B4-BE49-F238E27FC236}">
                <a16:creationId xmlns:a16="http://schemas.microsoft.com/office/drawing/2014/main" id="{1612C290-6D4A-0126-224C-EBC3AB37EA15}"/>
              </a:ext>
            </a:extLst>
          </p:cNvPr>
          <p:cNvCxnSpPr/>
          <p:nvPr/>
        </p:nvCxnSpPr>
        <p:spPr>
          <a:xfrm>
            <a:off x="609600" y="4724400"/>
            <a:ext cx="10972800" cy="0"/>
          </a:xfrm>
          <a:prstGeom prst="line">
            <a:avLst/>
          </a:prstGeom>
          <a:ln w="12700">
            <a:solidFill>
              <a:srgbClr val="D4D9DD"/>
            </a:solidFill>
          </a:ln>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86FCDDB6-8C61-0060-DBA9-360DD06AF0F9}"/>
              </a:ext>
            </a:extLst>
          </p:cNvPr>
          <p:cNvSpPr txBox="1"/>
          <p:nvPr/>
        </p:nvSpPr>
        <p:spPr>
          <a:xfrm>
            <a:off x="609600" y="4851399"/>
            <a:ext cx="3644900" cy="622300"/>
          </a:xfrm>
          <a:prstGeom prst="rect">
            <a:avLst/>
          </a:prstGeom>
          <a:noFill/>
        </p:spPr>
        <p:txBody>
          <a:bodyPr vert="horz" wrap="square" lIns="0" tIns="0" rIns="76200" bIns="0" rtlCol="0">
            <a:noAutofit/>
          </a:bodyPr>
          <a:lstStyle/>
          <a:p>
            <a:r>
              <a:rPr lang="en-IN" sz="2000" b="1">
                <a:solidFill>
                  <a:srgbClr val="171C22"/>
                </a:solidFill>
                <a:latin typeface="Arial" panose="020B0604020202020204" pitchFamily="34" charset="0"/>
              </a:rPr>
              <a:t>Municipal workflow</a:t>
            </a:r>
          </a:p>
        </p:txBody>
      </p:sp>
      <p:sp>
        <p:nvSpPr>
          <p:cNvPr id="20" name="TextBox 19">
            <a:extLst>
              <a:ext uri="{FF2B5EF4-FFF2-40B4-BE49-F238E27FC236}">
                <a16:creationId xmlns:a16="http://schemas.microsoft.com/office/drawing/2014/main" id="{A307911E-2490-E3D0-80BB-B840A5F7D911}"/>
              </a:ext>
            </a:extLst>
          </p:cNvPr>
          <p:cNvSpPr txBox="1"/>
          <p:nvPr/>
        </p:nvSpPr>
        <p:spPr>
          <a:xfrm>
            <a:off x="4699000" y="4851399"/>
            <a:ext cx="6883400" cy="622300"/>
          </a:xfrm>
          <a:prstGeom prst="rect">
            <a:avLst/>
          </a:prstGeom>
          <a:noFill/>
        </p:spPr>
        <p:txBody>
          <a:bodyPr vert="horz" wrap="square" lIns="0" tIns="0" rIns="76200" bIns="0" rtlCol="0">
            <a:noAutofit/>
          </a:bodyPr>
          <a:lstStyle/>
          <a:p>
            <a:r>
              <a:rPr lang="en-US">
                <a:solidFill>
                  <a:srgbClr val="59616B"/>
                </a:solidFill>
                <a:latin typeface="Arial" panose="020B0604020202020204" pitchFamily="34" charset="0"/>
              </a:rPr>
              <a:t>Accept, reject, assign, repair, reopen and authorize closure</a:t>
            </a:r>
            <a:endParaRPr lang="en-IN">
              <a:solidFill>
                <a:srgbClr val="59616B"/>
              </a:solidFill>
              <a:latin typeface="Arial" panose="020B0604020202020204" pitchFamily="34" charset="0"/>
            </a:endParaRPr>
          </a:p>
        </p:txBody>
      </p:sp>
      <p:cxnSp>
        <p:nvCxnSpPr>
          <p:cNvPr id="21" name="Straight Connector 20">
            <a:extLst>
              <a:ext uri="{FF2B5EF4-FFF2-40B4-BE49-F238E27FC236}">
                <a16:creationId xmlns:a16="http://schemas.microsoft.com/office/drawing/2014/main" id="{E928AF2B-DC7E-8D0C-09AD-FCD04310D321}"/>
              </a:ext>
            </a:extLst>
          </p:cNvPr>
          <p:cNvCxnSpPr/>
          <p:nvPr/>
        </p:nvCxnSpPr>
        <p:spPr>
          <a:xfrm>
            <a:off x="609600" y="5664200"/>
            <a:ext cx="10972800" cy="0"/>
          </a:xfrm>
          <a:prstGeom prst="line">
            <a:avLst/>
          </a:prstGeom>
          <a:ln w="12700">
            <a:solidFill>
              <a:srgbClr val="D4D9DD"/>
            </a:solidFill>
          </a:ln>
        </p:spPr>
        <p:style>
          <a:lnRef idx="2">
            <a:schemeClr val="accent1"/>
          </a:lnRef>
          <a:fillRef idx="0">
            <a:schemeClr val="accent1"/>
          </a:fillRef>
          <a:effectRef idx="1">
            <a:schemeClr val="accent1"/>
          </a:effectRef>
          <a:fontRef idx="minor">
            <a:schemeClr val="tx1"/>
          </a:fontRef>
        </p:style>
      </p:cxnSp>
      <p:sp>
        <p:nvSpPr>
          <p:cNvPr id="22" name="TextBox 21">
            <a:extLst>
              <a:ext uri="{FF2B5EF4-FFF2-40B4-BE49-F238E27FC236}">
                <a16:creationId xmlns:a16="http://schemas.microsoft.com/office/drawing/2014/main" id="{A1DDCA3F-E540-75AD-BA03-C7F2BC8FAC73}"/>
              </a:ext>
            </a:extLst>
          </p:cNvPr>
          <p:cNvSpPr txBox="1"/>
          <p:nvPr/>
        </p:nvSpPr>
        <p:spPr>
          <a:xfrm>
            <a:off x="609600" y="5841999"/>
            <a:ext cx="10972800" cy="482600"/>
          </a:xfrm>
          <a:prstGeom prst="rect">
            <a:avLst/>
          </a:prstGeom>
          <a:noFill/>
        </p:spPr>
        <p:txBody>
          <a:bodyPr vert="horz" wrap="square" lIns="0" tIns="0" rIns="76200" bIns="0" rtlCol="0">
            <a:noAutofit/>
          </a:bodyPr>
          <a:lstStyle/>
          <a:p>
            <a:r>
              <a:rPr lang="en-US" sz="1600">
                <a:solidFill>
                  <a:srgbClr val="176CA4"/>
                </a:solidFill>
                <a:latin typeface="Arial" panose="020B0604020202020204" pitchFamily="34" charset="0"/>
              </a:rPr>
              <a:t>Keep repeated road views in one data split. Report actual results after testing.</a:t>
            </a:r>
            <a:endParaRPr lang="en-IN" sz="1600">
              <a:solidFill>
                <a:srgbClr val="176CA4"/>
              </a:solidFill>
              <a:latin typeface="Arial" panose="020B0604020202020204" pitchFamily="34" charset="0"/>
            </a:endParaRPr>
          </a:p>
        </p:txBody>
      </p:sp>
    </p:spTree>
    <p:extLst>
      <p:ext uri="{BB962C8B-B14F-4D97-AF65-F5344CB8AC3E}">
        <p14:creationId xmlns:p14="http://schemas.microsoft.com/office/powerpoint/2010/main" val="24473308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CD21ECB-6E22-EDF8-9899-4ED89D791B13}"/>
              </a:ext>
            </a:extLst>
          </p:cNvPr>
          <p:cNvSpPr txBox="1"/>
          <p:nvPr/>
        </p:nvSpPr>
        <p:spPr>
          <a:xfrm>
            <a:off x="609600" y="330199"/>
            <a:ext cx="10414000" cy="279400"/>
          </a:xfrm>
          <a:prstGeom prst="rect">
            <a:avLst/>
          </a:prstGeom>
          <a:noFill/>
        </p:spPr>
        <p:txBody>
          <a:bodyPr vert="horz" wrap="square" lIns="0" tIns="0" rIns="76200" bIns="0" rtlCol="0">
            <a:noAutofit/>
          </a:bodyPr>
          <a:lstStyle/>
          <a:p>
            <a:r>
              <a:rPr lang="en-IN" sz="1200" b="1">
                <a:solidFill>
                  <a:srgbClr val="176CA4"/>
                </a:solidFill>
                <a:latin typeface="Arial" panose="020B0604020202020204" pitchFamily="34" charset="0"/>
              </a:rPr>
              <a:t>EXPECTED OUTCOME &amp; FUTURE SCOPE</a:t>
            </a:r>
          </a:p>
        </p:txBody>
      </p:sp>
      <p:sp>
        <p:nvSpPr>
          <p:cNvPr id="3" name="TextBox 2">
            <a:extLst>
              <a:ext uri="{FF2B5EF4-FFF2-40B4-BE49-F238E27FC236}">
                <a16:creationId xmlns:a16="http://schemas.microsoft.com/office/drawing/2014/main" id="{4563FF27-F6D9-5FD8-10D9-C826661C643D}"/>
              </a:ext>
            </a:extLst>
          </p:cNvPr>
          <p:cNvSpPr txBox="1"/>
          <p:nvPr/>
        </p:nvSpPr>
        <p:spPr>
          <a:xfrm>
            <a:off x="609600" y="876299"/>
            <a:ext cx="10972800" cy="1130300"/>
          </a:xfrm>
          <a:prstGeom prst="rect">
            <a:avLst/>
          </a:prstGeom>
          <a:noFill/>
        </p:spPr>
        <p:txBody>
          <a:bodyPr vert="horz" wrap="square" lIns="0" tIns="0" rIns="76200" bIns="0" rtlCol="0">
            <a:noAutofit/>
          </a:bodyPr>
          <a:lstStyle/>
          <a:p>
            <a:r>
              <a:rPr lang="en-US" sz="3500" b="1">
                <a:solidFill>
                  <a:srgbClr val="171C22"/>
                </a:solidFill>
                <a:latin typeface="Arial" panose="020B0604020202020204" pitchFamily="34" charset="0"/>
              </a:rPr>
              <a:t>A clear path to verified road repairs</a:t>
            </a:r>
            <a:endParaRPr lang="en-IN" sz="3500" b="1">
              <a:solidFill>
                <a:srgbClr val="171C22"/>
              </a:solidFill>
              <a:latin typeface="Arial" panose="020B0604020202020204" pitchFamily="34" charset="0"/>
            </a:endParaRPr>
          </a:p>
        </p:txBody>
      </p:sp>
      <p:cxnSp>
        <p:nvCxnSpPr>
          <p:cNvPr id="4" name="Straight Connector 3">
            <a:extLst>
              <a:ext uri="{FF2B5EF4-FFF2-40B4-BE49-F238E27FC236}">
                <a16:creationId xmlns:a16="http://schemas.microsoft.com/office/drawing/2014/main" id="{FA677BF8-44E0-6145-13C7-48670107B34E}"/>
              </a:ext>
            </a:extLst>
          </p:cNvPr>
          <p:cNvCxnSpPr/>
          <p:nvPr/>
        </p:nvCxnSpPr>
        <p:spPr>
          <a:xfrm>
            <a:off x="609600" y="6362700"/>
            <a:ext cx="10972800" cy="0"/>
          </a:xfrm>
          <a:prstGeom prst="line">
            <a:avLst/>
          </a:prstGeom>
          <a:ln w="12700">
            <a:solidFill>
              <a:srgbClr val="D4D9DD"/>
            </a:solidFill>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3E395C99-1DDA-72EA-0873-8125B0B86026}"/>
              </a:ext>
            </a:extLst>
          </p:cNvPr>
          <p:cNvSpPr txBox="1"/>
          <p:nvPr/>
        </p:nvSpPr>
        <p:spPr>
          <a:xfrm>
            <a:off x="609600" y="6477000"/>
            <a:ext cx="8890000" cy="228600"/>
          </a:xfrm>
          <a:prstGeom prst="rect">
            <a:avLst/>
          </a:prstGeom>
          <a:noFill/>
        </p:spPr>
        <p:txBody>
          <a:bodyPr vert="horz" wrap="square" lIns="0" tIns="0" rIns="76200" bIns="0" rtlCol="0">
            <a:noAutofit/>
          </a:bodyPr>
          <a:lstStyle/>
          <a:p>
            <a:r>
              <a:rPr lang="en-IN" sz="1000">
                <a:solidFill>
                  <a:srgbClr val="59616B"/>
                </a:solidFill>
                <a:latin typeface="Arial" panose="020B0604020202020204" pitchFamily="34" charset="0"/>
              </a:rPr>
              <a:t>ROAD DAMAGE DETECTION  /  GECB</a:t>
            </a:r>
          </a:p>
        </p:txBody>
      </p:sp>
      <p:sp>
        <p:nvSpPr>
          <p:cNvPr id="6" name="TextBox 5">
            <a:extLst>
              <a:ext uri="{FF2B5EF4-FFF2-40B4-BE49-F238E27FC236}">
                <a16:creationId xmlns:a16="http://schemas.microsoft.com/office/drawing/2014/main" id="{6B89F790-AA54-A13E-9ED9-8F5A37B01307}"/>
              </a:ext>
            </a:extLst>
          </p:cNvPr>
          <p:cNvSpPr txBox="1"/>
          <p:nvPr/>
        </p:nvSpPr>
        <p:spPr>
          <a:xfrm>
            <a:off x="10617200" y="6477000"/>
            <a:ext cx="965200" cy="228600"/>
          </a:xfrm>
          <a:prstGeom prst="rect">
            <a:avLst/>
          </a:prstGeom>
          <a:noFill/>
        </p:spPr>
        <p:txBody>
          <a:bodyPr vert="horz" wrap="square" lIns="0" tIns="0" rIns="76200" bIns="0" rtlCol="0">
            <a:noAutofit/>
          </a:bodyPr>
          <a:lstStyle/>
          <a:p>
            <a:pPr algn="r"/>
            <a:r>
              <a:rPr lang="en-IN" sz="1000">
                <a:solidFill>
                  <a:srgbClr val="59616B"/>
                </a:solidFill>
                <a:latin typeface="Arial" panose="020B0604020202020204" pitchFamily="34" charset="0"/>
              </a:rPr>
              <a:t>12 / 12</a:t>
            </a:r>
          </a:p>
        </p:txBody>
      </p:sp>
      <p:sp>
        <p:nvSpPr>
          <p:cNvPr id="7" name="TextBox 6">
            <a:extLst>
              <a:ext uri="{FF2B5EF4-FFF2-40B4-BE49-F238E27FC236}">
                <a16:creationId xmlns:a16="http://schemas.microsoft.com/office/drawing/2014/main" id="{F273F531-95BB-9EB8-E1A6-D954604A606E}"/>
              </a:ext>
            </a:extLst>
          </p:cNvPr>
          <p:cNvSpPr txBox="1"/>
          <p:nvPr/>
        </p:nvSpPr>
        <p:spPr>
          <a:xfrm>
            <a:off x="609600" y="1943099"/>
            <a:ext cx="10693400" cy="825500"/>
          </a:xfrm>
          <a:prstGeom prst="rect">
            <a:avLst/>
          </a:prstGeom>
          <a:noFill/>
        </p:spPr>
        <p:txBody>
          <a:bodyPr vert="horz" wrap="square" lIns="0" tIns="0" rIns="76200" bIns="0" rtlCol="0">
            <a:noAutofit/>
          </a:bodyPr>
          <a:lstStyle/>
          <a:p>
            <a:r>
              <a:rPr lang="en-US" sz="2500">
                <a:solidFill>
                  <a:srgbClr val="176CA4"/>
                </a:solidFill>
                <a:latin typeface="Arial" panose="020B0604020202020204" pitchFamily="34" charset="0"/>
              </a:rPr>
              <a:t>One record connects each road report to a verified repair.</a:t>
            </a:r>
            <a:endParaRPr lang="en-IN" sz="2500">
              <a:solidFill>
                <a:srgbClr val="176CA4"/>
              </a:solidFill>
              <a:latin typeface="Arial" panose="020B0604020202020204" pitchFamily="34" charset="0"/>
            </a:endParaRPr>
          </a:p>
        </p:txBody>
      </p:sp>
      <p:sp>
        <p:nvSpPr>
          <p:cNvPr id="8" name="TextBox 7">
            <a:extLst>
              <a:ext uri="{FF2B5EF4-FFF2-40B4-BE49-F238E27FC236}">
                <a16:creationId xmlns:a16="http://schemas.microsoft.com/office/drawing/2014/main" id="{72E7308B-5303-1883-19D5-E342E070D90F}"/>
              </a:ext>
            </a:extLst>
          </p:cNvPr>
          <p:cNvSpPr txBox="1"/>
          <p:nvPr/>
        </p:nvSpPr>
        <p:spPr>
          <a:xfrm>
            <a:off x="609600" y="3213099"/>
            <a:ext cx="3352800" cy="762000"/>
          </a:xfrm>
          <a:prstGeom prst="rect">
            <a:avLst/>
          </a:prstGeom>
          <a:noFill/>
        </p:spPr>
        <p:txBody>
          <a:bodyPr vert="horz" wrap="square" lIns="0" tIns="0" rIns="76200" bIns="0" rtlCol="0">
            <a:noAutofit/>
          </a:bodyPr>
          <a:lstStyle/>
          <a:p>
            <a:r>
              <a:rPr lang="en-IN" sz="2400" b="1">
                <a:solidFill>
                  <a:srgbClr val="171C22"/>
                </a:solidFill>
                <a:latin typeface="Arial" panose="020B0604020202020204" pitchFamily="34" charset="0"/>
              </a:rPr>
              <a:t>Expected outcome</a:t>
            </a:r>
          </a:p>
        </p:txBody>
      </p:sp>
      <p:sp>
        <p:nvSpPr>
          <p:cNvPr id="9" name="TextBox 8">
            <a:extLst>
              <a:ext uri="{FF2B5EF4-FFF2-40B4-BE49-F238E27FC236}">
                <a16:creationId xmlns:a16="http://schemas.microsoft.com/office/drawing/2014/main" id="{7A4ACCD3-2DF4-2484-00B7-ED5A2305FDCE}"/>
              </a:ext>
            </a:extLst>
          </p:cNvPr>
          <p:cNvSpPr txBox="1"/>
          <p:nvPr/>
        </p:nvSpPr>
        <p:spPr>
          <a:xfrm>
            <a:off x="609600" y="3962399"/>
            <a:ext cx="3352800" cy="1511300"/>
          </a:xfrm>
          <a:prstGeom prst="rect">
            <a:avLst/>
          </a:prstGeom>
          <a:noFill/>
        </p:spPr>
        <p:txBody>
          <a:bodyPr vert="horz" wrap="square" lIns="0" tIns="0" rIns="76200" bIns="0" rtlCol="0">
            <a:noAutofit/>
          </a:bodyPr>
          <a:lstStyle/>
          <a:p>
            <a:r>
              <a:rPr lang="en-US">
                <a:solidFill>
                  <a:srgbClr val="59616B"/>
                </a:solidFill>
                <a:latin typeface="Arial" panose="020B0604020202020204" pitchFamily="34" charset="0"/>
              </a:rPr>
              <a:t>Mapped incidents, clear ownership and before/after repair history.</a:t>
            </a:r>
            <a:endParaRPr lang="en-IN">
              <a:solidFill>
                <a:srgbClr val="59616B"/>
              </a:solidFill>
              <a:latin typeface="Arial" panose="020B0604020202020204" pitchFamily="34" charset="0"/>
            </a:endParaRPr>
          </a:p>
        </p:txBody>
      </p:sp>
      <p:sp>
        <p:nvSpPr>
          <p:cNvPr id="10" name="TextBox 9">
            <a:extLst>
              <a:ext uri="{FF2B5EF4-FFF2-40B4-BE49-F238E27FC236}">
                <a16:creationId xmlns:a16="http://schemas.microsoft.com/office/drawing/2014/main" id="{3716A2C7-7AAB-6214-F3D5-D2222C900241}"/>
              </a:ext>
            </a:extLst>
          </p:cNvPr>
          <p:cNvSpPr txBox="1"/>
          <p:nvPr/>
        </p:nvSpPr>
        <p:spPr>
          <a:xfrm>
            <a:off x="4419600" y="3213099"/>
            <a:ext cx="3352800" cy="762000"/>
          </a:xfrm>
          <a:prstGeom prst="rect">
            <a:avLst/>
          </a:prstGeom>
          <a:noFill/>
        </p:spPr>
        <p:txBody>
          <a:bodyPr vert="horz" wrap="square" lIns="0" tIns="0" rIns="76200" bIns="0" rtlCol="0">
            <a:noAutofit/>
          </a:bodyPr>
          <a:lstStyle/>
          <a:p>
            <a:r>
              <a:rPr lang="en-IN" sz="2400" b="1">
                <a:solidFill>
                  <a:srgbClr val="171C22"/>
                </a:solidFill>
                <a:latin typeface="Arial" panose="020B0604020202020204" pitchFamily="34" charset="0"/>
              </a:rPr>
              <a:t>Practical limits</a:t>
            </a:r>
          </a:p>
        </p:txBody>
      </p:sp>
      <p:sp>
        <p:nvSpPr>
          <p:cNvPr id="11" name="TextBox 10">
            <a:extLst>
              <a:ext uri="{FF2B5EF4-FFF2-40B4-BE49-F238E27FC236}">
                <a16:creationId xmlns:a16="http://schemas.microsoft.com/office/drawing/2014/main" id="{34B3753E-0170-8514-D8EF-3064BCF9B665}"/>
              </a:ext>
            </a:extLst>
          </p:cNvPr>
          <p:cNvSpPr txBox="1"/>
          <p:nvPr/>
        </p:nvSpPr>
        <p:spPr>
          <a:xfrm>
            <a:off x="4419600" y="3962399"/>
            <a:ext cx="3352800" cy="1511300"/>
          </a:xfrm>
          <a:prstGeom prst="rect">
            <a:avLst/>
          </a:prstGeom>
          <a:noFill/>
        </p:spPr>
        <p:txBody>
          <a:bodyPr vert="horz" wrap="square" lIns="0" tIns="0" rIns="76200" bIns="0" rtlCol="0">
            <a:noAutofit/>
          </a:bodyPr>
          <a:lstStyle/>
          <a:p>
            <a:r>
              <a:rPr lang="en-US">
                <a:solidFill>
                  <a:srgbClr val="59616B"/>
                </a:solidFill>
                <a:latin typeface="Arial" panose="020B0604020202020204" pitchFamily="34" charset="0"/>
              </a:rPr>
              <a:t>Lighting, GPS quality and municipal participation affect reliability.</a:t>
            </a:r>
            <a:endParaRPr lang="en-IN">
              <a:solidFill>
                <a:srgbClr val="59616B"/>
              </a:solidFill>
              <a:latin typeface="Arial" panose="020B0604020202020204" pitchFamily="34" charset="0"/>
            </a:endParaRPr>
          </a:p>
        </p:txBody>
      </p:sp>
      <p:sp>
        <p:nvSpPr>
          <p:cNvPr id="12" name="TextBox 11">
            <a:extLst>
              <a:ext uri="{FF2B5EF4-FFF2-40B4-BE49-F238E27FC236}">
                <a16:creationId xmlns:a16="http://schemas.microsoft.com/office/drawing/2014/main" id="{94B8AF4A-FEE4-855D-D64C-55CCBCED09AB}"/>
              </a:ext>
            </a:extLst>
          </p:cNvPr>
          <p:cNvSpPr txBox="1"/>
          <p:nvPr/>
        </p:nvSpPr>
        <p:spPr>
          <a:xfrm>
            <a:off x="8229600" y="3213099"/>
            <a:ext cx="3352800" cy="762000"/>
          </a:xfrm>
          <a:prstGeom prst="rect">
            <a:avLst/>
          </a:prstGeom>
          <a:noFill/>
        </p:spPr>
        <p:txBody>
          <a:bodyPr vert="horz" wrap="square" lIns="0" tIns="0" rIns="76200" bIns="0" rtlCol="0">
            <a:noAutofit/>
          </a:bodyPr>
          <a:lstStyle/>
          <a:p>
            <a:r>
              <a:rPr lang="en-IN" sz="2400" b="1">
                <a:solidFill>
                  <a:srgbClr val="171C22"/>
                </a:solidFill>
                <a:latin typeface="Arial" panose="020B0604020202020204" pitchFamily="34" charset="0"/>
              </a:rPr>
              <a:t>Future scope</a:t>
            </a:r>
          </a:p>
        </p:txBody>
      </p:sp>
      <p:sp>
        <p:nvSpPr>
          <p:cNvPr id="13" name="TextBox 12">
            <a:extLst>
              <a:ext uri="{FF2B5EF4-FFF2-40B4-BE49-F238E27FC236}">
                <a16:creationId xmlns:a16="http://schemas.microsoft.com/office/drawing/2014/main" id="{C983374C-E054-9126-F7B0-D9A2BBFDB88D}"/>
              </a:ext>
            </a:extLst>
          </p:cNvPr>
          <p:cNvSpPr txBox="1"/>
          <p:nvPr/>
        </p:nvSpPr>
        <p:spPr>
          <a:xfrm>
            <a:off x="8229600" y="3962399"/>
            <a:ext cx="3352800" cy="1511300"/>
          </a:xfrm>
          <a:prstGeom prst="rect">
            <a:avLst/>
          </a:prstGeom>
          <a:noFill/>
        </p:spPr>
        <p:txBody>
          <a:bodyPr vert="horz" wrap="square" lIns="0" tIns="0" rIns="76200" bIns="0" rtlCol="0">
            <a:noAutofit/>
          </a:bodyPr>
          <a:lstStyle/>
          <a:p>
            <a:r>
              <a:rPr lang="en-US">
                <a:solidFill>
                  <a:srgbClr val="59616B"/>
                </a:solidFill>
                <a:latin typeface="Arial" panose="020B0604020202020204" pitchFamily="34" charset="0"/>
              </a:rPr>
              <a:t>Offline capture, regional languages and forecasting after sufficient verified history.</a:t>
            </a:r>
            <a:endParaRPr lang="en-IN">
              <a:solidFill>
                <a:srgbClr val="59616B"/>
              </a:solidFill>
              <a:latin typeface="Arial" panose="020B0604020202020204" pitchFamily="34" charset="0"/>
            </a:endParaRPr>
          </a:p>
        </p:txBody>
      </p:sp>
      <p:cxnSp>
        <p:nvCxnSpPr>
          <p:cNvPr id="14" name="Straight Connector 13">
            <a:extLst>
              <a:ext uri="{FF2B5EF4-FFF2-40B4-BE49-F238E27FC236}">
                <a16:creationId xmlns:a16="http://schemas.microsoft.com/office/drawing/2014/main" id="{D17E72ED-67FA-E262-D34E-D5632DD84A78}"/>
              </a:ext>
            </a:extLst>
          </p:cNvPr>
          <p:cNvCxnSpPr/>
          <p:nvPr/>
        </p:nvCxnSpPr>
        <p:spPr>
          <a:xfrm>
            <a:off x="609600" y="5664200"/>
            <a:ext cx="10972800" cy="0"/>
          </a:xfrm>
          <a:prstGeom prst="line">
            <a:avLst/>
          </a:prstGeom>
          <a:ln w="12700">
            <a:solidFill>
              <a:srgbClr val="D4D9DD"/>
            </a:solidFill>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A6330651-86F6-80CA-87B3-9F934882150F}"/>
              </a:ext>
            </a:extLst>
          </p:cNvPr>
          <p:cNvSpPr txBox="1"/>
          <p:nvPr/>
        </p:nvSpPr>
        <p:spPr>
          <a:xfrm>
            <a:off x="609600" y="5841999"/>
            <a:ext cx="10972800" cy="482600"/>
          </a:xfrm>
          <a:prstGeom prst="rect">
            <a:avLst/>
          </a:prstGeom>
          <a:noFill/>
        </p:spPr>
        <p:txBody>
          <a:bodyPr vert="horz" wrap="square" lIns="0" tIns="0" rIns="76200" bIns="0" rtlCol="0">
            <a:noAutofit/>
          </a:bodyPr>
          <a:lstStyle/>
          <a:p>
            <a:r>
              <a:rPr lang="en-US" sz="1600">
                <a:solidFill>
                  <a:srgbClr val="176CA4"/>
                </a:solidFill>
                <a:latin typeface="Arial" panose="020B0604020202020204" pitchFamily="34" charset="0"/>
              </a:rPr>
              <a:t>Next milestone: demonstrate one complete case from upload to officer-approved closure.</a:t>
            </a:r>
            <a:endParaRPr lang="en-IN" sz="1600">
              <a:solidFill>
                <a:srgbClr val="176CA4"/>
              </a:solidFill>
              <a:latin typeface="Arial" panose="020B0604020202020204" pitchFamily="34" charset="0"/>
            </a:endParaRPr>
          </a:p>
        </p:txBody>
      </p:sp>
    </p:spTree>
    <p:extLst>
      <p:ext uri="{BB962C8B-B14F-4D97-AF65-F5344CB8AC3E}">
        <p14:creationId xmlns:p14="http://schemas.microsoft.com/office/powerpoint/2010/main" val="351068497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2123</Words>
  <Application>Microsoft Office PowerPoint</Application>
  <PresentationFormat>Widescreen</PresentationFormat>
  <Paragraphs>199</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Rakesh Kumar</dc:creator>
  <cp:lastModifiedBy>Rakesh Kumar</cp:lastModifiedBy>
  <cp:revision>2</cp:revision>
  <dcterms:created xsi:type="dcterms:W3CDTF">2026-10-07T06:23:44Z</dcterms:created>
  <dcterms:modified xsi:type="dcterms:W3CDTF">2026-10-07T06:24:19Z</dcterms:modified>
</cp:coreProperties>
</file>